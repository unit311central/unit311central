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257" r:id="rId2"/>
    <p:sldId id="258" r:id="rId3"/>
    <p:sldId id="262" r:id="rId4"/>
    <p:sldId id="313" r:id="rId5"/>
    <p:sldId id="314" r:id="rId6"/>
    <p:sldId id="315" r:id="rId7"/>
    <p:sldId id="316" r:id="rId8"/>
    <p:sldId id="309" r:id="rId9"/>
    <p:sldId id="293" r:id="rId10"/>
    <p:sldId id="318" r:id="rId11"/>
    <p:sldId id="319" r:id="rId12"/>
    <p:sldId id="327" r:id="rId13"/>
    <p:sldId id="320" r:id="rId14"/>
    <p:sldId id="321" r:id="rId15"/>
    <p:sldId id="322" r:id="rId16"/>
    <p:sldId id="323" r:id="rId17"/>
    <p:sldId id="324" r:id="rId18"/>
    <p:sldId id="325" r:id="rId19"/>
    <p:sldId id="326" r:id="rId20"/>
    <p:sldId id="292" r:id="rId21"/>
    <p:sldId id="328" r:id="rId22"/>
    <p:sldId id="329" r:id="rId23"/>
    <p:sldId id="330" r:id="rId24"/>
    <p:sldId id="331" r:id="rId25"/>
    <p:sldId id="332" r:id="rId26"/>
    <p:sldId id="311" r:id="rId27"/>
    <p:sldId id="333" r:id="rId28"/>
    <p:sldId id="334" r:id="rId29"/>
    <p:sldId id="269" r:id="rId30"/>
    <p:sldId id="335" r:id="rId31"/>
    <p:sldId id="336" r:id="rId32"/>
    <p:sldId id="337" r:id="rId33"/>
    <p:sldId id="809" r:id="rId34"/>
    <p:sldId id="26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B65F"/>
    <a:srgbClr val="A1CCFA"/>
    <a:srgbClr val="6BAB59"/>
    <a:srgbClr val="7F8850"/>
    <a:srgbClr val="30AB16"/>
    <a:srgbClr val="59BDD8"/>
    <a:srgbClr val="7DB217"/>
    <a:srgbClr val="69D412"/>
    <a:srgbClr val="31B330"/>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7823"/>
  </p:normalViewPr>
  <p:slideViewPr>
    <p:cSldViewPr snapToGrid="0" snapToObjects="1" showGuides="1">
      <p:cViewPr varScale="1">
        <p:scale>
          <a:sx n="86" d="100"/>
          <a:sy n="86" d="100"/>
        </p:scale>
        <p:origin x="193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7273FF-9677-2A46-8FCB-BE267960EEC4}" type="datetimeFigureOut">
              <a:rPr lang="en-GB" smtClean="0"/>
              <a:t>24/06/2026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76156A-C2BA-1946-B602-293027C4FB7E}" type="slidenum">
              <a:rPr lang="en-GB" smtClean="0"/>
              <a:t>‹#›</a:t>
            </a:fld>
            <a:endParaRPr lang="en-GB"/>
          </a:p>
        </p:txBody>
      </p:sp>
    </p:spTree>
    <p:extLst>
      <p:ext uri="{BB962C8B-B14F-4D97-AF65-F5344CB8AC3E}">
        <p14:creationId xmlns:p14="http://schemas.microsoft.com/office/powerpoint/2010/main" val="1280375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International Mine Action Standards (IMAS) defines mine action as:  </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“Activities which aim to reduce the social, economic and environmental impact of explosive ordnance”.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 IMAS definition goes on to say:</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“Mine action is not just about demining; it is also about people and societies, and how they are affected by explosive ordnance contamination. The objective of mine action is to reduce the risk from explosive ordnance to a level where people can live safely; in which economic, social and health development can occur free from the constraints imposed by explosive ordnance contamination, and in which the victims’ different needs can be addressed.”.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And:</a:t>
            </a:r>
          </a:p>
          <a:p>
            <a:r>
              <a:rPr lang="en-GB" sz="1200" i="1" kern="1200" dirty="0">
                <a:solidFill>
                  <a:schemeClr val="tx1"/>
                </a:solidFill>
                <a:effectLst/>
                <a:latin typeface="+mn-lt"/>
                <a:ea typeface="+mn-ea"/>
                <a:cs typeface="+mn-cs"/>
              </a:rPr>
              <a:t>“A number of other enabling activities are required to support these five components of mine action, including: assessment and planning, the mobilisation and prioritisation of resources, information management, human skills development and management training, QM and the application of effective, appropriate and safe equipment”.</a:t>
            </a:r>
          </a:p>
          <a:p>
            <a:r>
              <a:rPr lang="en-US" sz="1200" kern="1200" dirty="0">
                <a:solidFill>
                  <a:schemeClr val="tx1"/>
                </a:solidFill>
                <a:effectLst/>
                <a:latin typeface="+mn-lt"/>
                <a:ea typeface="+mn-ea"/>
                <a:cs typeface="+mn-cs"/>
              </a:rPr>
              <a:t>IMAS 04.10 04.10. Glossary of mine action terms, definitions and abbreviations. Edition 2, Amendment 12 dated 25 Oct 2024, See: https://</a:t>
            </a:r>
            <a:r>
              <a:rPr lang="en-US" sz="1200" kern="1200" dirty="0" err="1">
                <a:solidFill>
                  <a:schemeClr val="tx1"/>
                </a:solidFill>
                <a:effectLst/>
                <a:latin typeface="+mn-lt"/>
                <a:ea typeface="+mn-ea"/>
                <a:cs typeface="+mn-cs"/>
              </a:rPr>
              <a:t>www.mineactionstandards.org</a:t>
            </a:r>
            <a:r>
              <a:rPr lang="en-US" sz="1200" kern="1200" dirty="0">
                <a:solidFill>
                  <a:schemeClr val="tx1"/>
                </a:solidFill>
                <a:effectLst/>
                <a:latin typeface="+mn-lt"/>
                <a:ea typeface="+mn-ea"/>
                <a:cs typeface="+mn-cs"/>
              </a:rPr>
              <a:t>/standards/04-10/#[M]</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Often referred to as the five pillars of mine action</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4</a:t>
            </a:fld>
            <a:endParaRPr lang="en-GB"/>
          </a:p>
        </p:txBody>
      </p:sp>
    </p:spTree>
    <p:extLst>
      <p:ext uri="{BB962C8B-B14F-4D97-AF65-F5344CB8AC3E}">
        <p14:creationId xmlns:p14="http://schemas.microsoft.com/office/powerpoint/2010/main" val="325319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kern="1200" dirty="0">
                <a:solidFill>
                  <a:schemeClr val="tx1"/>
                </a:solidFill>
                <a:effectLst/>
                <a:latin typeface="+mn-lt"/>
                <a:ea typeface="+mn-ea"/>
                <a:cs typeface="+mn-cs"/>
              </a:rPr>
              <a:t>. The objective of mine action is to reduce the risk from explosive ordnance to a level where people can live safely; in which economic, social and health development can occur free from the constraints imposed by explosive ordnance contamination, and in which the victims’ different needs can be addressed.”.  </a:t>
            </a:r>
          </a:p>
          <a:p>
            <a:r>
              <a:rPr lang="en-US" sz="1200" kern="1200" dirty="0">
                <a:solidFill>
                  <a:schemeClr val="tx1"/>
                </a:solidFill>
                <a:effectLst/>
                <a:latin typeface="+mn-lt"/>
                <a:ea typeface="+mn-ea"/>
                <a:cs typeface="+mn-cs"/>
              </a:rPr>
              <a:t>Often referred to as the five pillars of mine action</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5</a:t>
            </a:fld>
            <a:endParaRPr lang="en-GB"/>
          </a:p>
        </p:txBody>
      </p:sp>
    </p:spTree>
    <p:extLst>
      <p:ext uri="{BB962C8B-B14F-4D97-AF65-F5344CB8AC3E}">
        <p14:creationId xmlns:p14="http://schemas.microsoft.com/office/powerpoint/2010/main" val="3421946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aim of this chapter is to introduce the mine action sector and related sectors of activity. This chapter will cover the following:</a:t>
            </a:r>
          </a:p>
          <a:p>
            <a:r>
              <a:rPr lang="en-GB" sz="1200" kern="1200" dirty="0">
                <a:solidFill>
                  <a:schemeClr val="tx1"/>
                </a:solidFill>
                <a:effectLst/>
                <a:latin typeface="+mn-lt"/>
                <a:ea typeface="+mn-ea"/>
                <a:cs typeface="+mn-cs"/>
              </a:rPr>
              <a:t> </a:t>
            </a:r>
          </a:p>
          <a:p>
            <a:pPr lvl="0"/>
            <a:r>
              <a:rPr lang="en-GB" sz="1200" kern="1200" dirty="0">
                <a:solidFill>
                  <a:schemeClr val="tx1"/>
                </a:solidFill>
                <a:effectLst/>
                <a:latin typeface="+mn-lt"/>
                <a:ea typeface="+mn-ea"/>
                <a:cs typeface="+mn-cs"/>
              </a:rPr>
              <a:t>Who conducts mine action?</a:t>
            </a:r>
          </a:p>
          <a:p>
            <a:pPr lvl="0"/>
            <a:r>
              <a:rPr lang="en-GB" sz="1200" kern="1200" dirty="0">
                <a:solidFill>
                  <a:schemeClr val="tx1"/>
                </a:solidFill>
                <a:effectLst/>
                <a:latin typeface="+mn-lt"/>
                <a:ea typeface="+mn-ea"/>
                <a:cs typeface="+mn-cs"/>
              </a:rPr>
              <a:t>International conventions</a:t>
            </a:r>
          </a:p>
          <a:p>
            <a:pPr lvl="0"/>
            <a:r>
              <a:rPr lang="en-GB" sz="1200" kern="1200" dirty="0">
                <a:solidFill>
                  <a:schemeClr val="tx1"/>
                </a:solidFill>
                <a:effectLst/>
                <a:latin typeface="+mn-lt"/>
                <a:ea typeface="+mn-ea"/>
                <a:cs typeface="+mn-cs"/>
              </a:rPr>
              <a:t>The mine action pillars</a:t>
            </a:r>
          </a:p>
          <a:p>
            <a:pPr lvl="0"/>
            <a:r>
              <a:rPr lang="en-GB" sz="1200" kern="1200" dirty="0">
                <a:solidFill>
                  <a:schemeClr val="tx1"/>
                </a:solidFill>
                <a:effectLst/>
                <a:latin typeface="+mn-lt"/>
                <a:ea typeface="+mn-ea"/>
                <a:cs typeface="+mn-cs"/>
              </a:rPr>
              <a:t>Mine action products and activities</a:t>
            </a:r>
          </a:p>
          <a:p>
            <a:r>
              <a:rPr lang="en-US" sz="1200" kern="1200" dirty="0">
                <a:solidFill>
                  <a:schemeClr val="tx1"/>
                </a:solidFill>
                <a:effectLst/>
                <a:latin typeface="+mn-lt"/>
                <a:ea typeface="+mn-ea"/>
                <a:cs typeface="+mn-cs"/>
              </a:rPr>
              <a:t>Related sectors</a:t>
            </a:r>
            <a:r>
              <a:rPr lang="en-GB" dirty="0">
                <a:effectLst/>
              </a:rPr>
              <a:t> </a:t>
            </a:r>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6</a:t>
            </a:fld>
            <a:endParaRPr lang="en-GB"/>
          </a:p>
        </p:txBody>
      </p:sp>
    </p:spTree>
    <p:extLst>
      <p:ext uri="{BB962C8B-B14F-4D97-AF65-F5344CB8AC3E}">
        <p14:creationId xmlns:p14="http://schemas.microsoft.com/office/powerpoint/2010/main" val="1987334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effectLst/>
                <a:latin typeface="+mn-lt"/>
                <a:ea typeface="+mn-ea"/>
                <a:cs typeface="+mn-cs"/>
              </a:rPr>
              <a:t>Chapter 3</a:t>
            </a:r>
            <a:r>
              <a:rPr lang="en-GB" sz="1200" kern="1200" dirty="0">
                <a:solidFill>
                  <a:schemeClr val="tx1"/>
                </a:solidFill>
                <a:effectLst/>
                <a:latin typeface="+mn-lt"/>
                <a:ea typeface="+mn-ea"/>
                <a:cs typeface="+mn-cs"/>
              </a:rPr>
              <a:t> of this manual includes descriptions and definitions of landmines and other items of EO; however, the ICBL quote above also uses the term ‘Explosive Remnants of War’ (ERW). ERW Is a term introduced sometime in the mid 2000’s to include both unexploded ordnance (UXO) and abandoned explosive ordnance (AXO). However, there was some confusion as to whether ERW includes landmines or whether they are separate, as although mines are both explosive and a remnant of war, they are </a:t>
            </a:r>
            <a:r>
              <a:rPr lang="en-GB" sz="1200" b="1" i="1" kern="1200" dirty="0">
                <a:solidFill>
                  <a:schemeClr val="tx1"/>
                </a:solidFill>
                <a:effectLst/>
                <a:latin typeface="+mn-lt"/>
                <a:ea typeface="+mn-ea"/>
                <a:cs typeface="+mn-cs"/>
              </a:rPr>
              <a:t>not</a:t>
            </a:r>
            <a:r>
              <a:rPr lang="en-GB" sz="1200" kern="1200" dirty="0">
                <a:solidFill>
                  <a:schemeClr val="tx1"/>
                </a:solidFill>
                <a:effectLst/>
                <a:latin typeface="+mn-lt"/>
                <a:ea typeface="+mn-ea"/>
                <a:cs typeface="+mn-cs"/>
              </a:rPr>
              <a:t> generally items that have been abandoned in stores or caches, nor are they items that have failed to function. More recently there has been a shift towards the use of the term ‘Explosive Ordnance’ (EO) as this more clearly incorporates landmines and indeed other items such as improvised explosive devices (IED).</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7</a:t>
            </a:fld>
            <a:endParaRPr lang="en-GB"/>
          </a:p>
        </p:txBody>
      </p:sp>
    </p:spTree>
    <p:extLst>
      <p:ext uri="{BB962C8B-B14F-4D97-AF65-F5344CB8AC3E}">
        <p14:creationId xmlns:p14="http://schemas.microsoft.com/office/powerpoint/2010/main" val="1808272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Civilian mine action can be undertaken by non-governmental organisations (NGO), by public sector or ‘parastatal’ organisations or by private companies. Commercial organisations can undertake humanitarian or infrastructure work on contract and non-profit organisations often undertake fee-paying work in order to subsidise their humanitarian activities. This bears further definitions of the terms ‘humanitarian principles’ and ‘humanitarian context’ as described below.</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9</a:t>
            </a:fld>
            <a:endParaRPr lang="en-GB"/>
          </a:p>
        </p:txBody>
      </p:sp>
    </p:spTree>
    <p:extLst>
      <p:ext uri="{BB962C8B-B14F-4D97-AF65-F5344CB8AC3E}">
        <p14:creationId xmlns:p14="http://schemas.microsoft.com/office/powerpoint/2010/main" val="641099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Thus, it is possible to consider commercial demining as work undertaken where the customer of the demining service is also the beneficiary, </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10</a:t>
            </a:fld>
            <a:endParaRPr lang="en-GB"/>
          </a:p>
        </p:txBody>
      </p:sp>
    </p:spTree>
    <p:extLst>
      <p:ext uri="{BB962C8B-B14F-4D97-AF65-F5344CB8AC3E}">
        <p14:creationId xmlns:p14="http://schemas.microsoft.com/office/powerpoint/2010/main" val="1481298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whereas humanitarian demining takes place under conditions of what economists describe as ‘market failure’ i.e. where the customer of the minefield (the ‘donor’) is not the beneficiary. </a:t>
            </a:r>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11</a:t>
            </a:fld>
            <a:endParaRPr lang="en-GB"/>
          </a:p>
        </p:txBody>
      </p:sp>
    </p:spTree>
    <p:extLst>
      <p:ext uri="{BB962C8B-B14F-4D97-AF65-F5344CB8AC3E}">
        <p14:creationId xmlns:p14="http://schemas.microsoft.com/office/powerpoint/2010/main" val="91157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There are many variations in the institutional framework in any mine action program, but in general it can be divided into three layers: a steering committee, a coordination body and the various implementing agencies. These are described below using generic terminology as sometimes the ‘standard’ terms are used in different ways in different countries.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 overall generic institutional framework is set out in the at diagram at </a:t>
            </a:r>
            <a:r>
              <a:rPr lang="en-US" sz="1200" b="1" kern="1200" dirty="0">
                <a:solidFill>
                  <a:schemeClr val="tx1"/>
                </a:solidFill>
                <a:effectLst/>
                <a:latin typeface="+mn-lt"/>
                <a:ea typeface="+mn-ea"/>
                <a:cs typeface="+mn-cs"/>
              </a:rPr>
              <a:t>Figure 2</a:t>
            </a:r>
            <a:r>
              <a:rPr lang="en-GB" sz="1200" kern="1200" dirty="0">
                <a:solidFill>
                  <a:schemeClr val="tx1"/>
                </a:solidFill>
                <a:effectLst/>
                <a:latin typeface="+mn-lt"/>
                <a:ea typeface="+mn-ea"/>
                <a:cs typeface="+mn-cs"/>
              </a:rPr>
              <a:t> below. The diagram is simplified in that it doesn’t differentiate between agencies that do clearance and those that might specialise in other activities such as training or EORE.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Note that the heavy black line represents operational control. It does not take away the ownership or management functions of line ministries for state-owned organisations, shareholders for private companies or trustees for NGOs. It is for the country in question to establish the best legal framework for their structure and to decide which ministry holds the chair of the committee and the budgetary responsibility for the coordination body.</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14</a:t>
            </a:fld>
            <a:endParaRPr lang="en-GB"/>
          </a:p>
        </p:txBody>
      </p:sp>
    </p:spTree>
    <p:extLst>
      <p:ext uri="{BB962C8B-B14F-4D97-AF65-F5344CB8AC3E}">
        <p14:creationId xmlns:p14="http://schemas.microsoft.com/office/powerpoint/2010/main" val="164760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role of the steering committee is to set strategic policy goals, monitor the work of the national mine action coordination body (see below) and appoint the head of that body. It is not normally necessary for the steering committee to meet more than four times a year. It may be provided with administrative support by a dedicated cell within the national mine action steering support. The committee will typically comment on, amend, approve or endorse national plans developed by or reports submitted by the national mine action coordination body. It will usually have the right to audit the national mine action coordination body when appropriate. </a:t>
            </a:r>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15</a:t>
            </a:fld>
            <a:endParaRPr lang="en-GB"/>
          </a:p>
        </p:txBody>
      </p:sp>
    </p:spTree>
    <p:extLst>
      <p:ext uri="{BB962C8B-B14F-4D97-AF65-F5344CB8AC3E}">
        <p14:creationId xmlns:p14="http://schemas.microsoft.com/office/powerpoint/2010/main" val="3887990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steering committee can consist of representatives selected from all relevant ministries including for example (but not necessarily limited to):</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16</a:t>
            </a:fld>
            <a:endParaRPr lang="en-GB"/>
          </a:p>
        </p:txBody>
      </p:sp>
    </p:spTree>
    <p:extLst>
      <p:ext uri="{BB962C8B-B14F-4D97-AF65-F5344CB8AC3E}">
        <p14:creationId xmlns:p14="http://schemas.microsoft.com/office/powerpoint/2010/main" val="3027099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general, a successful national coordination body will have two main attributes: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It will be a multiagency body including key personnel from different ministries and organisations</a:t>
            </a:r>
          </a:p>
          <a:p>
            <a:pPr lvl="0"/>
            <a:r>
              <a:rPr lang="en-GB" sz="1200" kern="1200" dirty="0">
                <a:solidFill>
                  <a:schemeClr val="tx1"/>
                </a:solidFill>
                <a:effectLst/>
                <a:latin typeface="+mn-lt"/>
                <a:ea typeface="+mn-ea"/>
                <a:cs typeface="+mn-cs"/>
              </a:rPr>
              <a:t>It will be the sole focus for the functional leadership of mine action in the country. Anything else will perpetuate problems with coordination.</a:t>
            </a:r>
          </a:p>
          <a:p>
            <a:r>
              <a:rPr lang="en-US" sz="1200" kern="1200" dirty="0">
                <a:solidFill>
                  <a:schemeClr val="tx1"/>
                </a:solidFill>
                <a:effectLst/>
                <a:latin typeface="+mn-lt"/>
                <a:ea typeface="+mn-ea"/>
                <a:cs typeface="+mn-cs"/>
              </a:rPr>
              <a:t>Planning, briefing, controlling, supporting and evaluating.</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17</a:t>
            </a:fld>
            <a:endParaRPr lang="en-GB"/>
          </a:p>
        </p:txBody>
      </p:sp>
    </p:spTree>
    <p:extLst>
      <p:ext uri="{BB962C8B-B14F-4D97-AF65-F5344CB8AC3E}">
        <p14:creationId xmlns:p14="http://schemas.microsoft.com/office/powerpoint/2010/main" val="160109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 is a core </a:t>
            </a:r>
            <a:r>
              <a:rPr lang="en-US" dirty="0" err="1"/>
              <a:t>actiuvity</a:t>
            </a:r>
            <a:r>
              <a:rPr lang="en-US" dirty="0"/>
              <a:t> of health and social service ministries, so important to define role</a:t>
            </a:r>
          </a:p>
        </p:txBody>
      </p:sp>
      <p:sp>
        <p:nvSpPr>
          <p:cNvPr id="4" name="Slide Number Placeholder 3"/>
          <p:cNvSpPr>
            <a:spLocks noGrp="1"/>
          </p:cNvSpPr>
          <p:nvPr>
            <p:ph type="sldNum" sz="quarter" idx="5"/>
          </p:nvPr>
        </p:nvSpPr>
        <p:spPr/>
        <p:txBody>
          <a:bodyPr/>
          <a:lstStyle/>
          <a:p>
            <a:fld id="{7076156A-C2BA-1946-B602-293027C4FB7E}" type="slidenum">
              <a:rPr lang="en-GB" smtClean="0"/>
              <a:t>18</a:t>
            </a:fld>
            <a:endParaRPr lang="en-GB"/>
          </a:p>
        </p:txBody>
      </p:sp>
    </p:spTree>
    <p:extLst>
      <p:ext uri="{BB962C8B-B14F-4D97-AF65-F5344CB8AC3E}">
        <p14:creationId xmlns:p14="http://schemas.microsoft.com/office/powerpoint/2010/main" val="3949697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Director. And deputy. Recommended that if director is a generalist, the deputy is a specialist (or vice versa)</a:t>
            </a:r>
          </a:p>
          <a:p>
            <a:pPr marL="228600" indent="-228600">
              <a:buAutoNum type="arabicPeriod"/>
            </a:pPr>
            <a:r>
              <a:rPr lang="en-US" dirty="0"/>
              <a:t>Staff within HQ, divided into the 9 main functions. NOTE: these are staff functions, not implementation functions</a:t>
            </a:r>
          </a:p>
          <a:p>
            <a:pPr marL="228600" indent="-228600">
              <a:buAutoNum type="arabicPeriod"/>
            </a:pPr>
            <a:r>
              <a:rPr lang="en-US" dirty="0"/>
              <a:t>Detailed tasks of each department…in handout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Avoid silos. </a:t>
            </a:r>
            <a:r>
              <a:rPr lang="en-GB" sz="1200" kern="1200" dirty="0">
                <a:solidFill>
                  <a:schemeClr val="tx1"/>
                </a:solidFill>
                <a:effectLst/>
                <a:latin typeface="+mn-lt"/>
                <a:ea typeface="+mn-ea"/>
                <a:cs typeface="+mn-cs"/>
              </a:rPr>
              <a:t>The operating practices of the coordination typically indicate which department should lead on each function. Nevertheless, work progresses more smoothly when the lead department consults with other relevant departments. The arrow here is used as an example of one such coordination on land release.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sz="1200" kern="1200" dirty="0">
                <a:solidFill>
                  <a:schemeClr val="tx1"/>
                </a:solidFill>
                <a:effectLst/>
                <a:latin typeface="+mn-lt"/>
                <a:ea typeface="+mn-ea"/>
                <a:cs typeface="+mn-cs"/>
              </a:rPr>
              <a:t>Coordination role with external standards and certification bodies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sz="1200" kern="1200" dirty="0">
                <a:solidFill>
                  <a:schemeClr val="tx1"/>
                </a:solidFill>
                <a:effectLst/>
                <a:latin typeface="+mn-lt"/>
                <a:ea typeface="+mn-ea"/>
                <a:cs typeface="+mn-cs"/>
              </a:rPr>
              <a:t>Support/secretariat role to steering committee…Director is responsible to steering committee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sz="1200" kern="1200" dirty="0">
                <a:solidFill>
                  <a:schemeClr val="tx1"/>
                </a:solidFill>
                <a:effectLst/>
                <a:latin typeface="+mn-lt"/>
                <a:ea typeface="+mn-ea"/>
                <a:cs typeface="+mn-cs"/>
              </a:rPr>
              <a:t>It may be necessary to establish regional offices. These may be allocated as 1 per province (or national equivalent) or may support several </a:t>
            </a:r>
            <a:r>
              <a:rPr lang="en-GB" sz="1200" kern="1200" dirty="0" err="1">
                <a:solidFill>
                  <a:schemeClr val="tx1"/>
                </a:solidFill>
                <a:effectLst/>
                <a:latin typeface="+mn-lt"/>
                <a:ea typeface="+mn-ea"/>
                <a:cs typeface="+mn-cs"/>
              </a:rPr>
              <a:t>proivinces</a:t>
            </a:r>
            <a:r>
              <a:rPr lang="en-GB" sz="1200" kern="1200" dirty="0">
                <a:solidFill>
                  <a:schemeClr val="tx1"/>
                </a:solidFill>
                <a:effectLst/>
                <a:latin typeface="+mn-lt"/>
                <a:ea typeface="+mn-ea"/>
                <a:cs typeface="+mn-cs"/>
              </a:rPr>
              <a:t>. The provinces will have their priorities for mine action </a:t>
            </a:r>
            <a:r>
              <a:rPr lang="en-GB" sz="1200" kern="1200" dirty="0" err="1">
                <a:solidFill>
                  <a:schemeClr val="tx1"/>
                </a:solidFill>
                <a:effectLst/>
                <a:latin typeface="+mn-lt"/>
                <a:ea typeface="+mn-ea"/>
                <a:cs typeface="+mn-cs"/>
              </a:rPr>
              <a:t>wortk</a:t>
            </a:r>
            <a:endParaRPr lang="en-GB" sz="1200" kern="1200" dirty="0">
              <a:solidFill>
                <a:schemeClr val="tx1"/>
              </a:solidFill>
              <a:effectLst/>
              <a:latin typeface="+mn-lt"/>
              <a:ea typeface="+mn-ea"/>
              <a:cs typeface="+mn-cs"/>
            </a:endParaRPr>
          </a:p>
          <a:p>
            <a:pPr marL="228600" indent="-228600">
              <a:buAutoNum type="arabicPeriod"/>
            </a:pP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19</a:t>
            </a:fld>
            <a:endParaRPr lang="en-GB"/>
          </a:p>
        </p:txBody>
      </p:sp>
    </p:spTree>
    <p:extLst>
      <p:ext uri="{BB962C8B-B14F-4D97-AF65-F5344CB8AC3E}">
        <p14:creationId xmlns:p14="http://schemas.microsoft.com/office/powerpoint/2010/main" val="1098926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76156A-C2BA-1946-B602-293027C4FB7E}" type="slidenum">
              <a:rPr lang="en-GB" smtClean="0"/>
              <a:t>20</a:t>
            </a:fld>
            <a:endParaRPr lang="en-GB"/>
          </a:p>
        </p:txBody>
      </p:sp>
    </p:spTree>
    <p:extLst>
      <p:ext uri="{BB962C8B-B14F-4D97-AF65-F5344CB8AC3E}">
        <p14:creationId xmlns:p14="http://schemas.microsoft.com/office/powerpoint/2010/main" val="802059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For some time now, the HMA sector has described itself as being divided into five ‘pillars’. These are:</a:t>
            </a:r>
          </a:p>
          <a:p>
            <a:r>
              <a:rPr lang="en-GB" sz="1200" kern="1200" dirty="0">
                <a:solidFill>
                  <a:schemeClr val="tx1"/>
                </a:solidFill>
                <a:effectLst/>
                <a:latin typeface="+mn-lt"/>
                <a:ea typeface="+mn-ea"/>
                <a:cs typeface="+mn-cs"/>
              </a:rPr>
              <a:t> </a:t>
            </a:r>
          </a:p>
          <a:p>
            <a:pPr lvl="0"/>
            <a:r>
              <a:rPr lang="en-GB" sz="1200" kern="1200" dirty="0">
                <a:solidFill>
                  <a:schemeClr val="tx1"/>
                </a:solidFill>
                <a:effectLst/>
                <a:latin typeface="+mn-lt"/>
                <a:ea typeface="+mn-ea"/>
                <a:cs typeface="+mn-cs"/>
              </a:rPr>
              <a:t>Clearance</a:t>
            </a:r>
          </a:p>
          <a:p>
            <a:pPr lvl="0"/>
            <a:r>
              <a:rPr lang="en-GB" sz="1200" kern="1200" dirty="0">
                <a:solidFill>
                  <a:schemeClr val="tx1"/>
                </a:solidFill>
                <a:effectLst/>
                <a:latin typeface="+mn-lt"/>
                <a:ea typeface="+mn-ea"/>
                <a:cs typeface="+mn-cs"/>
              </a:rPr>
              <a:t>Explosive Ordnance Risk Education (EORE)</a:t>
            </a:r>
          </a:p>
          <a:p>
            <a:pPr lvl="0"/>
            <a:r>
              <a:rPr lang="en-GB" sz="1200" kern="1200" dirty="0">
                <a:solidFill>
                  <a:schemeClr val="tx1"/>
                </a:solidFill>
                <a:effectLst/>
                <a:latin typeface="+mn-lt"/>
                <a:ea typeface="+mn-ea"/>
                <a:cs typeface="+mn-cs"/>
              </a:rPr>
              <a:t>Victim Assistance (VA)</a:t>
            </a:r>
          </a:p>
          <a:p>
            <a:pPr lvl="0"/>
            <a:r>
              <a:rPr lang="en-GB" sz="1200" kern="1200" dirty="0">
                <a:solidFill>
                  <a:schemeClr val="tx1"/>
                </a:solidFill>
                <a:effectLst/>
                <a:latin typeface="+mn-lt"/>
                <a:ea typeface="+mn-ea"/>
                <a:cs typeface="+mn-cs"/>
              </a:rPr>
              <a:t>Advocacy</a:t>
            </a:r>
          </a:p>
          <a:p>
            <a:pPr lvl="0"/>
            <a:r>
              <a:rPr lang="en-GB" sz="1200" kern="1200" dirty="0">
                <a:solidFill>
                  <a:schemeClr val="tx1"/>
                </a:solidFill>
                <a:effectLst/>
                <a:latin typeface="+mn-lt"/>
                <a:ea typeface="+mn-ea"/>
                <a:cs typeface="+mn-cs"/>
              </a:rPr>
              <a:t>Stockpile destruction</a:t>
            </a:r>
          </a:p>
          <a:p>
            <a:pPr lvl="0"/>
            <a:endParaRPr lang="en-GB"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Note that no mention of explosive ordnance disposal (EOD)</a:t>
            </a:r>
          </a:p>
          <a:p>
            <a:pPr lvl="0"/>
            <a:endParaRPr lang="en-GB"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That’s because these were originally the pillars of the anti-AP landmine campaign</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22</a:t>
            </a:fld>
            <a:endParaRPr lang="en-GB"/>
          </a:p>
        </p:txBody>
      </p:sp>
    </p:spTree>
    <p:extLst>
      <p:ext uri="{BB962C8B-B14F-4D97-AF65-F5344CB8AC3E}">
        <p14:creationId xmlns:p14="http://schemas.microsoft.com/office/powerpoint/2010/main" val="1967382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early definitions of the mine action pillars, ‘clearance’ specifically referred to mine clearance as the pillars were closely bound up with the 1997 APMBC. Recently the term has been more widely applied to include all forms of ‘area’ clearance and work done by mobile explosive ordnance disposal (EOD) teams (often referred to as ‘spot’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r>
              <a:rPr lang="en-GB" sz="1200" u="sng" kern="1200" dirty="0">
                <a:solidFill>
                  <a:schemeClr val="tx1"/>
                </a:solidFill>
                <a:effectLst/>
                <a:latin typeface="+mn-lt"/>
                <a:ea typeface="+mn-ea"/>
                <a:cs typeface="+mn-cs"/>
              </a:rPr>
              <a:t>Area clearance </a:t>
            </a:r>
          </a:p>
          <a:p>
            <a:r>
              <a:rPr lang="en-GB" sz="1200" kern="1200" dirty="0">
                <a:solidFill>
                  <a:schemeClr val="tx1"/>
                </a:solidFill>
                <a:effectLst/>
                <a:latin typeface="+mn-lt"/>
                <a:ea typeface="+mn-ea"/>
                <a:cs typeface="+mn-cs"/>
              </a:rPr>
              <a:t>Mine clearance (or demining) is defined in International Mine Action Standards (IMAS)</a:t>
            </a:r>
            <a:r>
              <a:rPr lang="en-GB" sz="1200" kern="1200" baseline="-250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as</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“…the clearance of mines and ERW from a specified area to a predefined standard.”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Area clearance is a slightly more general term that covers both mine clearance, cluster munition clearance and the clearance of UXO from a former battle area (known as ‘battle area clearance’ or BAC). Area clearance is a prophylactic process that may take place even on land which is subsequently found not to contain mines or EO. Area clearance does not </a:t>
            </a:r>
            <a:r>
              <a:rPr lang="en-GB" sz="1200" i="1" kern="1200" dirty="0">
                <a:solidFill>
                  <a:schemeClr val="tx1"/>
                </a:solidFill>
                <a:effectLst/>
                <a:latin typeface="+mn-lt"/>
                <a:ea typeface="+mn-ea"/>
                <a:cs typeface="+mn-cs"/>
              </a:rPr>
              <a:t>necessarily</a:t>
            </a:r>
            <a:r>
              <a:rPr lang="en-GB" sz="1200" kern="1200" dirty="0">
                <a:solidFill>
                  <a:schemeClr val="tx1"/>
                </a:solidFill>
                <a:effectLst/>
                <a:latin typeface="+mn-lt"/>
                <a:ea typeface="+mn-ea"/>
                <a:cs typeface="+mn-cs"/>
              </a:rPr>
              <a:t> reduce casualties, especially in areas where fear of injury keeps the local population out of the contaminated area. It’s main result is the increase in availability of safe land for productive use.</a:t>
            </a:r>
          </a:p>
          <a:p>
            <a:r>
              <a:rPr lang="en-GB" sz="1200" kern="1200" dirty="0">
                <a:solidFill>
                  <a:schemeClr val="tx1"/>
                </a:solidFill>
                <a:effectLst/>
                <a:latin typeface="+mn-lt"/>
                <a:ea typeface="+mn-ea"/>
                <a:cs typeface="+mn-cs"/>
              </a:rPr>
              <a:t> </a:t>
            </a:r>
          </a:p>
          <a:p>
            <a:r>
              <a:rPr lang="en-GB" sz="1200" u="sng" kern="1200" dirty="0">
                <a:solidFill>
                  <a:schemeClr val="tx1"/>
                </a:solidFill>
                <a:effectLst/>
                <a:latin typeface="+mn-lt"/>
                <a:ea typeface="+mn-ea"/>
                <a:cs typeface="+mn-cs"/>
              </a:rPr>
              <a:t>Explosive ordnance disposal (EOD)</a:t>
            </a:r>
          </a:p>
          <a:p>
            <a:r>
              <a:rPr lang="en-GB" sz="1200" kern="1200" dirty="0">
                <a:solidFill>
                  <a:schemeClr val="tx1"/>
                </a:solidFill>
                <a:effectLst/>
                <a:latin typeface="+mn-lt"/>
                <a:ea typeface="+mn-ea"/>
                <a:cs typeface="+mn-cs"/>
              </a:rPr>
              <a:t>EOD is defined in IMAS as </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“the detection, identification, evaluation, render safe, recovery and disposal of explosive ordnance (EO)”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EOD is normally a ‘reactive’ and mobile process to respond to specific ‘spot tasks’ of ERW. As a result, EOD work does not generally clear land for subsequent use, but it does assist in the prevention of casualties by removing explosive hazards.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lvl="1"/>
            <a:r>
              <a:rPr lang="en-GB" sz="1200" kern="1200" dirty="0">
                <a:solidFill>
                  <a:schemeClr val="tx1"/>
                </a:solidFill>
                <a:effectLst/>
                <a:latin typeface="+mn-lt"/>
                <a:ea typeface="+mn-ea"/>
                <a:cs typeface="+mn-cs"/>
              </a:rPr>
              <a:t>Explosive Ordnance Risk Education (EORE)</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EORE is defined in IMAS as: </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“…activities which seek to reduce the risk of injury from mines/ERW by raising awareness of men, women, and children in accordance with their different vulnerabilities, roles and needs, and promoting behavioural change”.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EORE is an educational process intended to reduce casualties through the modification of behaviour. It can be adult or child-focussed, community-based, school-based or delivered through varied mass-media outlets.</a:t>
            </a:r>
          </a:p>
          <a:p>
            <a:r>
              <a:rPr lang="en-GB" sz="1200" kern="1200" dirty="0">
                <a:solidFill>
                  <a:schemeClr val="tx1"/>
                </a:solidFill>
                <a:effectLst/>
                <a:latin typeface="+mn-lt"/>
                <a:ea typeface="+mn-ea"/>
                <a:cs typeface="+mn-cs"/>
              </a:rPr>
              <a:t> </a:t>
            </a:r>
          </a:p>
          <a:p>
            <a:pPr lvl="1"/>
            <a:r>
              <a:rPr lang="en-GB" sz="1200" kern="1200" dirty="0">
                <a:solidFill>
                  <a:schemeClr val="tx1"/>
                </a:solidFill>
                <a:effectLst/>
                <a:latin typeface="+mn-lt"/>
                <a:ea typeface="+mn-ea"/>
                <a:cs typeface="+mn-cs"/>
              </a:rPr>
              <a:t>Victim Assistance (VA)</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2016 United Nations Policy on Victim Assistance in Mine Action defines victim as follows:</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“…the term “victim” shall refer to a person who has suffered physical, emotional and psychological injury, economic loss or substantial impairment of his or her fundamental rights through acts or omissions related to the use of mines or the presence of ERW. Victims include directly impacted individuals (including survivors), their families and communities affected by mines, ERW, cluster munitions or improvised explosive devices (IEDs) following conflict. The term “survivor” shall refer to a person who was harmed or injured as a result of a mine, ERW, cluster munition or IED accident and has survived the accident”.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It should be noted that, in general, the word ‘mine’ has been dropped from ‘victim assistance’ as it was soon realised that other EO contributed significantly to the casualty numbers originally attributed to AP mines.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 Convention on the Rights of Persons with Disabilities (CPRD), as introduced above, provides the human rights standard for the provision of such assistance.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There is also a general consensus that victim assistance activities should be ‘mainstreamed’ into the country’s health and social service sectors wherever possible.</a:t>
            </a:r>
          </a:p>
          <a:p>
            <a:r>
              <a:rPr lang="en-GB" sz="1200" kern="1200" dirty="0">
                <a:solidFill>
                  <a:schemeClr val="tx1"/>
                </a:solidFill>
                <a:effectLst/>
                <a:latin typeface="+mn-lt"/>
                <a:ea typeface="+mn-ea"/>
                <a:cs typeface="+mn-cs"/>
              </a:rPr>
              <a:t> </a:t>
            </a:r>
          </a:p>
          <a:p>
            <a:pPr lvl="1"/>
            <a:r>
              <a:rPr lang="en-GB" sz="1200" kern="1200" dirty="0">
                <a:solidFill>
                  <a:schemeClr val="tx1"/>
                </a:solidFill>
                <a:effectLst/>
                <a:latin typeface="+mn-lt"/>
                <a:ea typeface="+mn-ea"/>
                <a:cs typeface="+mn-cs"/>
              </a:rPr>
              <a:t>Advocacy</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United Nations Mine Action Service (UNMAS) website describes the advocacy pillar thus:</a:t>
            </a:r>
          </a:p>
          <a:p>
            <a:r>
              <a:rPr lang="en-GB" sz="1200" i="1" kern="1200" dirty="0">
                <a:solidFill>
                  <a:schemeClr val="tx1"/>
                </a:solidFill>
                <a:effectLst/>
                <a:latin typeface="+mn-lt"/>
                <a:ea typeface="+mn-ea"/>
                <a:cs typeface="+mn-cs"/>
              </a:rPr>
              <a:t>“Advocating for a world free from the threat of landmines and encouraging countries to participate in international treaties and conventions designed to end the production, trade, shipment or use of mines and to uphold the rights of persons with disabilities”.</a:t>
            </a:r>
          </a:p>
          <a:p>
            <a:r>
              <a:rPr lang="en-GB" sz="1200" i="1" kern="1200" dirty="0">
                <a:solidFill>
                  <a:schemeClr val="tx1"/>
                </a:solidFill>
                <a:effectLst/>
                <a:latin typeface="+mn-lt"/>
                <a:ea typeface="+mn-ea"/>
                <a:cs typeface="+mn-cs"/>
              </a:rPr>
              <a:t> </a:t>
            </a:r>
          </a:p>
          <a:p>
            <a:pPr lvl="1"/>
            <a:r>
              <a:rPr lang="en-GB" sz="1200" kern="1200" dirty="0">
                <a:solidFill>
                  <a:schemeClr val="tx1"/>
                </a:solidFill>
                <a:effectLst/>
                <a:latin typeface="+mn-lt"/>
                <a:ea typeface="+mn-ea"/>
                <a:cs typeface="+mn-cs"/>
              </a:rPr>
              <a:t>Stockpile destruction</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Stockpile destruction was originally included to cover the destruction of AP mines rendered illegal by a country’s adoption of the APMBC. It tends to be used in a wider sense today. It now overlaps with Weapons and Ammunition Management (WAM) as discussed in </a:t>
            </a:r>
            <a:r>
              <a:rPr lang="en-GB" sz="1200" b="1" kern="1200" dirty="0">
                <a:solidFill>
                  <a:schemeClr val="tx1"/>
                </a:solidFill>
                <a:effectLst/>
                <a:latin typeface="+mn-lt"/>
                <a:ea typeface="+mn-ea"/>
                <a:cs typeface="+mn-cs"/>
              </a:rPr>
              <a:t>Para 1.6.1</a:t>
            </a:r>
            <a:r>
              <a:rPr lang="en-GB" sz="1200" kern="1200" dirty="0">
                <a:solidFill>
                  <a:schemeClr val="tx1"/>
                </a:solidFill>
                <a:effectLst/>
                <a:latin typeface="+mn-lt"/>
                <a:ea typeface="+mn-ea"/>
                <a:cs typeface="+mn-cs"/>
              </a:rPr>
              <a:t> below.</a:t>
            </a:r>
          </a:p>
          <a:p>
            <a:r>
              <a:rPr lang="en-US" sz="1200" kern="1200" dirty="0">
                <a:solidFill>
                  <a:schemeClr val="tx1"/>
                </a:solidFill>
                <a:effectLst/>
                <a:latin typeface="+mn-lt"/>
                <a:ea typeface="+mn-ea"/>
                <a:cs typeface="+mn-cs"/>
              </a:rPr>
              <a:t>https://</a:t>
            </a:r>
            <a:r>
              <a:rPr lang="en-US" sz="1200" kern="1200" dirty="0" err="1">
                <a:solidFill>
                  <a:schemeClr val="tx1"/>
                </a:solidFill>
                <a:effectLst/>
                <a:latin typeface="+mn-lt"/>
                <a:ea typeface="+mn-ea"/>
                <a:cs typeface="+mn-cs"/>
              </a:rPr>
              <a:t>www.unog.ch</a:t>
            </a:r>
            <a:r>
              <a:rPr lang="en-US" sz="1200" kern="1200" dirty="0">
                <a:solidFill>
                  <a:schemeClr val="tx1"/>
                </a:solidFill>
                <a:effectLst/>
                <a:latin typeface="+mn-lt"/>
                <a:ea typeface="+mn-ea"/>
                <a:cs typeface="+mn-cs"/>
              </a:rPr>
              <a:t>/80256EDD006B8954/(</a:t>
            </a:r>
            <a:r>
              <a:rPr lang="en-US" sz="1200" kern="1200" dirty="0" err="1">
                <a:solidFill>
                  <a:schemeClr val="tx1"/>
                </a:solidFill>
                <a:effectLst/>
                <a:latin typeface="+mn-lt"/>
                <a:ea typeface="+mn-ea"/>
                <a:cs typeface="+mn-cs"/>
              </a:rPr>
              <a:t>httpAssets</a:t>
            </a:r>
            <a:r>
              <a:rPr lang="en-US" sz="1200" kern="1200" dirty="0">
                <a:solidFill>
                  <a:schemeClr val="tx1"/>
                </a:solidFill>
                <a:effectLst/>
                <a:latin typeface="+mn-lt"/>
                <a:ea typeface="+mn-ea"/>
                <a:cs typeface="+mn-cs"/>
              </a:rPr>
              <a:t>)/DB52C9969010ABE7C1258014004542FF/$file/02052016+UN+Policy+on+Victim+Assistance+in+Mine+Action.pdf</a:t>
            </a:r>
            <a:endParaRPr lang="en-GB" sz="16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http://</a:t>
            </a:r>
            <a:r>
              <a:rPr lang="en-US" sz="1200" kern="1200" dirty="0" err="1">
                <a:solidFill>
                  <a:schemeClr val="tx1"/>
                </a:solidFill>
                <a:effectLst/>
                <a:latin typeface="+mn-lt"/>
                <a:ea typeface="+mn-ea"/>
                <a:cs typeface="+mn-cs"/>
              </a:rPr>
              <a:t>www.mineaction.org</a:t>
            </a:r>
            <a:r>
              <a:rPr lang="en-US" sz="1200" kern="1200" dirty="0">
                <a:solidFill>
                  <a:schemeClr val="tx1"/>
                </a:solidFill>
                <a:effectLst/>
                <a:latin typeface="+mn-lt"/>
                <a:ea typeface="+mn-ea"/>
                <a:cs typeface="+mn-cs"/>
              </a:rPr>
              <a:t>/issues</a:t>
            </a: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23</a:t>
            </a:fld>
            <a:endParaRPr lang="en-GB"/>
          </a:p>
        </p:txBody>
      </p:sp>
    </p:spTree>
    <p:extLst>
      <p:ext uri="{BB962C8B-B14F-4D97-AF65-F5344CB8AC3E}">
        <p14:creationId xmlns:p14="http://schemas.microsoft.com/office/powerpoint/2010/main" val="2116380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For the sake of clarity, mine action ‘products’ can be considered to be the actual concrete things that mine action programs can ‘produce’. These products (i.e. clearance, EOD, EORE and VA), produce three main ‘results’ (or ‘impacts’): </a:t>
            </a:r>
          </a:p>
          <a:p>
            <a:r>
              <a:rPr lang="en-GB" sz="1200" kern="1200" dirty="0">
                <a:solidFill>
                  <a:schemeClr val="tx1"/>
                </a:solidFill>
                <a:effectLst/>
                <a:latin typeface="+mn-lt"/>
                <a:ea typeface="+mn-ea"/>
                <a:cs typeface="+mn-cs"/>
              </a:rPr>
              <a:t> </a:t>
            </a:r>
          </a:p>
          <a:p>
            <a:pPr lvl="0"/>
            <a:r>
              <a:rPr lang="en-GB" sz="1200" kern="1200" dirty="0">
                <a:solidFill>
                  <a:schemeClr val="tx1"/>
                </a:solidFill>
                <a:effectLst/>
                <a:latin typeface="+mn-lt"/>
                <a:ea typeface="+mn-ea"/>
                <a:cs typeface="+mn-cs"/>
              </a:rPr>
              <a:t>A reduction in the number of casualties caused by EO.</a:t>
            </a:r>
          </a:p>
          <a:p>
            <a:pPr lvl="0"/>
            <a:r>
              <a:rPr lang="en-GB" sz="1200" kern="1200" dirty="0">
                <a:solidFill>
                  <a:schemeClr val="tx1"/>
                </a:solidFill>
                <a:effectLst/>
                <a:latin typeface="+mn-lt"/>
                <a:ea typeface="+mn-ea"/>
                <a:cs typeface="+mn-cs"/>
              </a:rPr>
              <a:t>An increase in the use of productive land otherwise denied by the actual presence or the perception of the presence of contamination by EO.</a:t>
            </a:r>
          </a:p>
          <a:p>
            <a:pPr lvl="0"/>
            <a:r>
              <a:rPr lang="en-GB" sz="1200" kern="1200" dirty="0">
                <a:solidFill>
                  <a:schemeClr val="tx1"/>
                </a:solidFill>
                <a:effectLst/>
                <a:latin typeface="+mn-lt"/>
                <a:ea typeface="+mn-ea"/>
                <a:cs typeface="+mn-cs"/>
              </a:rPr>
              <a:t>An increase in the ability of survivors of mine accidents to make an effective and dignified reintegration into society</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25</a:t>
            </a:fld>
            <a:endParaRPr lang="en-GB"/>
          </a:p>
        </p:txBody>
      </p:sp>
    </p:spTree>
    <p:extLst>
      <p:ext uri="{BB962C8B-B14F-4D97-AF65-F5344CB8AC3E}">
        <p14:creationId xmlns:p14="http://schemas.microsoft.com/office/powerpoint/2010/main" val="1496593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 activities produce these impacts?</a:t>
            </a:r>
          </a:p>
        </p:txBody>
      </p:sp>
      <p:sp>
        <p:nvSpPr>
          <p:cNvPr id="4" name="Slide Number Placeholder 3"/>
          <p:cNvSpPr>
            <a:spLocks noGrp="1"/>
          </p:cNvSpPr>
          <p:nvPr>
            <p:ph type="sldNum" sz="quarter" idx="5"/>
          </p:nvPr>
        </p:nvSpPr>
        <p:spPr/>
        <p:txBody>
          <a:bodyPr/>
          <a:lstStyle/>
          <a:p>
            <a:fld id="{7076156A-C2BA-1946-B602-293027C4FB7E}" type="slidenum">
              <a:rPr lang="en-GB" smtClean="0"/>
              <a:t>26</a:t>
            </a:fld>
            <a:endParaRPr lang="en-GB"/>
          </a:p>
        </p:txBody>
      </p:sp>
    </p:spTree>
    <p:extLst>
      <p:ext uri="{BB962C8B-B14F-4D97-AF65-F5344CB8AC3E}">
        <p14:creationId xmlns:p14="http://schemas.microsoft.com/office/powerpoint/2010/main" val="354531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talk more about this in later presentations</a:t>
            </a:r>
          </a:p>
        </p:txBody>
      </p:sp>
      <p:sp>
        <p:nvSpPr>
          <p:cNvPr id="4" name="Slide Number Placeholder 3"/>
          <p:cNvSpPr>
            <a:spLocks noGrp="1"/>
          </p:cNvSpPr>
          <p:nvPr>
            <p:ph type="sldNum" sz="quarter" idx="5"/>
          </p:nvPr>
        </p:nvSpPr>
        <p:spPr/>
        <p:txBody>
          <a:bodyPr/>
          <a:lstStyle/>
          <a:p>
            <a:fld id="{7076156A-C2BA-1946-B602-293027C4FB7E}" type="slidenum">
              <a:rPr lang="en-GB" smtClean="0"/>
              <a:t>27</a:t>
            </a:fld>
            <a:endParaRPr lang="en-GB"/>
          </a:p>
        </p:txBody>
      </p:sp>
    </p:spTree>
    <p:extLst>
      <p:ext uri="{BB962C8B-B14F-4D97-AF65-F5344CB8AC3E}">
        <p14:creationId xmlns:p14="http://schemas.microsoft.com/office/powerpoint/2010/main" val="1438177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Various types of survey and community engagement are processes which can help make area clearance more effective and efficient. They should be considered as important enabling activities as part of an area clearance “product”, but unless they release safe land or directly reduce casualties, they are not products in themselves, as they do not directly produce an </a:t>
            </a:r>
            <a:r>
              <a:rPr lang="en-GB" sz="1200" i="1" kern="1200" dirty="0">
                <a:solidFill>
                  <a:schemeClr val="tx1"/>
                </a:solidFill>
                <a:effectLst/>
                <a:latin typeface="+mn-lt"/>
                <a:ea typeface="+mn-ea"/>
                <a:cs typeface="+mn-cs"/>
              </a:rPr>
              <a:t>outcome</a:t>
            </a:r>
            <a:r>
              <a:rPr lang="en-GB"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28</a:t>
            </a:fld>
            <a:endParaRPr lang="en-GB"/>
          </a:p>
        </p:txBody>
      </p:sp>
    </p:spTree>
    <p:extLst>
      <p:ext uri="{BB962C8B-B14F-4D97-AF65-F5344CB8AC3E}">
        <p14:creationId xmlns:p14="http://schemas.microsoft.com/office/powerpoint/2010/main" val="4041702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sz="1200" kern="1200" dirty="0">
                <a:solidFill>
                  <a:schemeClr val="tx1"/>
                </a:solidFill>
                <a:effectLst/>
                <a:latin typeface="+mn-lt"/>
                <a:ea typeface="+mn-ea"/>
                <a:cs typeface="+mn-cs"/>
              </a:rPr>
              <a:t>Weapons and ammunition management (WAM)</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Weapons and ammunition management (WAM), which is often a component of Security Sector reform (SSR), involves the physical security and stockpile management (PSSM) of ammunition and the management of small arms and light weapons (SALW). Weapons and ammunition are usually owned by government agencies, and their management is not directly a humanitarian issue: however, when mismanaged, catastrophic incidents can result in significant numbers of casualties. Thus, many mine action agencies are sometimes involved in remedial actions to prevent such incidents either in support of security sector reform or armed violence reduction (AVR) initiatives. </a:t>
            </a:r>
          </a:p>
          <a:p>
            <a:r>
              <a:rPr lang="en-GB" sz="1200" kern="1200" dirty="0">
                <a:solidFill>
                  <a:schemeClr val="tx1"/>
                </a:solidFill>
                <a:effectLst/>
                <a:latin typeface="+mn-lt"/>
                <a:ea typeface="+mn-ea"/>
                <a:cs typeface="+mn-cs"/>
              </a:rPr>
              <a:t> </a:t>
            </a:r>
          </a:p>
          <a:p>
            <a:pPr lvl="1"/>
            <a:r>
              <a:rPr lang="en-GB" sz="1200" kern="1200" dirty="0">
                <a:solidFill>
                  <a:schemeClr val="tx1"/>
                </a:solidFill>
                <a:effectLst/>
                <a:latin typeface="+mn-lt"/>
                <a:ea typeface="+mn-ea"/>
                <a:cs typeface="+mn-cs"/>
              </a:rPr>
              <a:t>Small arms and light weapons (SALW)</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Small arms are weapons that can be carried by an individual, whereas light weapons are normally served by a small crew and can sometimes be carried on a vehicle. In many countries, especially those emerging from conflict, the prevalence of unregulated SALW can contribute significantly to the incidence of armed violence. Mine action agencies are often involved in in remedial actions to prevent such incidents. This can include weapons destruction after demobilisation of armed groups, for example.</a:t>
            </a:r>
          </a:p>
          <a:p>
            <a:r>
              <a:rPr lang="en-GB" sz="1200" kern="1200" dirty="0">
                <a:solidFill>
                  <a:schemeClr val="tx1"/>
                </a:solidFill>
                <a:effectLst/>
                <a:latin typeface="+mn-lt"/>
                <a:ea typeface="+mn-ea"/>
                <a:cs typeface="+mn-cs"/>
              </a:rPr>
              <a:t> </a:t>
            </a:r>
          </a:p>
          <a:p>
            <a:pPr lvl="1"/>
            <a:r>
              <a:rPr lang="en-GB" sz="1200" kern="1200" dirty="0">
                <a:solidFill>
                  <a:schemeClr val="tx1"/>
                </a:solidFill>
                <a:effectLst/>
                <a:latin typeface="+mn-lt"/>
                <a:ea typeface="+mn-ea"/>
                <a:cs typeface="+mn-cs"/>
              </a:rPr>
              <a:t>Armed violence reduction (AVR)</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organisation for Economic Cooperation and Development (OECD) defines armed violence as follows:</a:t>
            </a:r>
          </a:p>
          <a:p>
            <a:r>
              <a:rPr lang="en-GB" sz="1200" kern="1200" dirty="0">
                <a:solidFill>
                  <a:schemeClr val="tx1"/>
                </a:solidFill>
                <a:effectLst/>
                <a:latin typeface="+mn-lt"/>
                <a:ea typeface="+mn-ea"/>
                <a:cs typeface="+mn-cs"/>
              </a:rPr>
              <a:t> </a:t>
            </a:r>
          </a:p>
          <a:p>
            <a:r>
              <a:rPr lang="en-GB" sz="1200" i="1" kern="1200" dirty="0">
                <a:solidFill>
                  <a:schemeClr val="tx1"/>
                </a:solidFill>
                <a:effectLst/>
                <a:latin typeface="+mn-lt"/>
                <a:ea typeface="+mn-ea"/>
                <a:cs typeface="+mn-cs"/>
              </a:rPr>
              <a:t>“Armed violence includes the use or threatened use of weapons to inflict injury, death or psychosocial harm which undermines development”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As mentioned above, it is a particular problem in countries emerging from conflict or from other fragile states. The OECD defines Armed Violence Reduction (AVR) as activities aimed at ‘reducing the risks and impact of armed violence</a:t>
            </a:r>
            <a:r>
              <a:rPr lang="en-GB" sz="1200" kern="1200" baseline="30000" dirty="0">
                <a:solidFill>
                  <a:schemeClr val="tx1"/>
                </a:solidFill>
                <a:effectLst/>
                <a:latin typeface="+mn-lt"/>
                <a:ea typeface="+mn-ea"/>
                <a:cs typeface="+mn-cs"/>
              </a:rPr>
              <a:t>4</a:t>
            </a:r>
            <a:r>
              <a:rPr lang="en-GB" sz="1200" kern="1200" dirty="0">
                <a:solidFill>
                  <a:schemeClr val="tx1"/>
                </a:solidFill>
                <a:effectLst/>
                <a:latin typeface="+mn-lt"/>
                <a:ea typeface="+mn-ea"/>
                <a:cs typeface="+mn-cs"/>
              </a:rPr>
              <a:t>’. At a technical level, activities conducted in ammunition and SALW management contribute to controlling the ‘instruments’ of violence’, and several mine action agencies have also expanded their focus to look at institutional and community-based AVR intervention.</a:t>
            </a:r>
          </a:p>
          <a:p>
            <a:r>
              <a:rPr lang="en-GB" sz="1200" kern="1200" dirty="0">
                <a:solidFill>
                  <a:schemeClr val="tx1"/>
                </a:solidFill>
                <a:effectLst/>
                <a:latin typeface="+mn-lt"/>
                <a:ea typeface="+mn-ea"/>
                <a:cs typeface="+mn-cs"/>
              </a:rPr>
              <a:t> </a:t>
            </a:r>
          </a:p>
          <a:p>
            <a:endParaRPr lang="en-GB" sz="1200" kern="1200" dirty="0">
              <a:solidFill>
                <a:schemeClr val="tx1"/>
              </a:solidFill>
              <a:effectLst/>
              <a:latin typeface="+mn-lt"/>
              <a:ea typeface="+mn-ea"/>
              <a:cs typeface="+mn-cs"/>
            </a:endParaRPr>
          </a:p>
          <a:p>
            <a:pPr lvl="1"/>
            <a:r>
              <a:rPr lang="en-GB" sz="1200" kern="1200" dirty="0">
                <a:solidFill>
                  <a:schemeClr val="tx1"/>
                </a:solidFill>
                <a:effectLst/>
                <a:latin typeface="+mn-lt"/>
                <a:ea typeface="+mn-ea"/>
                <a:cs typeface="+mn-cs"/>
              </a:rPr>
              <a:t>Security Sector Reform (SSR)</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Security Sector Reform (SSR) is the political and technical process of improving how a country’s security forces—such as police, military, and intelligence services—operate, manage, and oversee their duties. It aims to create effective, accountable, and people-centred security, ensuring forces respect human rights, the rule of law, and civilian control to foster sustainable peace and development. This can overlap with development of EOD teams, first responder training and area clearance.</a:t>
            </a:r>
          </a:p>
          <a:p>
            <a:endParaRPr lang="en-GB" sz="1200" kern="1200" dirty="0">
              <a:solidFill>
                <a:schemeClr val="tx1"/>
              </a:solidFill>
              <a:effectLst/>
              <a:latin typeface="+mn-lt"/>
              <a:ea typeface="+mn-ea"/>
              <a:cs typeface="+mn-cs"/>
            </a:endParaRPr>
          </a:p>
          <a:p>
            <a:pPr lvl="1"/>
            <a:r>
              <a:rPr lang="en-GB" sz="1200" kern="1200" dirty="0">
                <a:solidFill>
                  <a:schemeClr val="tx1"/>
                </a:solidFill>
                <a:effectLst/>
                <a:latin typeface="+mn-lt"/>
                <a:ea typeface="+mn-ea"/>
                <a:cs typeface="+mn-cs"/>
              </a:rPr>
              <a:t>Improvised explosive device (IED) disposal</a:t>
            </a:r>
            <a:endParaRPr lang="en-GB" sz="16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Improvised explosive devices are devices constructed in an improvised manner, using EO, commercial explosives or even home-made explosives (HME). The use of IED in certain countries has increased significantly in recent years and most mine action agencies are now developing an humanitarian response to these weapons. This response, even in terms of the provision of IED risk education, requires additional specialist training. IED are discussed in more detail in </a:t>
            </a:r>
            <a:r>
              <a:rPr lang="en-GB" sz="1200" b="1" kern="1200" dirty="0">
                <a:solidFill>
                  <a:schemeClr val="tx1"/>
                </a:solidFill>
                <a:effectLst/>
                <a:latin typeface="+mn-lt"/>
                <a:ea typeface="+mn-ea"/>
                <a:cs typeface="+mn-cs"/>
              </a:rPr>
              <a:t>Chapter 7</a:t>
            </a:r>
            <a:r>
              <a:rPr lang="en-GB" sz="1200" kern="1200" dirty="0">
                <a:solidFill>
                  <a:schemeClr val="tx1"/>
                </a:solidFill>
                <a:effectLst/>
                <a:latin typeface="+mn-lt"/>
                <a:ea typeface="+mn-ea"/>
                <a:cs typeface="+mn-cs"/>
              </a:rPr>
              <a:t> below.</a:t>
            </a:r>
          </a:p>
          <a:p>
            <a:r>
              <a:rPr lang="en-US" sz="1200" kern="1200" dirty="0">
                <a:solidFill>
                  <a:schemeClr val="tx1"/>
                </a:solidFill>
                <a:effectLst/>
                <a:latin typeface="+mn-lt"/>
                <a:ea typeface="+mn-ea"/>
                <a:cs typeface="+mn-cs"/>
              </a:rPr>
              <a:t>https://</a:t>
            </a:r>
            <a:r>
              <a:rPr lang="en-US" sz="1200" kern="1200" dirty="0" err="1">
                <a:solidFill>
                  <a:schemeClr val="tx1"/>
                </a:solidFill>
                <a:effectLst/>
                <a:latin typeface="+mn-lt"/>
                <a:ea typeface="+mn-ea"/>
                <a:cs typeface="+mn-cs"/>
              </a:rPr>
              <a:t>read.oecd-ilibrary.org</a:t>
            </a:r>
            <a:r>
              <a:rPr lang="en-US" sz="1200" kern="1200" dirty="0">
                <a:solidFill>
                  <a:schemeClr val="tx1"/>
                </a:solidFill>
                <a:effectLst/>
                <a:latin typeface="+mn-lt"/>
                <a:ea typeface="+mn-ea"/>
                <a:cs typeface="+mn-cs"/>
              </a:rPr>
              <a:t>/development/armed-violence-reduction</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30</a:t>
            </a:fld>
            <a:endParaRPr lang="en-GB"/>
          </a:p>
        </p:txBody>
      </p:sp>
    </p:spTree>
    <p:extLst>
      <p:ext uri="{BB962C8B-B14F-4D97-AF65-F5344CB8AC3E}">
        <p14:creationId xmlns:p14="http://schemas.microsoft.com/office/powerpoint/2010/main" val="1841125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i="1" dirty="0"/>
              <a:t>“Activities which aim to reduce the social, economic and environmental impact of explosive ordnance”.</a:t>
            </a:r>
          </a:p>
          <a:p>
            <a:pPr lvl="1"/>
            <a:r>
              <a:rPr lang="en-US" i="1" dirty="0"/>
              <a:t>“Mine action is not just about demining; it is also about people and societies”</a:t>
            </a:r>
          </a:p>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33</a:t>
            </a:fld>
            <a:endParaRPr lang="en-GB"/>
          </a:p>
        </p:txBody>
      </p:sp>
    </p:spTree>
    <p:extLst>
      <p:ext uri="{BB962C8B-B14F-4D97-AF65-F5344CB8AC3E}">
        <p14:creationId xmlns:p14="http://schemas.microsoft.com/office/powerpoint/2010/main" val="1229626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6156A-C2BA-1946-B602-293027C4FB7E}" type="slidenum">
              <a:rPr lang="en-GB" smtClean="0"/>
              <a:t>34</a:t>
            </a:fld>
            <a:endParaRPr lang="en-GB"/>
          </a:p>
        </p:txBody>
      </p:sp>
    </p:spTree>
    <p:extLst>
      <p:ext uri="{BB962C8B-B14F-4D97-AF65-F5344CB8AC3E}">
        <p14:creationId xmlns:p14="http://schemas.microsoft.com/office/powerpoint/2010/main" val="2909920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3581374"/>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hasCustomPrompt="1"/>
          </p:nvPr>
        </p:nvSpPr>
        <p:spPr>
          <a:xfrm>
            <a:off x="1143000" y="4715202"/>
            <a:ext cx="6858000" cy="54259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Dr Robert Keeley</a:t>
            </a:r>
          </a:p>
        </p:txBody>
      </p:sp>
      <p:grpSp>
        <p:nvGrpSpPr>
          <p:cNvPr id="7" name="Group 6">
            <a:extLst>
              <a:ext uri="{FF2B5EF4-FFF2-40B4-BE49-F238E27FC236}">
                <a16:creationId xmlns:a16="http://schemas.microsoft.com/office/drawing/2014/main" id="{C914A165-7AE3-CE4D-8E10-6C0385076F51}"/>
              </a:ext>
            </a:extLst>
          </p:cNvPr>
          <p:cNvGrpSpPr/>
          <p:nvPr userDrawn="1"/>
        </p:nvGrpSpPr>
        <p:grpSpPr>
          <a:xfrm>
            <a:off x="421429" y="225305"/>
            <a:ext cx="1443142" cy="2555956"/>
            <a:chOff x="569106" y="800963"/>
            <a:chExt cx="3125338" cy="5535301"/>
          </a:xfrm>
        </p:grpSpPr>
        <p:sp>
          <p:nvSpPr>
            <p:cNvPr id="8" name="Oval 7">
              <a:extLst>
                <a:ext uri="{FF2B5EF4-FFF2-40B4-BE49-F238E27FC236}">
                  <a16:creationId xmlns:a16="http://schemas.microsoft.com/office/drawing/2014/main" id="{AB46611B-A842-114E-9CC1-627C3664F090}"/>
                </a:ext>
              </a:extLst>
            </p:cNvPr>
            <p:cNvSpPr/>
            <p:nvPr/>
          </p:nvSpPr>
          <p:spPr>
            <a:xfrm>
              <a:off x="569106" y="800963"/>
              <a:ext cx="3125338" cy="5535301"/>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0C86789D-92DD-374C-9443-EFC755C3F970}"/>
                </a:ext>
              </a:extLst>
            </p:cNvPr>
            <p:cNvGrpSpPr/>
            <p:nvPr/>
          </p:nvGrpSpPr>
          <p:grpSpPr>
            <a:xfrm>
              <a:off x="1749280" y="1121147"/>
              <a:ext cx="764991" cy="4894932"/>
              <a:chOff x="5729594" y="1058166"/>
              <a:chExt cx="674073" cy="4313177"/>
            </a:xfrm>
            <a:solidFill>
              <a:schemeClr val="bg1"/>
            </a:solidFill>
          </p:grpSpPr>
          <p:sp>
            <p:nvSpPr>
              <p:cNvPr id="10" name="Freeform 9">
                <a:extLst>
                  <a:ext uri="{FF2B5EF4-FFF2-40B4-BE49-F238E27FC236}">
                    <a16:creationId xmlns:a16="http://schemas.microsoft.com/office/drawing/2014/main" id="{A03CCABF-09B6-6E47-9C95-C4AB601A0C36}"/>
                  </a:ext>
                </a:extLst>
              </p:cNvPr>
              <p:cNvSpPr/>
              <p:nvPr/>
            </p:nvSpPr>
            <p:spPr>
              <a:xfrm>
                <a:off x="5764003" y="2261042"/>
                <a:ext cx="605254" cy="2989538"/>
              </a:xfrm>
              <a:custGeom>
                <a:avLst/>
                <a:gdLst>
                  <a:gd name="connsiteX0" fmla="*/ 54754 w 605254"/>
                  <a:gd name="connsiteY0" fmla="*/ 0 h 2989538"/>
                  <a:gd name="connsiteX1" fmla="*/ 550499 w 605254"/>
                  <a:gd name="connsiteY1" fmla="*/ 0 h 2989538"/>
                  <a:gd name="connsiteX2" fmla="*/ 605253 w 605254"/>
                  <a:gd name="connsiteY2" fmla="*/ 604287 h 2989538"/>
                  <a:gd name="connsiteX3" fmla="*/ 605253 w 605254"/>
                  <a:gd name="connsiteY3" fmla="*/ 1559443 h 2989538"/>
                  <a:gd name="connsiteX4" fmla="*/ 601135 w 605254"/>
                  <a:gd name="connsiteY4" fmla="*/ 1559443 h 2989538"/>
                  <a:gd name="connsiteX5" fmla="*/ 605254 w 605254"/>
                  <a:gd name="connsiteY5" fmla="*/ 1729580 h 2989538"/>
                  <a:gd name="connsiteX6" fmla="*/ 471829 w 605254"/>
                  <a:gd name="connsiteY6" fmla="*/ 2774357 h 2989538"/>
                  <a:gd name="connsiteX7" fmla="*/ 458858 w 605254"/>
                  <a:gd name="connsiteY7" fmla="*/ 2803669 h 2989538"/>
                  <a:gd name="connsiteX8" fmla="*/ 409535 w 605254"/>
                  <a:gd name="connsiteY8" fmla="*/ 2989533 h 2989538"/>
                  <a:gd name="connsiteX9" fmla="*/ 302639 w 605254"/>
                  <a:gd name="connsiteY9" fmla="*/ 2989533 h 2989538"/>
                  <a:gd name="connsiteX10" fmla="*/ 302627 w 605254"/>
                  <a:gd name="connsiteY10" fmla="*/ 2989538 h 2989538"/>
                  <a:gd name="connsiteX11" fmla="*/ 302615 w 605254"/>
                  <a:gd name="connsiteY11" fmla="*/ 2989533 h 2989538"/>
                  <a:gd name="connsiteX12" fmla="*/ 190882 w 605254"/>
                  <a:gd name="connsiteY12" fmla="*/ 2989533 h 2989538"/>
                  <a:gd name="connsiteX13" fmla="*/ 134314 w 605254"/>
                  <a:gd name="connsiteY13" fmla="*/ 2776364 h 2989538"/>
                  <a:gd name="connsiteX14" fmla="*/ 133426 w 605254"/>
                  <a:gd name="connsiteY14" fmla="*/ 2774357 h 2989538"/>
                  <a:gd name="connsiteX15" fmla="*/ 0 w 605254"/>
                  <a:gd name="connsiteY15" fmla="*/ 1729580 h 2989538"/>
                  <a:gd name="connsiteX16" fmla="*/ 4120 w 605254"/>
                  <a:gd name="connsiteY16" fmla="*/ 1559443 h 2989538"/>
                  <a:gd name="connsiteX17" fmla="*/ 0 w 605254"/>
                  <a:gd name="connsiteY17" fmla="*/ 1559443 h 2989538"/>
                  <a:gd name="connsiteX18" fmla="*/ 0 w 605254"/>
                  <a:gd name="connsiteY18" fmla="*/ 604287 h 29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5254" h="2989538">
                    <a:moveTo>
                      <a:pt x="54754" y="0"/>
                    </a:moveTo>
                    <a:lnTo>
                      <a:pt x="550499" y="0"/>
                    </a:lnTo>
                    <a:lnTo>
                      <a:pt x="605253" y="604287"/>
                    </a:lnTo>
                    <a:lnTo>
                      <a:pt x="605253" y="1559443"/>
                    </a:lnTo>
                    <a:lnTo>
                      <a:pt x="601135" y="1559443"/>
                    </a:lnTo>
                    <a:lnTo>
                      <a:pt x="605254" y="1729580"/>
                    </a:lnTo>
                    <a:cubicBezTo>
                      <a:pt x="605254" y="2164490"/>
                      <a:pt x="552328" y="2547934"/>
                      <a:pt x="471829" y="2774357"/>
                    </a:cubicBezTo>
                    <a:lnTo>
                      <a:pt x="458858" y="2803669"/>
                    </a:lnTo>
                    <a:lnTo>
                      <a:pt x="409535" y="2989533"/>
                    </a:lnTo>
                    <a:lnTo>
                      <a:pt x="302639" y="2989533"/>
                    </a:lnTo>
                    <a:lnTo>
                      <a:pt x="302627" y="2989538"/>
                    </a:lnTo>
                    <a:lnTo>
                      <a:pt x="302615" y="2989533"/>
                    </a:lnTo>
                    <a:lnTo>
                      <a:pt x="190882" y="2989533"/>
                    </a:lnTo>
                    <a:lnTo>
                      <a:pt x="134314" y="2776364"/>
                    </a:lnTo>
                    <a:lnTo>
                      <a:pt x="133426" y="2774357"/>
                    </a:lnTo>
                    <a:cubicBezTo>
                      <a:pt x="52926" y="2547934"/>
                      <a:pt x="0" y="2164490"/>
                      <a:pt x="0" y="1729580"/>
                    </a:cubicBezTo>
                    <a:lnTo>
                      <a:pt x="4120" y="1559443"/>
                    </a:lnTo>
                    <a:lnTo>
                      <a:pt x="0" y="1559443"/>
                    </a:lnTo>
                    <a:lnTo>
                      <a:pt x="0" y="604287"/>
                    </a:lnTo>
                    <a:close/>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8FDCA60-2C96-B849-BFE4-5CC722470C76}"/>
                  </a:ext>
                </a:extLst>
              </p:cNvPr>
              <p:cNvGrpSpPr/>
              <p:nvPr/>
            </p:nvGrpSpPr>
            <p:grpSpPr>
              <a:xfrm>
                <a:off x="5729594" y="1093052"/>
                <a:ext cx="674073" cy="553984"/>
                <a:chOff x="3474768" y="1287975"/>
                <a:chExt cx="674073" cy="553984"/>
              </a:xfrm>
              <a:grpFill/>
            </p:grpSpPr>
            <p:sp>
              <p:nvSpPr>
                <p:cNvPr id="21" name="Freeform 20">
                  <a:extLst>
                    <a:ext uri="{FF2B5EF4-FFF2-40B4-BE49-F238E27FC236}">
                      <a16:creationId xmlns:a16="http://schemas.microsoft.com/office/drawing/2014/main" id="{B79BD507-1A57-DA41-8A36-04C6C827C1BE}"/>
                    </a:ext>
                  </a:extLst>
                </p:cNvPr>
                <p:cNvSpPr/>
                <p:nvPr/>
              </p:nvSpPr>
              <p:spPr>
                <a:xfrm flipH="1">
                  <a:off x="3889894"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Freeform 21">
                  <a:extLst>
                    <a:ext uri="{FF2B5EF4-FFF2-40B4-BE49-F238E27FC236}">
                      <a16:creationId xmlns:a16="http://schemas.microsoft.com/office/drawing/2014/main" id="{2932FD33-EB04-F24C-BAEB-C02F53F59DF5}"/>
                    </a:ext>
                  </a:extLst>
                </p:cNvPr>
                <p:cNvSpPr/>
                <p:nvPr/>
              </p:nvSpPr>
              <p:spPr>
                <a:xfrm>
                  <a:off x="3474768"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rapezoid 8">
                <a:extLst>
                  <a:ext uri="{FF2B5EF4-FFF2-40B4-BE49-F238E27FC236}">
                    <a16:creationId xmlns:a16="http://schemas.microsoft.com/office/drawing/2014/main" id="{186944BA-1C4F-D049-8F7A-1A93B72CCD76}"/>
                  </a:ext>
                </a:extLst>
              </p:cNvPr>
              <p:cNvSpPr/>
              <p:nvPr/>
            </p:nvSpPr>
            <p:spPr>
              <a:xfrm>
                <a:off x="5816969" y="1058166"/>
                <a:ext cx="499323" cy="1202877"/>
              </a:xfrm>
              <a:prstGeom prst="trapezoid">
                <a:avLst>
                  <a:gd name="adj" fmla="val 33421"/>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rapezoid 9">
                <a:extLst>
                  <a:ext uri="{FF2B5EF4-FFF2-40B4-BE49-F238E27FC236}">
                    <a16:creationId xmlns:a16="http://schemas.microsoft.com/office/drawing/2014/main" id="{8CBEE70E-0B2C-D248-BD78-1FD6C97795FB}"/>
                  </a:ext>
                </a:extLst>
              </p:cNvPr>
              <p:cNvSpPr/>
              <p:nvPr/>
            </p:nvSpPr>
            <p:spPr>
              <a:xfrm rot="10800000">
                <a:off x="5857875" y="4937759"/>
                <a:ext cx="412750" cy="112220"/>
              </a:xfrm>
              <a:prstGeom prst="trapezoid">
                <a:avLst>
                  <a:gd name="adj" fmla="val 32196"/>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rapezoid 10">
                <a:extLst>
                  <a:ext uri="{FF2B5EF4-FFF2-40B4-BE49-F238E27FC236}">
                    <a16:creationId xmlns:a16="http://schemas.microsoft.com/office/drawing/2014/main" id="{B8E3DDB6-DC81-C84B-802C-9D9350D2F65B}"/>
                  </a:ext>
                </a:extLst>
              </p:cNvPr>
              <p:cNvSpPr/>
              <p:nvPr/>
            </p:nvSpPr>
            <p:spPr>
              <a:xfrm>
                <a:off x="5934940" y="1979651"/>
                <a:ext cx="258618" cy="221672"/>
              </a:xfrm>
              <a:prstGeom prst="trapezoid">
                <a:avLst>
                  <a:gd name="adj" fmla="val 13750"/>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74D0D8CF-4616-AF49-AD81-CE4B9952A3D1}"/>
                  </a:ext>
                </a:extLst>
              </p:cNvPr>
              <p:cNvSpPr/>
              <p:nvPr/>
            </p:nvSpPr>
            <p:spPr>
              <a:xfrm>
                <a:off x="5988541" y="5250580"/>
                <a:ext cx="141585" cy="120763"/>
              </a:xfrm>
              <a:prstGeom prst="rect">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9C2F7ED5-C8AA-0345-B577-D4E3BB8A6987}"/>
                  </a:ext>
                </a:extLst>
              </p:cNvPr>
              <p:cNvCxnSpPr>
                <a:cxnSpLocks/>
              </p:cNvCxnSpPr>
              <p:nvPr/>
            </p:nvCxnSpPr>
            <p:spPr>
              <a:xfrm flipH="1">
                <a:off x="6064249" y="1098075"/>
                <a:ext cx="2" cy="506796"/>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3A01426-BD6C-8049-A5FD-988721D973BE}"/>
                  </a:ext>
                </a:extLst>
              </p:cNvPr>
              <p:cNvGrpSpPr/>
              <p:nvPr/>
            </p:nvGrpSpPr>
            <p:grpSpPr>
              <a:xfrm>
                <a:off x="6016492" y="3134342"/>
                <a:ext cx="100910" cy="777944"/>
                <a:chOff x="8889341" y="3141327"/>
                <a:chExt cx="100910" cy="777944"/>
              </a:xfrm>
              <a:grpFill/>
            </p:grpSpPr>
            <p:sp>
              <p:nvSpPr>
                <p:cNvPr id="18" name="Oval 17">
                  <a:extLst>
                    <a:ext uri="{FF2B5EF4-FFF2-40B4-BE49-F238E27FC236}">
                      <a16:creationId xmlns:a16="http://schemas.microsoft.com/office/drawing/2014/main" id="{364414E8-1829-E24C-9D06-72A48D691EA7}"/>
                    </a:ext>
                  </a:extLst>
                </p:cNvPr>
                <p:cNvSpPr/>
                <p:nvPr/>
              </p:nvSpPr>
              <p:spPr>
                <a:xfrm>
                  <a:off x="8889341" y="3818361"/>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0805B947-F986-8C4C-A6EB-5884B83F7C9B}"/>
                    </a:ext>
                  </a:extLst>
                </p:cNvPr>
                <p:cNvSpPr/>
                <p:nvPr/>
              </p:nvSpPr>
              <p:spPr>
                <a:xfrm>
                  <a:off x="8889341" y="3141327"/>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71B100FF-B047-204F-B8A6-7D9A5B586313}"/>
                    </a:ext>
                  </a:extLst>
                </p:cNvPr>
                <p:cNvSpPr/>
                <p:nvPr/>
              </p:nvSpPr>
              <p:spPr>
                <a:xfrm>
                  <a:off x="8889341" y="3654110"/>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23" name="Title 1">
            <a:extLst>
              <a:ext uri="{FF2B5EF4-FFF2-40B4-BE49-F238E27FC236}">
                <a16:creationId xmlns:a16="http://schemas.microsoft.com/office/drawing/2014/main" id="{09879D0D-37E4-AC46-B280-7A62F159B1E4}"/>
              </a:ext>
            </a:extLst>
          </p:cNvPr>
          <p:cNvSpPr txBox="1">
            <a:spLocks/>
          </p:cNvSpPr>
          <p:nvPr userDrawn="1"/>
        </p:nvSpPr>
        <p:spPr>
          <a:xfrm>
            <a:off x="4033520" y="365126"/>
            <a:ext cx="4725051" cy="618547"/>
          </a:xfrm>
          <a:prstGeom prst="rect">
            <a:avLst/>
          </a:prstGeom>
          <a:noFill/>
        </p:spPr>
        <p:txBody>
          <a:bodyPr vert="horz" lIns="91440" tIns="45720" rIns="91440" bIns="45720" rtlCol="0" anchor="ctr">
            <a:noAutofit/>
          </a:bodyPr>
          <a:lstStyle>
            <a:lvl1pPr algn="r" defTabSz="914400" rtl="0" eaLnBrk="1" latinLnBrk="0" hangingPunct="1">
              <a:lnSpc>
                <a:spcPct val="90000"/>
              </a:lnSpc>
              <a:spcBef>
                <a:spcPct val="0"/>
              </a:spcBef>
              <a:buNone/>
              <a:defRPr sz="32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RK Consulting (EOD) Ltd</a:t>
            </a:r>
          </a:p>
        </p:txBody>
      </p:sp>
    </p:spTree>
    <p:extLst>
      <p:ext uri="{BB962C8B-B14F-4D97-AF65-F5344CB8AC3E}">
        <p14:creationId xmlns:p14="http://schemas.microsoft.com/office/powerpoint/2010/main" val="645380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age">
    <p:bg>
      <p:bgPr>
        <a:solidFill>
          <a:srgbClr val="6BAB59"/>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1631FB1-3DEA-1E43-9598-76DB91812E9F}"/>
              </a:ext>
            </a:extLst>
          </p:cNvPr>
          <p:cNvSpPr txBox="1"/>
          <p:nvPr userDrawn="1"/>
        </p:nvSpPr>
        <p:spPr>
          <a:xfrm>
            <a:off x="537261" y="1712387"/>
            <a:ext cx="2431210" cy="584775"/>
          </a:xfrm>
          <a:prstGeom prst="rect">
            <a:avLst/>
          </a:prstGeom>
          <a:noFill/>
        </p:spPr>
        <p:txBody>
          <a:bodyPr wrap="square" rtlCol="0">
            <a:spAutoFit/>
          </a:bodyPr>
          <a:lstStyle/>
          <a:p>
            <a:pPr algn="r"/>
            <a:r>
              <a:rPr lang="en-GB" sz="3200" b="0"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2:</a:t>
            </a:r>
          </a:p>
        </p:txBody>
      </p:sp>
      <p:sp>
        <p:nvSpPr>
          <p:cNvPr id="10" name="TextBox 9">
            <a:extLst>
              <a:ext uri="{FF2B5EF4-FFF2-40B4-BE49-F238E27FC236}">
                <a16:creationId xmlns:a16="http://schemas.microsoft.com/office/drawing/2014/main" id="{E6C45783-C8F6-6E46-889C-7D201BCE2F47}"/>
              </a:ext>
            </a:extLst>
          </p:cNvPr>
          <p:cNvSpPr txBox="1"/>
          <p:nvPr userDrawn="1"/>
        </p:nvSpPr>
        <p:spPr>
          <a:xfrm>
            <a:off x="537261" y="2601033"/>
            <a:ext cx="2431210" cy="584775"/>
          </a:xfrm>
          <a:prstGeom prst="rect">
            <a:avLst/>
          </a:prstGeom>
          <a:noFill/>
        </p:spPr>
        <p:txBody>
          <a:bodyPr wrap="square" rtlCol="0">
            <a:spAutoFit/>
          </a:bodyPr>
          <a:lstStyle/>
          <a:p>
            <a:pPr marL="0" lvl="0" indent="0" algn="r"/>
            <a:r>
              <a:rPr lang="en-US" sz="32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3: </a:t>
            </a:r>
          </a:p>
        </p:txBody>
      </p:sp>
      <p:sp>
        <p:nvSpPr>
          <p:cNvPr id="11" name="TextBox 10">
            <a:extLst>
              <a:ext uri="{FF2B5EF4-FFF2-40B4-BE49-F238E27FC236}">
                <a16:creationId xmlns:a16="http://schemas.microsoft.com/office/drawing/2014/main" id="{A05135C0-7C74-074F-B1E8-1A858F8E3059}"/>
              </a:ext>
            </a:extLst>
          </p:cNvPr>
          <p:cNvSpPr txBox="1"/>
          <p:nvPr userDrawn="1"/>
        </p:nvSpPr>
        <p:spPr>
          <a:xfrm>
            <a:off x="492826" y="3489678"/>
            <a:ext cx="2475645" cy="584775"/>
          </a:xfrm>
          <a:prstGeom prst="rect">
            <a:avLst/>
          </a:prstGeom>
          <a:noFill/>
        </p:spPr>
        <p:txBody>
          <a:bodyPr wrap="square" rtlCol="0">
            <a:spAutoFit/>
          </a:bodyPr>
          <a:lstStyle/>
          <a:p>
            <a:pPr marL="0" lvl="0" indent="0" algn="r"/>
            <a:r>
              <a:rPr lang="en-US" sz="32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4: </a:t>
            </a:r>
          </a:p>
        </p:txBody>
      </p:sp>
      <p:sp>
        <p:nvSpPr>
          <p:cNvPr id="12" name="TextBox 11">
            <a:extLst>
              <a:ext uri="{FF2B5EF4-FFF2-40B4-BE49-F238E27FC236}">
                <a16:creationId xmlns:a16="http://schemas.microsoft.com/office/drawing/2014/main" id="{1D875C41-083F-5744-AD54-F698CA18F744}"/>
              </a:ext>
            </a:extLst>
          </p:cNvPr>
          <p:cNvSpPr txBox="1"/>
          <p:nvPr userDrawn="1"/>
        </p:nvSpPr>
        <p:spPr>
          <a:xfrm>
            <a:off x="537261" y="4378323"/>
            <a:ext cx="2431210" cy="584775"/>
          </a:xfrm>
          <a:prstGeom prst="rect">
            <a:avLst/>
          </a:prstGeom>
          <a:noFill/>
        </p:spPr>
        <p:txBody>
          <a:bodyPr wrap="square" rtlCol="0">
            <a:spAutoFit/>
          </a:bodyPr>
          <a:lstStyle/>
          <a:p>
            <a:pPr marL="0" lvl="0" indent="0" algn="r"/>
            <a:r>
              <a:rPr lang="en-US" sz="32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5:</a:t>
            </a:r>
          </a:p>
        </p:txBody>
      </p:sp>
      <p:sp>
        <p:nvSpPr>
          <p:cNvPr id="13" name="TextBox 12">
            <a:extLst>
              <a:ext uri="{FF2B5EF4-FFF2-40B4-BE49-F238E27FC236}">
                <a16:creationId xmlns:a16="http://schemas.microsoft.com/office/drawing/2014/main" id="{1D759ECB-E31E-C946-B062-53D7A216DF89}"/>
              </a:ext>
            </a:extLst>
          </p:cNvPr>
          <p:cNvSpPr txBox="1"/>
          <p:nvPr userDrawn="1"/>
        </p:nvSpPr>
        <p:spPr>
          <a:xfrm>
            <a:off x="537261" y="5266969"/>
            <a:ext cx="2431210" cy="584775"/>
          </a:xfrm>
          <a:prstGeom prst="rect">
            <a:avLst/>
          </a:prstGeom>
          <a:noFill/>
        </p:spPr>
        <p:txBody>
          <a:bodyPr wrap="square" rtlCol="0">
            <a:spAutoFit/>
          </a:bodyPr>
          <a:lstStyle/>
          <a:p>
            <a:pPr marL="0" lvl="0" indent="0" algn="r"/>
            <a:r>
              <a:rPr lang="en-US" sz="32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6:</a:t>
            </a:r>
          </a:p>
        </p:txBody>
      </p:sp>
      <p:sp>
        <p:nvSpPr>
          <p:cNvPr id="14" name="TextBox 13">
            <a:extLst>
              <a:ext uri="{FF2B5EF4-FFF2-40B4-BE49-F238E27FC236}">
                <a16:creationId xmlns:a16="http://schemas.microsoft.com/office/drawing/2014/main" id="{D7E40BAA-D596-EF4A-9411-A515C2A791DD}"/>
              </a:ext>
            </a:extLst>
          </p:cNvPr>
          <p:cNvSpPr txBox="1"/>
          <p:nvPr userDrawn="1"/>
        </p:nvSpPr>
        <p:spPr>
          <a:xfrm>
            <a:off x="6271045" y="136524"/>
            <a:ext cx="2431210" cy="584775"/>
          </a:xfrm>
          <a:prstGeom prst="rect">
            <a:avLst/>
          </a:prstGeom>
          <a:noFill/>
        </p:spPr>
        <p:txBody>
          <a:bodyPr wrap="square" rtlCol="0">
            <a:spAutoFit/>
          </a:bodyPr>
          <a:lstStyle/>
          <a:p>
            <a:pPr algn="r"/>
            <a:r>
              <a:rPr lang="en-GB" sz="3200" b="0"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Contents</a:t>
            </a:r>
          </a:p>
        </p:txBody>
      </p:sp>
      <p:sp>
        <p:nvSpPr>
          <p:cNvPr id="20" name="TextBox 19">
            <a:extLst>
              <a:ext uri="{FF2B5EF4-FFF2-40B4-BE49-F238E27FC236}">
                <a16:creationId xmlns:a16="http://schemas.microsoft.com/office/drawing/2014/main" id="{17AEE1B1-45E1-1C4B-99B1-1E2D93DD1506}"/>
              </a:ext>
            </a:extLst>
          </p:cNvPr>
          <p:cNvSpPr txBox="1"/>
          <p:nvPr userDrawn="1"/>
        </p:nvSpPr>
        <p:spPr>
          <a:xfrm>
            <a:off x="597740" y="823741"/>
            <a:ext cx="2431210" cy="584775"/>
          </a:xfrm>
          <a:prstGeom prst="rect">
            <a:avLst/>
          </a:prstGeom>
          <a:noFill/>
        </p:spPr>
        <p:txBody>
          <a:bodyPr wrap="square" rtlCol="0">
            <a:spAutoFit/>
          </a:bodyPr>
          <a:lstStyle/>
          <a:p>
            <a:pPr algn="r"/>
            <a:r>
              <a:rPr lang="en-GB" sz="3200" b="0"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Introduction</a:t>
            </a:r>
          </a:p>
        </p:txBody>
      </p:sp>
      <p:sp>
        <p:nvSpPr>
          <p:cNvPr id="24" name="TextBox 23">
            <a:extLst>
              <a:ext uri="{FF2B5EF4-FFF2-40B4-BE49-F238E27FC236}">
                <a16:creationId xmlns:a16="http://schemas.microsoft.com/office/drawing/2014/main" id="{AA641355-A694-6D49-A58F-A23A0A129955}"/>
              </a:ext>
            </a:extLst>
          </p:cNvPr>
          <p:cNvSpPr txBox="1"/>
          <p:nvPr userDrawn="1"/>
        </p:nvSpPr>
        <p:spPr>
          <a:xfrm>
            <a:off x="4826948" y="2553751"/>
            <a:ext cx="2245543" cy="369332"/>
          </a:xfrm>
          <a:prstGeom prst="rect">
            <a:avLst/>
          </a:prstGeom>
          <a:noFill/>
        </p:spPr>
        <p:txBody>
          <a:bodyPr wrap="square" rtlCol="0">
            <a:spAutoFit/>
          </a:bodyPr>
          <a:lstStyle/>
          <a:p>
            <a:endParaRPr lang="en-GB" dirty="0"/>
          </a:p>
        </p:txBody>
      </p:sp>
      <p:sp>
        <p:nvSpPr>
          <p:cNvPr id="26" name="Content Placeholder 2">
            <a:extLst>
              <a:ext uri="{FF2B5EF4-FFF2-40B4-BE49-F238E27FC236}">
                <a16:creationId xmlns:a16="http://schemas.microsoft.com/office/drawing/2014/main" id="{A7234552-C144-754A-AC49-3F278E86AF13}"/>
              </a:ext>
            </a:extLst>
          </p:cNvPr>
          <p:cNvSpPr>
            <a:spLocks noGrp="1"/>
          </p:cNvSpPr>
          <p:nvPr>
            <p:ph idx="1" hasCustomPrompt="1"/>
          </p:nvPr>
        </p:nvSpPr>
        <p:spPr>
          <a:xfrm>
            <a:off x="3025355" y="1741086"/>
            <a:ext cx="5543558" cy="4081490"/>
          </a:xfrm>
        </p:spPr>
        <p:txBody>
          <a:bodyPr>
            <a:noAutofit/>
          </a:bodyPr>
          <a:lstStyle>
            <a:lvl1pPr marL="0" marR="0" indent="0" algn="l" defTabSz="914400" rtl="0" eaLnBrk="1" fontAlgn="auto" latinLnBrk="0" hangingPunct="1">
              <a:lnSpc>
                <a:spcPct val="90000"/>
              </a:lnSpc>
              <a:spcBef>
                <a:spcPts val="1800"/>
              </a:spcBef>
              <a:spcAft>
                <a:spcPts val="1800"/>
              </a:spcAft>
              <a:buClrTx/>
              <a:buSzTx/>
              <a:buFont typeface="Arial" panose="020B0604020202020204" pitchFamily="34" charset="0"/>
              <a:buNone/>
              <a:tabLst/>
              <a:defRPr sz="3200" b="0" i="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vl2pPr>
              <a:defRPr b="0" i="0">
                <a:latin typeface="Helvetica Neue" panose="02000503000000020004" pitchFamily="2" charset="0"/>
                <a:ea typeface="Helvetica Neue" panose="02000503000000020004" pitchFamily="2" charset="0"/>
                <a:cs typeface="Helvetica Neue" panose="02000503000000020004" pitchFamily="2" charset="0"/>
              </a:defRPr>
            </a:lvl2pPr>
            <a:lvl3pPr>
              <a:defRPr b="0" i="0">
                <a:latin typeface="Helvetica Neue" panose="02000503000000020004" pitchFamily="2" charset="0"/>
                <a:ea typeface="Helvetica Neue" panose="02000503000000020004" pitchFamily="2" charset="0"/>
                <a:cs typeface="Helvetica Neue" panose="02000503000000020004" pitchFamily="2" charset="0"/>
              </a:defRPr>
            </a:lvl3pPr>
            <a:lvl4pPr>
              <a:defRPr b="0" i="0">
                <a:latin typeface="Helvetica Neue" panose="02000503000000020004" pitchFamily="2" charset="0"/>
                <a:ea typeface="Helvetica Neue" panose="02000503000000020004" pitchFamily="2" charset="0"/>
                <a:cs typeface="Helvetica Neue" panose="02000503000000020004" pitchFamily="2" charset="0"/>
              </a:defRPr>
            </a:lvl4pPr>
            <a:lvl5pPr>
              <a:defRPr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Subject</a:t>
            </a:r>
          </a:p>
          <a:p>
            <a:pPr lvl="0"/>
            <a:r>
              <a:rPr lang="en-US" dirty="0"/>
              <a:t>Subject</a:t>
            </a:r>
          </a:p>
          <a:p>
            <a:pPr lvl="0"/>
            <a:r>
              <a:rPr lang="en-US" dirty="0"/>
              <a:t>Subject</a:t>
            </a:r>
          </a:p>
          <a:p>
            <a:pPr lvl="0"/>
            <a:r>
              <a:rPr lang="en-US" dirty="0"/>
              <a:t>Subject</a:t>
            </a:r>
          </a:p>
          <a:p>
            <a:pPr lvl="0"/>
            <a:r>
              <a:rPr lang="en-US" dirty="0"/>
              <a:t>Subject</a:t>
            </a:r>
          </a:p>
        </p:txBody>
      </p:sp>
    </p:spTree>
    <p:extLst>
      <p:ext uri="{BB962C8B-B14F-4D97-AF65-F5344CB8AC3E}">
        <p14:creationId xmlns:p14="http://schemas.microsoft.com/office/powerpoint/2010/main" val="106171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6">
                                            <p:txEl>
                                              <p:pRg st="0" end="0"/>
                                            </p:txEl>
                                          </p:spTgt>
                                        </p:tgtEl>
                                        <p:attrNameLst>
                                          <p:attrName>ppt_c</p:attrName>
                                        </p:attrNameLst>
                                      </p:cBhvr>
                                      <p:to>
                                        <a:srgbClr val="A7A9AC"/>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6">
                                            <p:txEl>
                                              <p:pRg st="1" end="1"/>
                                            </p:txEl>
                                          </p:spTgt>
                                        </p:tgtEl>
                                        <p:attrNameLst>
                                          <p:attrName>ppt_c</p:attrName>
                                        </p:attrNameLst>
                                      </p:cBhvr>
                                      <p:to>
                                        <a:srgbClr val="A7A9AC"/>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6">
                                            <p:txEl>
                                              <p:pRg st="2" end="2"/>
                                            </p:txEl>
                                          </p:spTgt>
                                        </p:tgtEl>
                                        <p:attrNameLst>
                                          <p:attrName>ppt_c</p:attrName>
                                        </p:attrNameLst>
                                      </p:cBhvr>
                                      <p:to>
                                        <a:srgbClr val="A7A9AC"/>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6">
                                            <p:txEl>
                                              <p:pRg st="3" end="3"/>
                                            </p:txEl>
                                          </p:spTgt>
                                        </p:tgtEl>
                                        <p:attrNameLst>
                                          <p:attrName>ppt_c</p:attrName>
                                        </p:attrNameLst>
                                      </p:cBhvr>
                                      <p:to>
                                        <a:srgbClr val="A7A9AC"/>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26">
                                            <p:txEl>
                                              <p:pRg st="4" end="4"/>
                                            </p:txEl>
                                          </p:spTgt>
                                        </p:tgtEl>
                                        <p:attrNameLst>
                                          <p:attrName>ppt_c</p:attrName>
                                        </p:attrNameLst>
                                      </p:cBhvr>
                                      <p:to>
                                        <a:srgbClr val="A7A9AC"/>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bldLvl="2">
        <p:tmplLst>
          <p:tmpl lvl="1">
            <p:tnLst>
              <p:par>
                <p:cTn presetID="1" presetClass="entr" presetSubtype="0" fill="hold" nodeType="clickEffect">
                  <p:stCondLst>
                    <p:cond delay="0"/>
                  </p:stCondLst>
                  <p:childTnLst>
                    <p:set>
                      <p:cBhvr>
                        <p:cTn dur="1" fill="hold">
                          <p:stCondLst>
                            <p:cond delay="0"/>
                          </p:stCondLst>
                        </p:cTn>
                        <p:tgtEl>
                          <p:spTgt spid="26"/>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26"/>
                        </p:tgtEl>
                        <p:attrNameLst>
                          <p:attrName>style.visibility</p:attrName>
                        </p:attrNameLst>
                      </p:cBhvr>
                      <p:to>
                        <p:strVal val="visible"/>
                      </p:to>
                    </p:set>
                  </p:childTnLst>
                  <p:subTnLst>
                    <p:animClr clrSpc="rgb" dir="cw">
                      <p:cBhvr override="childStyle">
                        <p:cTn dur="1" fill="hold" display="0" masterRel="nextClick" afterEffect="1"/>
                        <p:tgtEl>
                          <p:spTgt spid="26"/>
                        </p:tgtEl>
                        <p:attrNameLst>
                          <p:attrName>ppt_c</p:attrName>
                        </p:attrNameLst>
                      </p:cBhvr>
                      <p:to>
                        <a:srgbClr val="A7A9AC"/>
                      </p:to>
                    </p:animClr>
                  </p:subTnLst>
                </p:cTn>
              </p:par>
            </p:tnLst>
          </p:tmpl>
          <p:tmpl lvl="3">
            <p:tnLst>
              <p:par>
                <p:cTn presetID="1"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childTnLst>
                  <p:subTnLst>
                    <p:animClr clrSpc="rgb" dir="cw">
                      <p:cBhvr override="childStyle">
                        <p:cTn dur="1" fill="hold" display="0" masterRel="nextClick" afterEffect="1"/>
                        <p:tgtEl>
                          <p:spTgt spid="26"/>
                        </p:tgtEl>
                        <p:attrNameLst>
                          <p:attrName>ppt_c</p:attrName>
                        </p:attrNameLst>
                      </p:cBhvr>
                      <p:to>
                        <a:srgbClr val="A7A9AC"/>
                      </p:to>
                    </p:animClr>
                  </p:subTnLst>
                </p:cTn>
              </p:par>
            </p:tnLst>
          </p:tmpl>
          <p:tmpl lvl="4">
            <p:tnLst>
              <p:par>
                <p:cTn presetID="1"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childTnLst>
                  <p:subTnLst>
                    <p:animClr clrSpc="rgb" dir="cw">
                      <p:cBhvr override="childStyle">
                        <p:cTn dur="1" fill="hold" display="0" masterRel="nextClick" afterEffect="1"/>
                        <p:tgtEl>
                          <p:spTgt spid="26"/>
                        </p:tgtEl>
                        <p:attrNameLst>
                          <p:attrName>ppt_c</p:attrName>
                        </p:attrNameLst>
                      </p:cBhvr>
                      <p:to>
                        <a:srgbClr val="A7A9AC"/>
                      </p:to>
                    </p:animClr>
                  </p:subTnLst>
                </p:cTn>
              </p:par>
            </p:tnLst>
          </p:tmpl>
          <p:tmpl lvl="5">
            <p:tnLst>
              <p:par>
                <p:cTn presetID="1"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childTnLst>
                  <p:subTnLst>
                    <p:animClr clrSpc="rgb" dir="cw">
                      <p:cBhvr override="childStyle">
                        <p:cTn dur="1" fill="hold" display="0" masterRel="nextClick" afterEffect="1"/>
                        <p:tgtEl>
                          <p:spTgt spid="26"/>
                        </p:tgtEl>
                        <p:attrNameLst>
                          <p:attrName>ppt_c</p:attrName>
                        </p:attrNameLst>
                      </p:cBhvr>
                      <p:to>
                        <a:srgbClr val="A7A9AC"/>
                      </p:to>
                    </p:animClr>
                  </p:sub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ing">
    <p:bg>
      <p:bgPr>
        <a:solidFill>
          <a:srgbClr val="6BAB5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18414" y="3034185"/>
            <a:ext cx="6522173" cy="1325563"/>
          </a:xfrm>
        </p:spPr>
        <p:txBody>
          <a:bodyPr/>
          <a:lstStyle>
            <a:lvl1pPr algn="r">
              <a:defRPr sz="5400" b="1" baseline="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Section heading</a:t>
            </a:r>
            <a:endParaRPr lang="en-GB" dirty="0"/>
          </a:p>
        </p:txBody>
      </p:sp>
    </p:spTree>
    <p:extLst>
      <p:ext uri="{BB962C8B-B14F-4D97-AF65-F5344CB8AC3E}">
        <p14:creationId xmlns:p14="http://schemas.microsoft.com/office/powerpoint/2010/main" val="3335201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formation slid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916706" y="365126"/>
            <a:ext cx="2841865" cy="618547"/>
          </a:xfrm>
          <a:noFill/>
        </p:spPr>
        <p:txBody>
          <a:bodyPr>
            <a:noAutofit/>
          </a:bodyPr>
          <a:lstStyle>
            <a:lvl1pPr algn="r">
              <a:defRPr sz="3200" b="0" i="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Subject</a:t>
            </a:r>
          </a:p>
        </p:txBody>
      </p:sp>
      <p:sp>
        <p:nvSpPr>
          <p:cNvPr id="3" name="Content Placeholder 2"/>
          <p:cNvSpPr>
            <a:spLocks noGrp="1"/>
          </p:cNvSpPr>
          <p:nvPr>
            <p:ph idx="1"/>
          </p:nvPr>
        </p:nvSpPr>
        <p:spPr>
          <a:xfrm>
            <a:off x="1331258" y="2094482"/>
            <a:ext cx="7427313" cy="4090736"/>
          </a:xfrm>
        </p:spPr>
        <p:txBody>
          <a:bodyPr/>
          <a:lstStyle>
            <a:lvl1pPr>
              <a:defRPr b="0" i="0">
                <a:latin typeface="Helvetica Neue" panose="02000503000000020004" pitchFamily="2" charset="0"/>
                <a:ea typeface="Helvetica Neue" panose="02000503000000020004" pitchFamily="2" charset="0"/>
                <a:cs typeface="Helvetica Neue" panose="02000503000000020004" pitchFamily="2" charset="0"/>
              </a:defRPr>
            </a:lvl1pPr>
            <a:lvl2pPr>
              <a:defRPr b="0" i="0">
                <a:latin typeface="Helvetica Neue" panose="02000503000000020004" pitchFamily="2" charset="0"/>
                <a:ea typeface="Helvetica Neue" panose="02000503000000020004" pitchFamily="2" charset="0"/>
                <a:cs typeface="Helvetica Neue" panose="02000503000000020004" pitchFamily="2" charset="0"/>
              </a:defRPr>
            </a:lvl2pPr>
            <a:lvl3pPr>
              <a:defRPr b="0" i="0">
                <a:latin typeface="Helvetica Neue" panose="02000503000000020004" pitchFamily="2" charset="0"/>
                <a:ea typeface="Helvetica Neue" panose="02000503000000020004" pitchFamily="2" charset="0"/>
                <a:cs typeface="Helvetica Neue" panose="02000503000000020004" pitchFamily="2" charset="0"/>
              </a:defRPr>
            </a:lvl3pPr>
            <a:lvl4pPr>
              <a:defRPr b="0" i="0">
                <a:latin typeface="Helvetica Neue" panose="02000503000000020004" pitchFamily="2" charset="0"/>
                <a:ea typeface="Helvetica Neue" panose="02000503000000020004" pitchFamily="2" charset="0"/>
                <a:cs typeface="Helvetica Neue" panose="02000503000000020004" pitchFamily="2" charset="0"/>
              </a:defRPr>
            </a:lvl4pPr>
            <a:lvl5pPr>
              <a:defRPr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TextBox 12"/>
          <p:cNvSpPr txBox="1"/>
          <p:nvPr/>
        </p:nvSpPr>
        <p:spPr>
          <a:xfrm>
            <a:off x="0" y="2094482"/>
            <a:ext cx="1917236" cy="369332"/>
          </a:xfrm>
          <a:prstGeom prst="rect">
            <a:avLst/>
          </a:prstGeom>
          <a:noFill/>
        </p:spPr>
        <p:txBody>
          <a:bodyPr wrap="square" rtlCol="0">
            <a:spAutoFit/>
          </a:bodyPr>
          <a:lstStyle/>
          <a:p>
            <a:pPr algn="ctr"/>
            <a:r>
              <a:rPr lang="en-GB" b="0"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2</a:t>
            </a:r>
          </a:p>
        </p:txBody>
      </p:sp>
      <p:sp>
        <p:nvSpPr>
          <p:cNvPr id="15" name="TextBox 14"/>
          <p:cNvSpPr txBox="1"/>
          <p:nvPr/>
        </p:nvSpPr>
        <p:spPr>
          <a:xfrm>
            <a:off x="0" y="3024833"/>
            <a:ext cx="1917236" cy="369332"/>
          </a:xfrm>
          <a:prstGeom prst="rect">
            <a:avLst/>
          </a:prstGeom>
          <a:noFill/>
        </p:spPr>
        <p:txBody>
          <a:bodyPr wrap="square" rtlCol="0">
            <a:spAutoFit/>
          </a:bodyPr>
          <a:lstStyle/>
          <a:p>
            <a:pPr marL="0" lvl="0" indent="0" algn="ctr"/>
            <a:r>
              <a:rPr lang="en-US" sz="18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3</a:t>
            </a:r>
          </a:p>
        </p:txBody>
      </p:sp>
      <p:sp>
        <p:nvSpPr>
          <p:cNvPr id="18" name="TextBox 17"/>
          <p:cNvSpPr txBox="1"/>
          <p:nvPr/>
        </p:nvSpPr>
        <p:spPr>
          <a:xfrm>
            <a:off x="0" y="3955184"/>
            <a:ext cx="1952277" cy="369332"/>
          </a:xfrm>
          <a:prstGeom prst="rect">
            <a:avLst/>
          </a:prstGeom>
          <a:noFill/>
        </p:spPr>
        <p:txBody>
          <a:bodyPr wrap="square" rtlCol="0">
            <a:spAutoFit/>
          </a:bodyPr>
          <a:lstStyle/>
          <a:p>
            <a:pPr marL="0" lvl="0" indent="0" algn="ctr"/>
            <a:r>
              <a:rPr lang="en-US" sz="18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4</a:t>
            </a:r>
          </a:p>
        </p:txBody>
      </p:sp>
      <p:sp>
        <p:nvSpPr>
          <p:cNvPr id="20" name="TextBox 19"/>
          <p:cNvSpPr txBox="1"/>
          <p:nvPr/>
        </p:nvSpPr>
        <p:spPr>
          <a:xfrm>
            <a:off x="0" y="4885535"/>
            <a:ext cx="1917236" cy="369332"/>
          </a:xfrm>
          <a:prstGeom prst="rect">
            <a:avLst/>
          </a:prstGeom>
          <a:noFill/>
        </p:spPr>
        <p:txBody>
          <a:bodyPr wrap="square" rtlCol="0">
            <a:spAutoFit/>
          </a:bodyPr>
          <a:lstStyle/>
          <a:p>
            <a:pPr marL="0" lvl="0" indent="0" algn="ctr"/>
            <a:r>
              <a:rPr lang="en-US" sz="18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5</a:t>
            </a:r>
          </a:p>
        </p:txBody>
      </p:sp>
      <p:sp>
        <p:nvSpPr>
          <p:cNvPr id="21" name="TextBox 20"/>
          <p:cNvSpPr txBox="1"/>
          <p:nvPr/>
        </p:nvSpPr>
        <p:spPr>
          <a:xfrm>
            <a:off x="0" y="5815886"/>
            <a:ext cx="1917236" cy="369332"/>
          </a:xfrm>
          <a:prstGeom prst="rect">
            <a:avLst/>
          </a:prstGeom>
          <a:noFill/>
        </p:spPr>
        <p:txBody>
          <a:bodyPr wrap="square" rtlCol="0">
            <a:spAutoFit/>
          </a:bodyPr>
          <a:lstStyle/>
          <a:p>
            <a:pPr marL="0" lvl="0" indent="0" algn="ctr"/>
            <a:r>
              <a:rPr lang="en-US" sz="1800" b="0"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Section 6</a:t>
            </a:r>
          </a:p>
        </p:txBody>
      </p:sp>
      <p:sp>
        <p:nvSpPr>
          <p:cNvPr id="22" name="TextBox 21"/>
          <p:cNvSpPr txBox="1"/>
          <p:nvPr/>
        </p:nvSpPr>
        <p:spPr>
          <a:xfrm>
            <a:off x="-51081" y="1164131"/>
            <a:ext cx="1917236" cy="369332"/>
          </a:xfrm>
          <a:prstGeom prst="rect">
            <a:avLst/>
          </a:prstGeom>
          <a:noFill/>
        </p:spPr>
        <p:txBody>
          <a:bodyPr wrap="square" rtlCol="0">
            <a:spAutoFit/>
          </a:bodyPr>
          <a:lstStyle/>
          <a:p>
            <a:pPr algn="ctr"/>
            <a:r>
              <a:rPr lang="en-GB" b="0"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Introduction</a:t>
            </a:r>
          </a:p>
        </p:txBody>
      </p:sp>
      <p:grpSp>
        <p:nvGrpSpPr>
          <p:cNvPr id="14" name="Group 13">
            <a:extLst>
              <a:ext uri="{FF2B5EF4-FFF2-40B4-BE49-F238E27FC236}">
                <a16:creationId xmlns:a16="http://schemas.microsoft.com/office/drawing/2014/main" id="{A0E1220B-3B76-3A4A-B2D0-BB2FD05C7D02}"/>
              </a:ext>
            </a:extLst>
          </p:cNvPr>
          <p:cNvGrpSpPr/>
          <p:nvPr userDrawn="1"/>
        </p:nvGrpSpPr>
        <p:grpSpPr>
          <a:xfrm>
            <a:off x="84908" y="127916"/>
            <a:ext cx="1110361" cy="1966566"/>
            <a:chOff x="569106" y="800963"/>
            <a:chExt cx="3125338" cy="5535301"/>
          </a:xfrm>
        </p:grpSpPr>
        <p:sp>
          <p:nvSpPr>
            <p:cNvPr id="16" name="Oval 15">
              <a:extLst>
                <a:ext uri="{FF2B5EF4-FFF2-40B4-BE49-F238E27FC236}">
                  <a16:creationId xmlns:a16="http://schemas.microsoft.com/office/drawing/2014/main" id="{D3441F68-8FD5-0849-A678-765D54C6AE68}"/>
                </a:ext>
              </a:extLst>
            </p:cNvPr>
            <p:cNvSpPr/>
            <p:nvPr/>
          </p:nvSpPr>
          <p:spPr>
            <a:xfrm>
              <a:off x="569106" y="800963"/>
              <a:ext cx="3125338" cy="5535301"/>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 name="Group 16">
              <a:extLst>
                <a:ext uri="{FF2B5EF4-FFF2-40B4-BE49-F238E27FC236}">
                  <a16:creationId xmlns:a16="http://schemas.microsoft.com/office/drawing/2014/main" id="{57C36F1F-8DA8-8E41-9BB8-1693CC171A8E}"/>
                </a:ext>
              </a:extLst>
            </p:cNvPr>
            <p:cNvGrpSpPr/>
            <p:nvPr/>
          </p:nvGrpSpPr>
          <p:grpSpPr>
            <a:xfrm>
              <a:off x="1749280" y="1121147"/>
              <a:ext cx="764991" cy="4894932"/>
              <a:chOff x="5729594" y="1058166"/>
              <a:chExt cx="674073" cy="4313177"/>
            </a:xfrm>
            <a:solidFill>
              <a:schemeClr val="bg1"/>
            </a:solidFill>
          </p:grpSpPr>
          <p:sp>
            <p:nvSpPr>
              <p:cNvPr id="19" name="Freeform 18">
                <a:extLst>
                  <a:ext uri="{FF2B5EF4-FFF2-40B4-BE49-F238E27FC236}">
                    <a16:creationId xmlns:a16="http://schemas.microsoft.com/office/drawing/2014/main" id="{2BA58317-CBF7-F642-A0E0-48D302306D86}"/>
                  </a:ext>
                </a:extLst>
              </p:cNvPr>
              <p:cNvSpPr/>
              <p:nvPr/>
            </p:nvSpPr>
            <p:spPr>
              <a:xfrm>
                <a:off x="5764003" y="2261042"/>
                <a:ext cx="605254" cy="2989538"/>
              </a:xfrm>
              <a:custGeom>
                <a:avLst/>
                <a:gdLst>
                  <a:gd name="connsiteX0" fmla="*/ 54754 w 605254"/>
                  <a:gd name="connsiteY0" fmla="*/ 0 h 2989538"/>
                  <a:gd name="connsiteX1" fmla="*/ 550499 w 605254"/>
                  <a:gd name="connsiteY1" fmla="*/ 0 h 2989538"/>
                  <a:gd name="connsiteX2" fmla="*/ 605253 w 605254"/>
                  <a:gd name="connsiteY2" fmla="*/ 604287 h 2989538"/>
                  <a:gd name="connsiteX3" fmla="*/ 605253 w 605254"/>
                  <a:gd name="connsiteY3" fmla="*/ 1559443 h 2989538"/>
                  <a:gd name="connsiteX4" fmla="*/ 601135 w 605254"/>
                  <a:gd name="connsiteY4" fmla="*/ 1559443 h 2989538"/>
                  <a:gd name="connsiteX5" fmla="*/ 605254 w 605254"/>
                  <a:gd name="connsiteY5" fmla="*/ 1729580 h 2989538"/>
                  <a:gd name="connsiteX6" fmla="*/ 471829 w 605254"/>
                  <a:gd name="connsiteY6" fmla="*/ 2774357 h 2989538"/>
                  <a:gd name="connsiteX7" fmla="*/ 458858 w 605254"/>
                  <a:gd name="connsiteY7" fmla="*/ 2803669 h 2989538"/>
                  <a:gd name="connsiteX8" fmla="*/ 409535 w 605254"/>
                  <a:gd name="connsiteY8" fmla="*/ 2989533 h 2989538"/>
                  <a:gd name="connsiteX9" fmla="*/ 302639 w 605254"/>
                  <a:gd name="connsiteY9" fmla="*/ 2989533 h 2989538"/>
                  <a:gd name="connsiteX10" fmla="*/ 302627 w 605254"/>
                  <a:gd name="connsiteY10" fmla="*/ 2989538 h 2989538"/>
                  <a:gd name="connsiteX11" fmla="*/ 302615 w 605254"/>
                  <a:gd name="connsiteY11" fmla="*/ 2989533 h 2989538"/>
                  <a:gd name="connsiteX12" fmla="*/ 190882 w 605254"/>
                  <a:gd name="connsiteY12" fmla="*/ 2989533 h 2989538"/>
                  <a:gd name="connsiteX13" fmla="*/ 134314 w 605254"/>
                  <a:gd name="connsiteY13" fmla="*/ 2776364 h 2989538"/>
                  <a:gd name="connsiteX14" fmla="*/ 133426 w 605254"/>
                  <a:gd name="connsiteY14" fmla="*/ 2774357 h 2989538"/>
                  <a:gd name="connsiteX15" fmla="*/ 0 w 605254"/>
                  <a:gd name="connsiteY15" fmla="*/ 1729580 h 2989538"/>
                  <a:gd name="connsiteX16" fmla="*/ 4120 w 605254"/>
                  <a:gd name="connsiteY16" fmla="*/ 1559443 h 2989538"/>
                  <a:gd name="connsiteX17" fmla="*/ 0 w 605254"/>
                  <a:gd name="connsiteY17" fmla="*/ 1559443 h 2989538"/>
                  <a:gd name="connsiteX18" fmla="*/ 0 w 605254"/>
                  <a:gd name="connsiteY18" fmla="*/ 604287 h 29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5254" h="2989538">
                    <a:moveTo>
                      <a:pt x="54754" y="0"/>
                    </a:moveTo>
                    <a:lnTo>
                      <a:pt x="550499" y="0"/>
                    </a:lnTo>
                    <a:lnTo>
                      <a:pt x="605253" y="604287"/>
                    </a:lnTo>
                    <a:lnTo>
                      <a:pt x="605253" y="1559443"/>
                    </a:lnTo>
                    <a:lnTo>
                      <a:pt x="601135" y="1559443"/>
                    </a:lnTo>
                    <a:lnTo>
                      <a:pt x="605254" y="1729580"/>
                    </a:lnTo>
                    <a:cubicBezTo>
                      <a:pt x="605254" y="2164490"/>
                      <a:pt x="552328" y="2547934"/>
                      <a:pt x="471829" y="2774357"/>
                    </a:cubicBezTo>
                    <a:lnTo>
                      <a:pt x="458858" y="2803669"/>
                    </a:lnTo>
                    <a:lnTo>
                      <a:pt x="409535" y="2989533"/>
                    </a:lnTo>
                    <a:lnTo>
                      <a:pt x="302639" y="2989533"/>
                    </a:lnTo>
                    <a:lnTo>
                      <a:pt x="302627" y="2989538"/>
                    </a:lnTo>
                    <a:lnTo>
                      <a:pt x="302615" y="2989533"/>
                    </a:lnTo>
                    <a:lnTo>
                      <a:pt x="190882" y="2989533"/>
                    </a:lnTo>
                    <a:lnTo>
                      <a:pt x="134314" y="2776364"/>
                    </a:lnTo>
                    <a:lnTo>
                      <a:pt x="133426" y="2774357"/>
                    </a:lnTo>
                    <a:cubicBezTo>
                      <a:pt x="52926" y="2547934"/>
                      <a:pt x="0" y="2164490"/>
                      <a:pt x="0" y="1729580"/>
                    </a:cubicBezTo>
                    <a:lnTo>
                      <a:pt x="4120" y="1559443"/>
                    </a:lnTo>
                    <a:lnTo>
                      <a:pt x="0" y="1559443"/>
                    </a:lnTo>
                    <a:lnTo>
                      <a:pt x="0" y="604287"/>
                    </a:lnTo>
                    <a:close/>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D9F1341F-557D-9A45-A3EB-B4FFB8CC07CE}"/>
                  </a:ext>
                </a:extLst>
              </p:cNvPr>
              <p:cNvGrpSpPr/>
              <p:nvPr/>
            </p:nvGrpSpPr>
            <p:grpSpPr>
              <a:xfrm>
                <a:off x="5729594" y="1093052"/>
                <a:ext cx="674073" cy="553984"/>
                <a:chOff x="3474768" y="1287975"/>
                <a:chExt cx="674073" cy="553984"/>
              </a:xfrm>
              <a:grpFill/>
            </p:grpSpPr>
            <p:sp>
              <p:nvSpPr>
                <p:cNvPr id="33" name="Freeform 32">
                  <a:extLst>
                    <a:ext uri="{FF2B5EF4-FFF2-40B4-BE49-F238E27FC236}">
                      <a16:creationId xmlns:a16="http://schemas.microsoft.com/office/drawing/2014/main" id="{A83D3B99-B7CE-224A-A792-D5E75E06FAD0}"/>
                    </a:ext>
                  </a:extLst>
                </p:cNvPr>
                <p:cNvSpPr/>
                <p:nvPr/>
              </p:nvSpPr>
              <p:spPr>
                <a:xfrm flipH="1">
                  <a:off x="3889894"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Freeform 33">
                  <a:extLst>
                    <a:ext uri="{FF2B5EF4-FFF2-40B4-BE49-F238E27FC236}">
                      <a16:creationId xmlns:a16="http://schemas.microsoft.com/office/drawing/2014/main" id="{9F4CB842-800C-4F43-BA0C-DC22841B460B}"/>
                    </a:ext>
                  </a:extLst>
                </p:cNvPr>
                <p:cNvSpPr/>
                <p:nvPr/>
              </p:nvSpPr>
              <p:spPr>
                <a:xfrm>
                  <a:off x="3474768"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4" name="Trapezoid 8">
                <a:extLst>
                  <a:ext uri="{FF2B5EF4-FFF2-40B4-BE49-F238E27FC236}">
                    <a16:creationId xmlns:a16="http://schemas.microsoft.com/office/drawing/2014/main" id="{4E6C7306-CEC6-F542-A076-EE0A4911EC9A}"/>
                  </a:ext>
                </a:extLst>
              </p:cNvPr>
              <p:cNvSpPr/>
              <p:nvPr/>
            </p:nvSpPr>
            <p:spPr>
              <a:xfrm>
                <a:off x="5816969" y="1058166"/>
                <a:ext cx="499323" cy="1202877"/>
              </a:xfrm>
              <a:prstGeom prst="trapezoid">
                <a:avLst>
                  <a:gd name="adj" fmla="val 33421"/>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rapezoid 9">
                <a:extLst>
                  <a:ext uri="{FF2B5EF4-FFF2-40B4-BE49-F238E27FC236}">
                    <a16:creationId xmlns:a16="http://schemas.microsoft.com/office/drawing/2014/main" id="{686E47CD-8E1F-4644-A65D-21B5159218DC}"/>
                  </a:ext>
                </a:extLst>
              </p:cNvPr>
              <p:cNvSpPr/>
              <p:nvPr/>
            </p:nvSpPr>
            <p:spPr>
              <a:xfrm rot="10800000">
                <a:off x="5857875" y="4937759"/>
                <a:ext cx="412750" cy="112220"/>
              </a:xfrm>
              <a:prstGeom prst="trapezoid">
                <a:avLst>
                  <a:gd name="adj" fmla="val 32196"/>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rapezoid 10">
                <a:extLst>
                  <a:ext uri="{FF2B5EF4-FFF2-40B4-BE49-F238E27FC236}">
                    <a16:creationId xmlns:a16="http://schemas.microsoft.com/office/drawing/2014/main" id="{898B358E-2C00-5649-9A2D-30D940471EBC}"/>
                  </a:ext>
                </a:extLst>
              </p:cNvPr>
              <p:cNvSpPr/>
              <p:nvPr/>
            </p:nvSpPr>
            <p:spPr>
              <a:xfrm>
                <a:off x="5934940" y="1979651"/>
                <a:ext cx="258618" cy="221672"/>
              </a:xfrm>
              <a:prstGeom prst="trapezoid">
                <a:avLst>
                  <a:gd name="adj" fmla="val 13750"/>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ACAAE12A-D4DD-564A-9CDC-641F024C88C2}"/>
                  </a:ext>
                </a:extLst>
              </p:cNvPr>
              <p:cNvSpPr/>
              <p:nvPr/>
            </p:nvSpPr>
            <p:spPr>
              <a:xfrm>
                <a:off x="5988541" y="5250580"/>
                <a:ext cx="141585" cy="120763"/>
              </a:xfrm>
              <a:prstGeom prst="rect">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5696DC57-AF0F-C047-A5A2-3ACBCF252F08}"/>
                  </a:ext>
                </a:extLst>
              </p:cNvPr>
              <p:cNvCxnSpPr>
                <a:cxnSpLocks/>
              </p:cNvCxnSpPr>
              <p:nvPr/>
            </p:nvCxnSpPr>
            <p:spPr>
              <a:xfrm flipH="1">
                <a:off x="6064249" y="1098075"/>
                <a:ext cx="2" cy="506796"/>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DAA372C3-A177-6143-8BBA-C6DDA845931D}"/>
                  </a:ext>
                </a:extLst>
              </p:cNvPr>
              <p:cNvGrpSpPr/>
              <p:nvPr/>
            </p:nvGrpSpPr>
            <p:grpSpPr>
              <a:xfrm>
                <a:off x="6016492" y="3134342"/>
                <a:ext cx="100910" cy="777944"/>
                <a:chOff x="8889341" y="3141327"/>
                <a:chExt cx="100910" cy="777944"/>
              </a:xfrm>
              <a:grpFill/>
            </p:grpSpPr>
            <p:sp>
              <p:nvSpPr>
                <p:cNvPr id="30" name="Oval 29">
                  <a:extLst>
                    <a:ext uri="{FF2B5EF4-FFF2-40B4-BE49-F238E27FC236}">
                      <a16:creationId xmlns:a16="http://schemas.microsoft.com/office/drawing/2014/main" id="{92046AA2-EEB4-8F48-BF39-D053CFC99B08}"/>
                    </a:ext>
                  </a:extLst>
                </p:cNvPr>
                <p:cNvSpPr/>
                <p:nvPr/>
              </p:nvSpPr>
              <p:spPr>
                <a:xfrm>
                  <a:off x="8889341" y="3818361"/>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E22DF20C-8ECC-ED44-9D69-969D94511BC2}"/>
                    </a:ext>
                  </a:extLst>
                </p:cNvPr>
                <p:cNvSpPr/>
                <p:nvPr/>
              </p:nvSpPr>
              <p:spPr>
                <a:xfrm>
                  <a:off x="8889341" y="3141327"/>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62C676D7-DB11-2342-A7FE-C0DA51515346}"/>
                    </a:ext>
                  </a:extLst>
                </p:cNvPr>
                <p:cNvSpPr/>
                <p:nvPr/>
              </p:nvSpPr>
              <p:spPr>
                <a:xfrm>
                  <a:off x="8889341" y="3654110"/>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7" name="Slide Number Placeholder 5">
            <a:extLst>
              <a:ext uri="{FF2B5EF4-FFF2-40B4-BE49-F238E27FC236}">
                <a16:creationId xmlns:a16="http://schemas.microsoft.com/office/drawing/2014/main" id="{6CD48C68-9FBC-FB92-522B-7FC4B89C8BE0}"/>
              </a:ext>
            </a:extLst>
          </p:cNvPr>
          <p:cNvSpPr txBox="1">
            <a:spLocks/>
          </p:cNvSpPr>
          <p:nvPr userDrawn="1"/>
        </p:nvSpPr>
        <p:spPr>
          <a:xfrm>
            <a:off x="8523798" y="6536302"/>
            <a:ext cx="699218"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PM1.1</a:t>
            </a:r>
          </a:p>
        </p:txBody>
      </p:sp>
    </p:spTree>
    <p:extLst>
      <p:ext uri="{BB962C8B-B14F-4D97-AF65-F5344CB8AC3E}">
        <p14:creationId xmlns:p14="http://schemas.microsoft.com/office/powerpoint/2010/main" val="211267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rgbClr val="A7A9AC"/>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rgbClr val="A7A9AC"/>
                                      </p:to>
                                    </p:animClr>
                                  </p:sub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rgbClr val="A7A9AC"/>
                                      </p:to>
                                    </p:animClr>
                                  </p:sub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rgbClr val="A7A9AC"/>
                                      </p:to>
                                    </p:animClr>
                                  </p:sub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rgbClr val="A7A9AC"/>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rgbClr val="A7A9AC"/>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rgbClr val="A7A9AC"/>
                      </p:to>
                    </p:animClr>
                  </p:sub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rgbClr val="A7A9AC"/>
                      </p:to>
                    </p:animClr>
                  </p:sub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rgbClr val="A7A9AC"/>
                      </p:to>
                    </p:animClr>
                  </p:sub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subTnLst>
                    <p:animClr clrSpc="rgb" dir="cw">
                      <p:cBhvr override="childStyle">
                        <p:cTn dur="1" fill="hold" display="0" masterRel="nextClick" afterEffect="1"/>
                        <p:tgtEl>
                          <p:spTgt spid="3"/>
                        </p:tgtEl>
                        <p:attrNameLst>
                          <p:attrName>ppt_c</p:attrName>
                        </p:attrNameLst>
                      </p:cBhvr>
                      <p:to>
                        <a:srgbClr val="A7A9AC"/>
                      </p:to>
                    </p:animClr>
                  </p:sub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21" name="TextBox 20"/>
          <p:cNvSpPr txBox="1"/>
          <p:nvPr/>
        </p:nvSpPr>
        <p:spPr>
          <a:xfrm>
            <a:off x="0" y="5815886"/>
            <a:ext cx="1917236" cy="369332"/>
          </a:xfrm>
          <a:prstGeom prst="rect">
            <a:avLst/>
          </a:prstGeom>
          <a:noFill/>
        </p:spPr>
        <p:txBody>
          <a:bodyPr wrap="square" rtlCol="0">
            <a:spAutoFit/>
          </a:bodyPr>
          <a:lstStyle/>
          <a:p>
            <a:pPr marL="0" lvl="0" indent="0" algn="ctr"/>
            <a:r>
              <a:rPr lang="en-US" sz="1800" b="0" i="0" kern="1200" dirty="0">
                <a:solidFill>
                  <a:schemeClr val="bg1"/>
                </a:solidFill>
                <a:latin typeface="Blender Pro Medium" charset="0"/>
                <a:ea typeface="Blender Pro Medium" charset="0"/>
                <a:cs typeface="Blender Pro Medium" charset="0"/>
              </a:rPr>
              <a:t>SAFER BEHAVIOUR</a:t>
            </a:r>
          </a:p>
        </p:txBody>
      </p:sp>
      <p:sp>
        <p:nvSpPr>
          <p:cNvPr id="2" name="Slide Number Placeholder 5">
            <a:extLst>
              <a:ext uri="{FF2B5EF4-FFF2-40B4-BE49-F238E27FC236}">
                <a16:creationId xmlns:a16="http://schemas.microsoft.com/office/drawing/2014/main" id="{C0F832C0-B97C-FDC8-8C8E-04145966E970}"/>
              </a:ext>
            </a:extLst>
          </p:cNvPr>
          <p:cNvSpPr txBox="1">
            <a:spLocks/>
          </p:cNvSpPr>
          <p:nvPr userDrawn="1"/>
        </p:nvSpPr>
        <p:spPr>
          <a:xfrm>
            <a:off x="8531143" y="6558070"/>
            <a:ext cx="699218"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PM1.1</a:t>
            </a:r>
            <a:endParaRPr lang="en-US" dirty="0"/>
          </a:p>
        </p:txBody>
      </p:sp>
    </p:spTree>
    <p:extLst>
      <p:ext uri="{BB962C8B-B14F-4D97-AF65-F5344CB8AC3E}">
        <p14:creationId xmlns:p14="http://schemas.microsoft.com/office/powerpoint/2010/main" val="366900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Any question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122363"/>
            <a:ext cx="7772400" cy="2387600"/>
          </a:xfrm>
        </p:spPr>
        <p:txBody>
          <a:bodyPr anchor="b"/>
          <a:lstStyle>
            <a:lvl1pPr algn="ctr">
              <a:defRPr sz="6000"/>
            </a:lvl1pPr>
          </a:lstStyle>
          <a:p>
            <a:r>
              <a:rPr lang="en-US" dirty="0"/>
              <a:t>Any questions?</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grpSp>
        <p:nvGrpSpPr>
          <p:cNvPr id="7" name="Group 6">
            <a:extLst>
              <a:ext uri="{FF2B5EF4-FFF2-40B4-BE49-F238E27FC236}">
                <a16:creationId xmlns:a16="http://schemas.microsoft.com/office/drawing/2014/main" id="{FF486972-27D6-4F48-BC8C-2287FD9F3195}"/>
              </a:ext>
            </a:extLst>
          </p:cNvPr>
          <p:cNvGrpSpPr/>
          <p:nvPr userDrawn="1"/>
        </p:nvGrpSpPr>
        <p:grpSpPr>
          <a:xfrm>
            <a:off x="421429" y="225305"/>
            <a:ext cx="1443142" cy="2555956"/>
            <a:chOff x="569106" y="800963"/>
            <a:chExt cx="3125338" cy="5535301"/>
          </a:xfrm>
        </p:grpSpPr>
        <p:sp>
          <p:nvSpPr>
            <p:cNvPr id="8" name="Oval 7">
              <a:extLst>
                <a:ext uri="{FF2B5EF4-FFF2-40B4-BE49-F238E27FC236}">
                  <a16:creationId xmlns:a16="http://schemas.microsoft.com/office/drawing/2014/main" id="{8DAC87D8-ACE7-6746-8DB5-5B6DDAF3200B}"/>
                </a:ext>
              </a:extLst>
            </p:cNvPr>
            <p:cNvSpPr/>
            <p:nvPr/>
          </p:nvSpPr>
          <p:spPr>
            <a:xfrm>
              <a:off x="569106" y="800963"/>
              <a:ext cx="3125338" cy="5535301"/>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1D2A3440-2CED-5840-97F4-500037D92E16}"/>
                </a:ext>
              </a:extLst>
            </p:cNvPr>
            <p:cNvGrpSpPr/>
            <p:nvPr/>
          </p:nvGrpSpPr>
          <p:grpSpPr>
            <a:xfrm>
              <a:off x="1749280" y="1121147"/>
              <a:ext cx="764991" cy="4894932"/>
              <a:chOff x="5729594" y="1058166"/>
              <a:chExt cx="674073" cy="4313177"/>
            </a:xfrm>
            <a:solidFill>
              <a:schemeClr val="bg1"/>
            </a:solidFill>
          </p:grpSpPr>
          <p:sp>
            <p:nvSpPr>
              <p:cNvPr id="10" name="Freeform 9">
                <a:extLst>
                  <a:ext uri="{FF2B5EF4-FFF2-40B4-BE49-F238E27FC236}">
                    <a16:creationId xmlns:a16="http://schemas.microsoft.com/office/drawing/2014/main" id="{A76A6054-DD9E-AB4F-B73F-ABB19D307155}"/>
                  </a:ext>
                </a:extLst>
              </p:cNvPr>
              <p:cNvSpPr/>
              <p:nvPr/>
            </p:nvSpPr>
            <p:spPr>
              <a:xfrm>
                <a:off x="5764003" y="2261042"/>
                <a:ext cx="605254" cy="2989538"/>
              </a:xfrm>
              <a:custGeom>
                <a:avLst/>
                <a:gdLst>
                  <a:gd name="connsiteX0" fmla="*/ 54754 w 605254"/>
                  <a:gd name="connsiteY0" fmla="*/ 0 h 2989538"/>
                  <a:gd name="connsiteX1" fmla="*/ 550499 w 605254"/>
                  <a:gd name="connsiteY1" fmla="*/ 0 h 2989538"/>
                  <a:gd name="connsiteX2" fmla="*/ 605253 w 605254"/>
                  <a:gd name="connsiteY2" fmla="*/ 604287 h 2989538"/>
                  <a:gd name="connsiteX3" fmla="*/ 605253 w 605254"/>
                  <a:gd name="connsiteY3" fmla="*/ 1559443 h 2989538"/>
                  <a:gd name="connsiteX4" fmla="*/ 601135 w 605254"/>
                  <a:gd name="connsiteY4" fmla="*/ 1559443 h 2989538"/>
                  <a:gd name="connsiteX5" fmla="*/ 605254 w 605254"/>
                  <a:gd name="connsiteY5" fmla="*/ 1729580 h 2989538"/>
                  <a:gd name="connsiteX6" fmla="*/ 471829 w 605254"/>
                  <a:gd name="connsiteY6" fmla="*/ 2774357 h 2989538"/>
                  <a:gd name="connsiteX7" fmla="*/ 458858 w 605254"/>
                  <a:gd name="connsiteY7" fmla="*/ 2803669 h 2989538"/>
                  <a:gd name="connsiteX8" fmla="*/ 409535 w 605254"/>
                  <a:gd name="connsiteY8" fmla="*/ 2989533 h 2989538"/>
                  <a:gd name="connsiteX9" fmla="*/ 302639 w 605254"/>
                  <a:gd name="connsiteY9" fmla="*/ 2989533 h 2989538"/>
                  <a:gd name="connsiteX10" fmla="*/ 302627 w 605254"/>
                  <a:gd name="connsiteY10" fmla="*/ 2989538 h 2989538"/>
                  <a:gd name="connsiteX11" fmla="*/ 302615 w 605254"/>
                  <a:gd name="connsiteY11" fmla="*/ 2989533 h 2989538"/>
                  <a:gd name="connsiteX12" fmla="*/ 190882 w 605254"/>
                  <a:gd name="connsiteY12" fmla="*/ 2989533 h 2989538"/>
                  <a:gd name="connsiteX13" fmla="*/ 134314 w 605254"/>
                  <a:gd name="connsiteY13" fmla="*/ 2776364 h 2989538"/>
                  <a:gd name="connsiteX14" fmla="*/ 133426 w 605254"/>
                  <a:gd name="connsiteY14" fmla="*/ 2774357 h 2989538"/>
                  <a:gd name="connsiteX15" fmla="*/ 0 w 605254"/>
                  <a:gd name="connsiteY15" fmla="*/ 1729580 h 2989538"/>
                  <a:gd name="connsiteX16" fmla="*/ 4120 w 605254"/>
                  <a:gd name="connsiteY16" fmla="*/ 1559443 h 2989538"/>
                  <a:gd name="connsiteX17" fmla="*/ 0 w 605254"/>
                  <a:gd name="connsiteY17" fmla="*/ 1559443 h 2989538"/>
                  <a:gd name="connsiteX18" fmla="*/ 0 w 605254"/>
                  <a:gd name="connsiteY18" fmla="*/ 604287 h 29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5254" h="2989538">
                    <a:moveTo>
                      <a:pt x="54754" y="0"/>
                    </a:moveTo>
                    <a:lnTo>
                      <a:pt x="550499" y="0"/>
                    </a:lnTo>
                    <a:lnTo>
                      <a:pt x="605253" y="604287"/>
                    </a:lnTo>
                    <a:lnTo>
                      <a:pt x="605253" y="1559443"/>
                    </a:lnTo>
                    <a:lnTo>
                      <a:pt x="601135" y="1559443"/>
                    </a:lnTo>
                    <a:lnTo>
                      <a:pt x="605254" y="1729580"/>
                    </a:lnTo>
                    <a:cubicBezTo>
                      <a:pt x="605254" y="2164490"/>
                      <a:pt x="552328" y="2547934"/>
                      <a:pt x="471829" y="2774357"/>
                    </a:cubicBezTo>
                    <a:lnTo>
                      <a:pt x="458858" y="2803669"/>
                    </a:lnTo>
                    <a:lnTo>
                      <a:pt x="409535" y="2989533"/>
                    </a:lnTo>
                    <a:lnTo>
                      <a:pt x="302639" y="2989533"/>
                    </a:lnTo>
                    <a:lnTo>
                      <a:pt x="302627" y="2989538"/>
                    </a:lnTo>
                    <a:lnTo>
                      <a:pt x="302615" y="2989533"/>
                    </a:lnTo>
                    <a:lnTo>
                      <a:pt x="190882" y="2989533"/>
                    </a:lnTo>
                    <a:lnTo>
                      <a:pt x="134314" y="2776364"/>
                    </a:lnTo>
                    <a:lnTo>
                      <a:pt x="133426" y="2774357"/>
                    </a:lnTo>
                    <a:cubicBezTo>
                      <a:pt x="52926" y="2547934"/>
                      <a:pt x="0" y="2164490"/>
                      <a:pt x="0" y="1729580"/>
                    </a:cubicBezTo>
                    <a:lnTo>
                      <a:pt x="4120" y="1559443"/>
                    </a:lnTo>
                    <a:lnTo>
                      <a:pt x="0" y="1559443"/>
                    </a:lnTo>
                    <a:lnTo>
                      <a:pt x="0" y="604287"/>
                    </a:lnTo>
                    <a:close/>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DBAF31CC-76C8-8445-B6AF-59921FCF7748}"/>
                  </a:ext>
                </a:extLst>
              </p:cNvPr>
              <p:cNvGrpSpPr/>
              <p:nvPr/>
            </p:nvGrpSpPr>
            <p:grpSpPr>
              <a:xfrm>
                <a:off x="5729594" y="1093052"/>
                <a:ext cx="674073" cy="553984"/>
                <a:chOff x="3474768" y="1287975"/>
                <a:chExt cx="674073" cy="553984"/>
              </a:xfrm>
              <a:grpFill/>
            </p:grpSpPr>
            <p:sp>
              <p:nvSpPr>
                <p:cNvPr id="21" name="Freeform 20">
                  <a:extLst>
                    <a:ext uri="{FF2B5EF4-FFF2-40B4-BE49-F238E27FC236}">
                      <a16:creationId xmlns:a16="http://schemas.microsoft.com/office/drawing/2014/main" id="{4B1827DE-CB0D-EF44-A2D8-9E478880D2DA}"/>
                    </a:ext>
                  </a:extLst>
                </p:cNvPr>
                <p:cNvSpPr/>
                <p:nvPr/>
              </p:nvSpPr>
              <p:spPr>
                <a:xfrm flipH="1">
                  <a:off x="3889894"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Freeform 21">
                  <a:extLst>
                    <a:ext uri="{FF2B5EF4-FFF2-40B4-BE49-F238E27FC236}">
                      <a16:creationId xmlns:a16="http://schemas.microsoft.com/office/drawing/2014/main" id="{DA4447C0-5B52-574E-A6C5-3A12AFB70FDD}"/>
                    </a:ext>
                  </a:extLst>
                </p:cNvPr>
                <p:cNvSpPr/>
                <p:nvPr/>
              </p:nvSpPr>
              <p:spPr>
                <a:xfrm>
                  <a:off x="3474768"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rapezoid 8">
                <a:extLst>
                  <a:ext uri="{FF2B5EF4-FFF2-40B4-BE49-F238E27FC236}">
                    <a16:creationId xmlns:a16="http://schemas.microsoft.com/office/drawing/2014/main" id="{E41FA645-698A-5944-BB69-E26B07489773}"/>
                  </a:ext>
                </a:extLst>
              </p:cNvPr>
              <p:cNvSpPr/>
              <p:nvPr/>
            </p:nvSpPr>
            <p:spPr>
              <a:xfrm>
                <a:off x="5816969" y="1058166"/>
                <a:ext cx="499323" cy="1202877"/>
              </a:xfrm>
              <a:prstGeom prst="trapezoid">
                <a:avLst>
                  <a:gd name="adj" fmla="val 33421"/>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rapezoid 9">
                <a:extLst>
                  <a:ext uri="{FF2B5EF4-FFF2-40B4-BE49-F238E27FC236}">
                    <a16:creationId xmlns:a16="http://schemas.microsoft.com/office/drawing/2014/main" id="{95E870C9-08B4-7F49-8459-650BAB74A4F3}"/>
                  </a:ext>
                </a:extLst>
              </p:cNvPr>
              <p:cNvSpPr/>
              <p:nvPr/>
            </p:nvSpPr>
            <p:spPr>
              <a:xfrm rot="10800000">
                <a:off x="5857875" y="4937759"/>
                <a:ext cx="412750" cy="112220"/>
              </a:xfrm>
              <a:prstGeom prst="trapezoid">
                <a:avLst>
                  <a:gd name="adj" fmla="val 32196"/>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rapezoid 10">
                <a:extLst>
                  <a:ext uri="{FF2B5EF4-FFF2-40B4-BE49-F238E27FC236}">
                    <a16:creationId xmlns:a16="http://schemas.microsoft.com/office/drawing/2014/main" id="{5F4FBBFA-E8C1-6A4C-8DBF-0ECA8B8B00F8}"/>
                  </a:ext>
                </a:extLst>
              </p:cNvPr>
              <p:cNvSpPr/>
              <p:nvPr/>
            </p:nvSpPr>
            <p:spPr>
              <a:xfrm>
                <a:off x="5934940" y="1979651"/>
                <a:ext cx="258618" cy="221672"/>
              </a:xfrm>
              <a:prstGeom prst="trapezoid">
                <a:avLst>
                  <a:gd name="adj" fmla="val 13750"/>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564E4514-31D5-0A46-9BFC-C03259FABC2C}"/>
                  </a:ext>
                </a:extLst>
              </p:cNvPr>
              <p:cNvSpPr/>
              <p:nvPr/>
            </p:nvSpPr>
            <p:spPr>
              <a:xfrm>
                <a:off x="5988541" y="5250580"/>
                <a:ext cx="141585" cy="120763"/>
              </a:xfrm>
              <a:prstGeom prst="rect">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7E41820F-0496-9741-B3A2-A520AA23193B}"/>
                  </a:ext>
                </a:extLst>
              </p:cNvPr>
              <p:cNvCxnSpPr>
                <a:cxnSpLocks/>
              </p:cNvCxnSpPr>
              <p:nvPr/>
            </p:nvCxnSpPr>
            <p:spPr>
              <a:xfrm flipH="1">
                <a:off x="6064249" y="1098075"/>
                <a:ext cx="2" cy="506796"/>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04698EE1-D7E3-E748-B720-EB5F0BE30981}"/>
                  </a:ext>
                </a:extLst>
              </p:cNvPr>
              <p:cNvGrpSpPr/>
              <p:nvPr/>
            </p:nvGrpSpPr>
            <p:grpSpPr>
              <a:xfrm>
                <a:off x="6016492" y="3134342"/>
                <a:ext cx="100910" cy="777944"/>
                <a:chOff x="8889341" y="3141327"/>
                <a:chExt cx="100910" cy="777944"/>
              </a:xfrm>
              <a:grpFill/>
            </p:grpSpPr>
            <p:sp>
              <p:nvSpPr>
                <p:cNvPr id="18" name="Oval 17">
                  <a:extLst>
                    <a:ext uri="{FF2B5EF4-FFF2-40B4-BE49-F238E27FC236}">
                      <a16:creationId xmlns:a16="http://schemas.microsoft.com/office/drawing/2014/main" id="{48DC3303-8F70-D041-9C7C-2F42EC79CA8A}"/>
                    </a:ext>
                  </a:extLst>
                </p:cNvPr>
                <p:cNvSpPr/>
                <p:nvPr/>
              </p:nvSpPr>
              <p:spPr>
                <a:xfrm>
                  <a:off x="8889341" y="3818361"/>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73BFAADE-93B0-BA47-BB07-160815B02DE4}"/>
                    </a:ext>
                  </a:extLst>
                </p:cNvPr>
                <p:cNvSpPr/>
                <p:nvPr/>
              </p:nvSpPr>
              <p:spPr>
                <a:xfrm>
                  <a:off x="8889341" y="3141327"/>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0ADBF667-C7C1-1B44-B8CB-D5AD156D0F69}"/>
                    </a:ext>
                  </a:extLst>
                </p:cNvPr>
                <p:cNvSpPr/>
                <p:nvPr/>
              </p:nvSpPr>
              <p:spPr>
                <a:xfrm>
                  <a:off x="8889341" y="3654110"/>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Tree>
    <p:extLst>
      <p:ext uri="{BB962C8B-B14F-4D97-AF65-F5344CB8AC3E}">
        <p14:creationId xmlns:p14="http://schemas.microsoft.com/office/powerpoint/2010/main" val="207718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ph pap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852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tamp">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6929660-4D3A-D345-8ED6-6B19A1E73A5B}"/>
              </a:ext>
            </a:extLst>
          </p:cNvPr>
          <p:cNvGrpSpPr/>
          <p:nvPr userDrawn="1"/>
        </p:nvGrpSpPr>
        <p:grpSpPr>
          <a:xfrm>
            <a:off x="124840" y="136525"/>
            <a:ext cx="3584791" cy="6349042"/>
            <a:chOff x="569106" y="800963"/>
            <a:chExt cx="3125338" cy="5535301"/>
          </a:xfrm>
        </p:grpSpPr>
        <p:sp>
          <p:nvSpPr>
            <p:cNvPr id="6" name="Oval 5">
              <a:extLst>
                <a:ext uri="{FF2B5EF4-FFF2-40B4-BE49-F238E27FC236}">
                  <a16:creationId xmlns:a16="http://schemas.microsoft.com/office/drawing/2014/main" id="{7D1C8330-9986-DE47-B439-221DBBB6F54F}"/>
                </a:ext>
              </a:extLst>
            </p:cNvPr>
            <p:cNvSpPr/>
            <p:nvPr/>
          </p:nvSpPr>
          <p:spPr>
            <a:xfrm>
              <a:off x="569106" y="800963"/>
              <a:ext cx="3125338" cy="5535301"/>
            </a:xfrm>
            <a:prstGeom prst="ellipse">
              <a:avLst/>
            </a:prstGeom>
            <a:no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B09C3946-E291-8A45-ABBA-3EE23FC54F5C}"/>
                </a:ext>
              </a:extLst>
            </p:cNvPr>
            <p:cNvGrpSpPr/>
            <p:nvPr/>
          </p:nvGrpSpPr>
          <p:grpSpPr>
            <a:xfrm>
              <a:off x="1749280" y="1121147"/>
              <a:ext cx="764991" cy="4894932"/>
              <a:chOff x="5729594" y="1058166"/>
              <a:chExt cx="674073" cy="4313177"/>
            </a:xfrm>
            <a:solidFill>
              <a:schemeClr val="bg1"/>
            </a:solidFill>
          </p:grpSpPr>
          <p:sp>
            <p:nvSpPr>
              <p:cNvPr id="8" name="Freeform 7">
                <a:extLst>
                  <a:ext uri="{FF2B5EF4-FFF2-40B4-BE49-F238E27FC236}">
                    <a16:creationId xmlns:a16="http://schemas.microsoft.com/office/drawing/2014/main" id="{71C3DC0A-2B38-B145-B7C5-CE27CAEE2572}"/>
                  </a:ext>
                </a:extLst>
              </p:cNvPr>
              <p:cNvSpPr/>
              <p:nvPr/>
            </p:nvSpPr>
            <p:spPr>
              <a:xfrm>
                <a:off x="5764003" y="2261042"/>
                <a:ext cx="605254" cy="2989538"/>
              </a:xfrm>
              <a:custGeom>
                <a:avLst/>
                <a:gdLst>
                  <a:gd name="connsiteX0" fmla="*/ 54754 w 605254"/>
                  <a:gd name="connsiteY0" fmla="*/ 0 h 2989538"/>
                  <a:gd name="connsiteX1" fmla="*/ 550499 w 605254"/>
                  <a:gd name="connsiteY1" fmla="*/ 0 h 2989538"/>
                  <a:gd name="connsiteX2" fmla="*/ 605253 w 605254"/>
                  <a:gd name="connsiteY2" fmla="*/ 604287 h 2989538"/>
                  <a:gd name="connsiteX3" fmla="*/ 605253 w 605254"/>
                  <a:gd name="connsiteY3" fmla="*/ 1559443 h 2989538"/>
                  <a:gd name="connsiteX4" fmla="*/ 601135 w 605254"/>
                  <a:gd name="connsiteY4" fmla="*/ 1559443 h 2989538"/>
                  <a:gd name="connsiteX5" fmla="*/ 605254 w 605254"/>
                  <a:gd name="connsiteY5" fmla="*/ 1729580 h 2989538"/>
                  <a:gd name="connsiteX6" fmla="*/ 471829 w 605254"/>
                  <a:gd name="connsiteY6" fmla="*/ 2774357 h 2989538"/>
                  <a:gd name="connsiteX7" fmla="*/ 458858 w 605254"/>
                  <a:gd name="connsiteY7" fmla="*/ 2803669 h 2989538"/>
                  <a:gd name="connsiteX8" fmla="*/ 409535 w 605254"/>
                  <a:gd name="connsiteY8" fmla="*/ 2989533 h 2989538"/>
                  <a:gd name="connsiteX9" fmla="*/ 302639 w 605254"/>
                  <a:gd name="connsiteY9" fmla="*/ 2989533 h 2989538"/>
                  <a:gd name="connsiteX10" fmla="*/ 302627 w 605254"/>
                  <a:gd name="connsiteY10" fmla="*/ 2989538 h 2989538"/>
                  <a:gd name="connsiteX11" fmla="*/ 302615 w 605254"/>
                  <a:gd name="connsiteY11" fmla="*/ 2989533 h 2989538"/>
                  <a:gd name="connsiteX12" fmla="*/ 190882 w 605254"/>
                  <a:gd name="connsiteY12" fmla="*/ 2989533 h 2989538"/>
                  <a:gd name="connsiteX13" fmla="*/ 134314 w 605254"/>
                  <a:gd name="connsiteY13" fmla="*/ 2776364 h 2989538"/>
                  <a:gd name="connsiteX14" fmla="*/ 133426 w 605254"/>
                  <a:gd name="connsiteY14" fmla="*/ 2774357 h 2989538"/>
                  <a:gd name="connsiteX15" fmla="*/ 0 w 605254"/>
                  <a:gd name="connsiteY15" fmla="*/ 1729580 h 2989538"/>
                  <a:gd name="connsiteX16" fmla="*/ 4120 w 605254"/>
                  <a:gd name="connsiteY16" fmla="*/ 1559443 h 2989538"/>
                  <a:gd name="connsiteX17" fmla="*/ 0 w 605254"/>
                  <a:gd name="connsiteY17" fmla="*/ 1559443 h 2989538"/>
                  <a:gd name="connsiteX18" fmla="*/ 0 w 605254"/>
                  <a:gd name="connsiteY18" fmla="*/ 604287 h 29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5254" h="2989538">
                    <a:moveTo>
                      <a:pt x="54754" y="0"/>
                    </a:moveTo>
                    <a:lnTo>
                      <a:pt x="550499" y="0"/>
                    </a:lnTo>
                    <a:lnTo>
                      <a:pt x="605253" y="604287"/>
                    </a:lnTo>
                    <a:lnTo>
                      <a:pt x="605253" y="1559443"/>
                    </a:lnTo>
                    <a:lnTo>
                      <a:pt x="601135" y="1559443"/>
                    </a:lnTo>
                    <a:lnTo>
                      <a:pt x="605254" y="1729580"/>
                    </a:lnTo>
                    <a:cubicBezTo>
                      <a:pt x="605254" y="2164490"/>
                      <a:pt x="552328" y="2547934"/>
                      <a:pt x="471829" y="2774357"/>
                    </a:cubicBezTo>
                    <a:lnTo>
                      <a:pt x="458858" y="2803669"/>
                    </a:lnTo>
                    <a:lnTo>
                      <a:pt x="409535" y="2989533"/>
                    </a:lnTo>
                    <a:lnTo>
                      <a:pt x="302639" y="2989533"/>
                    </a:lnTo>
                    <a:lnTo>
                      <a:pt x="302627" y="2989538"/>
                    </a:lnTo>
                    <a:lnTo>
                      <a:pt x="302615" y="2989533"/>
                    </a:lnTo>
                    <a:lnTo>
                      <a:pt x="190882" y="2989533"/>
                    </a:lnTo>
                    <a:lnTo>
                      <a:pt x="134314" y="2776364"/>
                    </a:lnTo>
                    <a:lnTo>
                      <a:pt x="133426" y="2774357"/>
                    </a:lnTo>
                    <a:cubicBezTo>
                      <a:pt x="52926" y="2547934"/>
                      <a:pt x="0" y="2164490"/>
                      <a:pt x="0" y="1729580"/>
                    </a:cubicBezTo>
                    <a:lnTo>
                      <a:pt x="4120" y="1559443"/>
                    </a:lnTo>
                    <a:lnTo>
                      <a:pt x="0" y="1559443"/>
                    </a:lnTo>
                    <a:lnTo>
                      <a:pt x="0" y="604287"/>
                    </a:lnTo>
                    <a:close/>
                  </a:path>
                </a:pathLst>
              </a:custGeom>
              <a:no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A160C52B-635C-BF47-92F2-D50EBFF1DCA1}"/>
                  </a:ext>
                </a:extLst>
              </p:cNvPr>
              <p:cNvGrpSpPr/>
              <p:nvPr/>
            </p:nvGrpSpPr>
            <p:grpSpPr>
              <a:xfrm>
                <a:off x="5729594" y="1093052"/>
                <a:ext cx="674073" cy="553984"/>
                <a:chOff x="3474768" y="1287975"/>
                <a:chExt cx="674073" cy="553984"/>
              </a:xfrm>
              <a:grpFill/>
            </p:grpSpPr>
            <p:sp>
              <p:nvSpPr>
                <p:cNvPr id="19" name="Freeform 18">
                  <a:extLst>
                    <a:ext uri="{FF2B5EF4-FFF2-40B4-BE49-F238E27FC236}">
                      <a16:creationId xmlns:a16="http://schemas.microsoft.com/office/drawing/2014/main" id="{5DCFA59E-73F8-044E-B641-B8EDC4885D66}"/>
                    </a:ext>
                  </a:extLst>
                </p:cNvPr>
                <p:cNvSpPr/>
                <p:nvPr/>
              </p:nvSpPr>
              <p:spPr>
                <a:xfrm flipH="1">
                  <a:off x="3889894"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19">
                  <a:extLst>
                    <a:ext uri="{FF2B5EF4-FFF2-40B4-BE49-F238E27FC236}">
                      <a16:creationId xmlns:a16="http://schemas.microsoft.com/office/drawing/2014/main" id="{B162D972-C29E-CA4F-8608-30ED87557E49}"/>
                    </a:ext>
                  </a:extLst>
                </p:cNvPr>
                <p:cNvSpPr/>
                <p:nvPr/>
              </p:nvSpPr>
              <p:spPr>
                <a:xfrm>
                  <a:off x="3474768"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Trapezoid 8">
                <a:extLst>
                  <a:ext uri="{FF2B5EF4-FFF2-40B4-BE49-F238E27FC236}">
                    <a16:creationId xmlns:a16="http://schemas.microsoft.com/office/drawing/2014/main" id="{1071E2E4-5BF9-5C41-883F-BDC7D8427310}"/>
                  </a:ext>
                </a:extLst>
              </p:cNvPr>
              <p:cNvSpPr/>
              <p:nvPr/>
            </p:nvSpPr>
            <p:spPr>
              <a:xfrm>
                <a:off x="5816969" y="1058166"/>
                <a:ext cx="499323" cy="1202877"/>
              </a:xfrm>
              <a:prstGeom prst="trapezoid">
                <a:avLst>
                  <a:gd name="adj" fmla="val 33421"/>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rapezoid 9">
                <a:extLst>
                  <a:ext uri="{FF2B5EF4-FFF2-40B4-BE49-F238E27FC236}">
                    <a16:creationId xmlns:a16="http://schemas.microsoft.com/office/drawing/2014/main" id="{0201B07E-6BBB-3A41-81AE-2A90648652B8}"/>
                  </a:ext>
                </a:extLst>
              </p:cNvPr>
              <p:cNvSpPr/>
              <p:nvPr/>
            </p:nvSpPr>
            <p:spPr>
              <a:xfrm rot="10800000">
                <a:off x="5857875" y="4937759"/>
                <a:ext cx="412750" cy="112220"/>
              </a:xfrm>
              <a:prstGeom prst="trapezoid">
                <a:avLst>
                  <a:gd name="adj" fmla="val 32196"/>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rapezoid 10">
                <a:extLst>
                  <a:ext uri="{FF2B5EF4-FFF2-40B4-BE49-F238E27FC236}">
                    <a16:creationId xmlns:a16="http://schemas.microsoft.com/office/drawing/2014/main" id="{8745CACF-7737-7B48-8432-CF7AC9EEED86}"/>
                  </a:ext>
                </a:extLst>
              </p:cNvPr>
              <p:cNvSpPr/>
              <p:nvPr/>
            </p:nvSpPr>
            <p:spPr>
              <a:xfrm>
                <a:off x="5934940" y="1979651"/>
                <a:ext cx="258618" cy="221672"/>
              </a:xfrm>
              <a:prstGeom prst="trapezoid">
                <a:avLst>
                  <a:gd name="adj" fmla="val 13750"/>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8B1F68D-FA69-CA47-AD2D-44222B43811E}"/>
                  </a:ext>
                </a:extLst>
              </p:cNvPr>
              <p:cNvSpPr/>
              <p:nvPr/>
            </p:nvSpPr>
            <p:spPr>
              <a:xfrm>
                <a:off x="5988541" y="5250580"/>
                <a:ext cx="141585" cy="120763"/>
              </a:xfrm>
              <a:prstGeom prst="rect">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Connector 13">
                <a:extLst>
                  <a:ext uri="{FF2B5EF4-FFF2-40B4-BE49-F238E27FC236}">
                    <a16:creationId xmlns:a16="http://schemas.microsoft.com/office/drawing/2014/main" id="{4C95BBFF-1547-BF49-B1F0-823F576178CF}"/>
                  </a:ext>
                </a:extLst>
              </p:cNvPr>
              <p:cNvCxnSpPr>
                <a:cxnSpLocks/>
              </p:cNvCxnSpPr>
              <p:nvPr/>
            </p:nvCxnSpPr>
            <p:spPr>
              <a:xfrm flipH="1">
                <a:off x="6064249" y="1098075"/>
                <a:ext cx="2" cy="506796"/>
              </a:xfrm>
              <a:prstGeom prst="line">
                <a:avLst/>
              </a:prstGeom>
              <a:grpFill/>
              <a:ln w="28575">
                <a:solidFill>
                  <a:srgbClr val="FF0000">
                    <a:alpha val="21000"/>
                  </a:srgb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672F5CC8-F8C3-6540-B393-A307EB957BD0}"/>
                  </a:ext>
                </a:extLst>
              </p:cNvPr>
              <p:cNvGrpSpPr/>
              <p:nvPr/>
            </p:nvGrpSpPr>
            <p:grpSpPr>
              <a:xfrm>
                <a:off x="6016492" y="3134342"/>
                <a:ext cx="100910" cy="777944"/>
                <a:chOff x="8889341" y="3141327"/>
                <a:chExt cx="100910" cy="777944"/>
              </a:xfrm>
              <a:grpFill/>
            </p:grpSpPr>
            <p:sp>
              <p:nvSpPr>
                <p:cNvPr id="16" name="Oval 15">
                  <a:extLst>
                    <a:ext uri="{FF2B5EF4-FFF2-40B4-BE49-F238E27FC236}">
                      <a16:creationId xmlns:a16="http://schemas.microsoft.com/office/drawing/2014/main" id="{4A4BA682-4020-1B47-8EC4-992B824622E5}"/>
                    </a:ext>
                  </a:extLst>
                </p:cNvPr>
                <p:cNvSpPr/>
                <p:nvPr/>
              </p:nvSpPr>
              <p:spPr>
                <a:xfrm>
                  <a:off x="8889341" y="3818361"/>
                  <a:ext cx="100910" cy="100910"/>
                </a:xfrm>
                <a:prstGeom prst="ellipse">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50633577-E978-9A44-AA8C-77E633FA936E}"/>
                    </a:ext>
                  </a:extLst>
                </p:cNvPr>
                <p:cNvSpPr/>
                <p:nvPr/>
              </p:nvSpPr>
              <p:spPr>
                <a:xfrm>
                  <a:off x="8889341" y="3141327"/>
                  <a:ext cx="100910" cy="100910"/>
                </a:xfrm>
                <a:prstGeom prst="ellipse">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1D9A12E-D60F-504C-B8D8-8CC4F5F69186}"/>
                    </a:ext>
                  </a:extLst>
                </p:cNvPr>
                <p:cNvSpPr/>
                <p:nvPr/>
              </p:nvSpPr>
              <p:spPr>
                <a:xfrm>
                  <a:off x="8889341" y="3654110"/>
                  <a:ext cx="100910" cy="100910"/>
                </a:xfrm>
                <a:prstGeom prst="ellipse">
                  <a:avLst/>
                </a:prstGeom>
                <a:grpFill/>
                <a:ln w="28575">
                  <a:solidFill>
                    <a:srgbClr val="FF0000">
                      <a:alpha val="21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21" name="Group 20">
            <a:extLst>
              <a:ext uri="{FF2B5EF4-FFF2-40B4-BE49-F238E27FC236}">
                <a16:creationId xmlns:a16="http://schemas.microsoft.com/office/drawing/2014/main" id="{849EAA03-DF89-2A40-8214-D5D624EB50DB}"/>
              </a:ext>
            </a:extLst>
          </p:cNvPr>
          <p:cNvGrpSpPr/>
          <p:nvPr userDrawn="1"/>
        </p:nvGrpSpPr>
        <p:grpSpPr>
          <a:xfrm>
            <a:off x="5400377" y="254479"/>
            <a:ext cx="3584791" cy="6349042"/>
            <a:chOff x="569106" y="800963"/>
            <a:chExt cx="3125338" cy="5535301"/>
          </a:xfrm>
        </p:grpSpPr>
        <p:sp>
          <p:nvSpPr>
            <p:cNvPr id="22" name="Oval 21">
              <a:extLst>
                <a:ext uri="{FF2B5EF4-FFF2-40B4-BE49-F238E27FC236}">
                  <a16:creationId xmlns:a16="http://schemas.microsoft.com/office/drawing/2014/main" id="{304AD0D6-BC1A-FF4A-8FE8-D5B162B1FFF0}"/>
                </a:ext>
              </a:extLst>
            </p:cNvPr>
            <p:cNvSpPr/>
            <p:nvPr/>
          </p:nvSpPr>
          <p:spPr>
            <a:xfrm>
              <a:off x="569106" y="800963"/>
              <a:ext cx="3125338" cy="5535301"/>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D4C3E367-23E1-DF45-B71C-ED1549A5CC4B}"/>
                </a:ext>
              </a:extLst>
            </p:cNvPr>
            <p:cNvGrpSpPr/>
            <p:nvPr/>
          </p:nvGrpSpPr>
          <p:grpSpPr>
            <a:xfrm>
              <a:off x="1749280" y="1121147"/>
              <a:ext cx="764991" cy="4894932"/>
              <a:chOff x="5729594" y="1058166"/>
              <a:chExt cx="674073" cy="4313177"/>
            </a:xfrm>
            <a:solidFill>
              <a:schemeClr val="bg1"/>
            </a:solidFill>
          </p:grpSpPr>
          <p:sp>
            <p:nvSpPr>
              <p:cNvPr id="24" name="Freeform 23">
                <a:extLst>
                  <a:ext uri="{FF2B5EF4-FFF2-40B4-BE49-F238E27FC236}">
                    <a16:creationId xmlns:a16="http://schemas.microsoft.com/office/drawing/2014/main" id="{E9634FD9-CA94-8B4F-B6D5-D7FDD50FD723}"/>
                  </a:ext>
                </a:extLst>
              </p:cNvPr>
              <p:cNvSpPr/>
              <p:nvPr/>
            </p:nvSpPr>
            <p:spPr>
              <a:xfrm>
                <a:off x="5764003" y="2261042"/>
                <a:ext cx="605254" cy="2989538"/>
              </a:xfrm>
              <a:custGeom>
                <a:avLst/>
                <a:gdLst>
                  <a:gd name="connsiteX0" fmla="*/ 54754 w 605254"/>
                  <a:gd name="connsiteY0" fmla="*/ 0 h 2989538"/>
                  <a:gd name="connsiteX1" fmla="*/ 550499 w 605254"/>
                  <a:gd name="connsiteY1" fmla="*/ 0 h 2989538"/>
                  <a:gd name="connsiteX2" fmla="*/ 605253 w 605254"/>
                  <a:gd name="connsiteY2" fmla="*/ 604287 h 2989538"/>
                  <a:gd name="connsiteX3" fmla="*/ 605253 w 605254"/>
                  <a:gd name="connsiteY3" fmla="*/ 1559443 h 2989538"/>
                  <a:gd name="connsiteX4" fmla="*/ 601135 w 605254"/>
                  <a:gd name="connsiteY4" fmla="*/ 1559443 h 2989538"/>
                  <a:gd name="connsiteX5" fmla="*/ 605254 w 605254"/>
                  <a:gd name="connsiteY5" fmla="*/ 1729580 h 2989538"/>
                  <a:gd name="connsiteX6" fmla="*/ 471829 w 605254"/>
                  <a:gd name="connsiteY6" fmla="*/ 2774357 h 2989538"/>
                  <a:gd name="connsiteX7" fmla="*/ 458858 w 605254"/>
                  <a:gd name="connsiteY7" fmla="*/ 2803669 h 2989538"/>
                  <a:gd name="connsiteX8" fmla="*/ 409535 w 605254"/>
                  <a:gd name="connsiteY8" fmla="*/ 2989533 h 2989538"/>
                  <a:gd name="connsiteX9" fmla="*/ 302639 w 605254"/>
                  <a:gd name="connsiteY9" fmla="*/ 2989533 h 2989538"/>
                  <a:gd name="connsiteX10" fmla="*/ 302627 w 605254"/>
                  <a:gd name="connsiteY10" fmla="*/ 2989538 h 2989538"/>
                  <a:gd name="connsiteX11" fmla="*/ 302615 w 605254"/>
                  <a:gd name="connsiteY11" fmla="*/ 2989533 h 2989538"/>
                  <a:gd name="connsiteX12" fmla="*/ 190882 w 605254"/>
                  <a:gd name="connsiteY12" fmla="*/ 2989533 h 2989538"/>
                  <a:gd name="connsiteX13" fmla="*/ 134314 w 605254"/>
                  <a:gd name="connsiteY13" fmla="*/ 2776364 h 2989538"/>
                  <a:gd name="connsiteX14" fmla="*/ 133426 w 605254"/>
                  <a:gd name="connsiteY14" fmla="*/ 2774357 h 2989538"/>
                  <a:gd name="connsiteX15" fmla="*/ 0 w 605254"/>
                  <a:gd name="connsiteY15" fmla="*/ 1729580 h 2989538"/>
                  <a:gd name="connsiteX16" fmla="*/ 4120 w 605254"/>
                  <a:gd name="connsiteY16" fmla="*/ 1559443 h 2989538"/>
                  <a:gd name="connsiteX17" fmla="*/ 0 w 605254"/>
                  <a:gd name="connsiteY17" fmla="*/ 1559443 h 2989538"/>
                  <a:gd name="connsiteX18" fmla="*/ 0 w 605254"/>
                  <a:gd name="connsiteY18" fmla="*/ 604287 h 29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5254" h="2989538">
                    <a:moveTo>
                      <a:pt x="54754" y="0"/>
                    </a:moveTo>
                    <a:lnTo>
                      <a:pt x="550499" y="0"/>
                    </a:lnTo>
                    <a:lnTo>
                      <a:pt x="605253" y="604287"/>
                    </a:lnTo>
                    <a:lnTo>
                      <a:pt x="605253" y="1559443"/>
                    </a:lnTo>
                    <a:lnTo>
                      <a:pt x="601135" y="1559443"/>
                    </a:lnTo>
                    <a:lnTo>
                      <a:pt x="605254" y="1729580"/>
                    </a:lnTo>
                    <a:cubicBezTo>
                      <a:pt x="605254" y="2164490"/>
                      <a:pt x="552328" y="2547934"/>
                      <a:pt x="471829" y="2774357"/>
                    </a:cubicBezTo>
                    <a:lnTo>
                      <a:pt x="458858" y="2803669"/>
                    </a:lnTo>
                    <a:lnTo>
                      <a:pt x="409535" y="2989533"/>
                    </a:lnTo>
                    <a:lnTo>
                      <a:pt x="302639" y="2989533"/>
                    </a:lnTo>
                    <a:lnTo>
                      <a:pt x="302627" y="2989538"/>
                    </a:lnTo>
                    <a:lnTo>
                      <a:pt x="302615" y="2989533"/>
                    </a:lnTo>
                    <a:lnTo>
                      <a:pt x="190882" y="2989533"/>
                    </a:lnTo>
                    <a:lnTo>
                      <a:pt x="134314" y="2776364"/>
                    </a:lnTo>
                    <a:lnTo>
                      <a:pt x="133426" y="2774357"/>
                    </a:lnTo>
                    <a:cubicBezTo>
                      <a:pt x="52926" y="2547934"/>
                      <a:pt x="0" y="2164490"/>
                      <a:pt x="0" y="1729580"/>
                    </a:cubicBezTo>
                    <a:lnTo>
                      <a:pt x="4120" y="1559443"/>
                    </a:lnTo>
                    <a:lnTo>
                      <a:pt x="0" y="1559443"/>
                    </a:lnTo>
                    <a:lnTo>
                      <a:pt x="0" y="604287"/>
                    </a:lnTo>
                    <a:close/>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id="{30F50E8F-1D30-964D-A874-CD29922F148F}"/>
                  </a:ext>
                </a:extLst>
              </p:cNvPr>
              <p:cNvGrpSpPr/>
              <p:nvPr/>
            </p:nvGrpSpPr>
            <p:grpSpPr>
              <a:xfrm>
                <a:off x="5729594" y="1093052"/>
                <a:ext cx="674073" cy="553984"/>
                <a:chOff x="3474768" y="1287975"/>
                <a:chExt cx="674073" cy="553984"/>
              </a:xfrm>
              <a:grpFill/>
            </p:grpSpPr>
            <p:sp>
              <p:nvSpPr>
                <p:cNvPr id="35" name="Freeform 34">
                  <a:extLst>
                    <a:ext uri="{FF2B5EF4-FFF2-40B4-BE49-F238E27FC236}">
                      <a16:creationId xmlns:a16="http://schemas.microsoft.com/office/drawing/2014/main" id="{B10529F7-6A1F-F142-AD48-649C81C000C8}"/>
                    </a:ext>
                  </a:extLst>
                </p:cNvPr>
                <p:cNvSpPr/>
                <p:nvPr/>
              </p:nvSpPr>
              <p:spPr>
                <a:xfrm flipH="1">
                  <a:off x="3889894"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reeform 35">
                  <a:extLst>
                    <a:ext uri="{FF2B5EF4-FFF2-40B4-BE49-F238E27FC236}">
                      <a16:creationId xmlns:a16="http://schemas.microsoft.com/office/drawing/2014/main" id="{CD9E3FDD-E392-914C-99F8-1434D93C0DA4}"/>
                    </a:ext>
                  </a:extLst>
                </p:cNvPr>
                <p:cNvSpPr/>
                <p:nvPr/>
              </p:nvSpPr>
              <p:spPr>
                <a:xfrm>
                  <a:off x="3474768"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6" name="Trapezoid 8">
                <a:extLst>
                  <a:ext uri="{FF2B5EF4-FFF2-40B4-BE49-F238E27FC236}">
                    <a16:creationId xmlns:a16="http://schemas.microsoft.com/office/drawing/2014/main" id="{D40B1864-2216-AC4A-BEC7-3042E17E12FD}"/>
                  </a:ext>
                </a:extLst>
              </p:cNvPr>
              <p:cNvSpPr/>
              <p:nvPr/>
            </p:nvSpPr>
            <p:spPr>
              <a:xfrm>
                <a:off x="5816969" y="1058166"/>
                <a:ext cx="499323" cy="1202877"/>
              </a:xfrm>
              <a:prstGeom prst="trapezoid">
                <a:avLst>
                  <a:gd name="adj" fmla="val 33421"/>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rapezoid 9">
                <a:extLst>
                  <a:ext uri="{FF2B5EF4-FFF2-40B4-BE49-F238E27FC236}">
                    <a16:creationId xmlns:a16="http://schemas.microsoft.com/office/drawing/2014/main" id="{A272B802-EFC4-624A-989A-225052B8D86E}"/>
                  </a:ext>
                </a:extLst>
              </p:cNvPr>
              <p:cNvSpPr/>
              <p:nvPr/>
            </p:nvSpPr>
            <p:spPr>
              <a:xfrm rot="10800000">
                <a:off x="5857875" y="4937759"/>
                <a:ext cx="412750" cy="112220"/>
              </a:xfrm>
              <a:prstGeom prst="trapezoid">
                <a:avLst>
                  <a:gd name="adj" fmla="val 32196"/>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rapezoid 10">
                <a:extLst>
                  <a:ext uri="{FF2B5EF4-FFF2-40B4-BE49-F238E27FC236}">
                    <a16:creationId xmlns:a16="http://schemas.microsoft.com/office/drawing/2014/main" id="{FFDA2092-E875-3248-A23A-B136E5D6CF29}"/>
                  </a:ext>
                </a:extLst>
              </p:cNvPr>
              <p:cNvSpPr/>
              <p:nvPr/>
            </p:nvSpPr>
            <p:spPr>
              <a:xfrm>
                <a:off x="5934940" y="1979651"/>
                <a:ext cx="258618" cy="221672"/>
              </a:xfrm>
              <a:prstGeom prst="trapezoid">
                <a:avLst>
                  <a:gd name="adj" fmla="val 13750"/>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244B96B1-24F6-4242-B5C3-C65A47C1CD91}"/>
                  </a:ext>
                </a:extLst>
              </p:cNvPr>
              <p:cNvSpPr/>
              <p:nvPr/>
            </p:nvSpPr>
            <p:spPr>
              <a:xfrm>
                <a:off x="5988541" y="5250580"/>
                <a:ext cx="141585" cy="120763"/>
              </a:xfrm>
              <a:prstGeom prst="rect">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a:extLst>
                  <a:ext uri="{FF2B5EF4-FFF2-40B4-BE49-F238E27FC236}">
                    <a16:creationId xmlns:a16="http://schemas.microsoft.com/office/drawing/2014/main" id="{D5F26270-AB6C-264B-A1F8-2233D40A1700}"/>
                  </a:ext>
                </a:extLst>
              </p:cNvPr>
              <p:cNvCxnSpPr>
                <a:cxnSpLocks/>
              </p:cNvCxnSpPr>
              <p:nvPr/>
            </p:nvCxnSpPr>
            <p:spPr>
              <a:xfrm flipH="1">
                <a:off x="6064249" y="1098075"/>
                <a:ext cx="2" cy="506796"/>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9386FF28-08A7-0F42-9A90-5DDDDDF6A371}"/>
                  </a:ext>
                </a:extLst>
              </p:cNvPr>
              <p:cNvGrpSpPr/>
              <p:nvPr/>
            </p:nvGrpSpPr>
            <p:grpSpPr>
              <a:xfrm>
                <a:off x="6016492" y="3134342"/>
                <a:ext cx="100910" cy="777944"/>
                <a:chOff x="8889341" y="3141327"/>
                <a:chExt cx="100910" cy="777944"/>
              </a:xfrm>
              <a:grpFill/>
            </p:grpSpPr>
            <p:sp>
              <p:nvSpPr>
                <p:cNvPr id="32" name="Oval 31">
                  <a:extLst>
                    <a:ext uri="{FF2B5EF4-FFF2-40B4-BE49-F238E27FC236}">
                      <a16:creationId xmlns:a16="http://schemas.microsoft.com/office/drawing/2014/main" id="{969A6F3E-DE61-1C4F-B182-551886D3B455}"/>
                    </a:ext>
                  </a:extLst>
                </p:cNvPr>
                <p:cNvSpPr/>
                <p:nvPr/>
              </p:nvSpPr>
              <p:spPr>
                <a:xfrm>
                  <a:off x="8889341" y="3818361"/>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0960948A-A4C7-0647-935A-AE629487ADE6}"/>
                    </a:ext>
                  </a:extLst>
                </p:cNvPr>
                <p:cNvSpPr/>
                <p:nvPr/>
              </p:nvSpPr>
              <p:spPr>
                <a:xfrm>
                  <a:off x="8889341" y="3141327"/>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76959261-FFE0-BE44-8720-CC25E72FDA46}"/>
                    </a:ext>
                  </a:extLst>
                </p:cNvPr>
                <p:cNvSpPr/>
                <p:nvPr/>
              </p:nvSpPr>
              <p:spPr>
                <a:xfrm>
                  <a:off x="8889341" y="3654110"/>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Tree>
    <p:extLst>
      <p:ext uri="{BB962C8B-B14F-4D97-AF65-F5344CB8AC3E}">
        <p14:creationId xmlns:p14="http://schemas.microsoft.com/office/powerpoint/2010/main" val="730352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Slide Number Placeholder 5">
            <a:extLst>
              <a:ext uri="{FF2B5EF4-FFF2-40B4-BE49-F238E27FC236}">
                <a16:creationId xmlns:a16="http://schemas.microsoft.com/office/drawing/2014/main" id="{5484E175-A2BC-BE7D-0D88-B5A94E46BACA}"/>
              </a:ext>
            </a:extLst>
          </p:cNvPr>
          <p:cNvSpPr txBox="1">
            <a:spLocks/>
          </p:cNvSpPr>
          <p:nvPr userDrawn="1"/>
        </p:nvSpPr>
        <p:spPr>
          <a:xfrm>
            <a:off x="8523798" y="6536302"/>
            <a:ext cx="699218"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PM1.1</a:t>
            </a:r>
          </a:p>
        </p:txBody>
      </p:sp>
    </p:spTree>
    <p:extLst>
      <p:ext uri="{BB962C8B-B14F-4D97-AF65-F5344CB8AC3E}">
        <p14:creationId xmlns:p14="http://schemas.microsoft.com/office/powerpoint/2010/main" val="678897245"/>
      </p:ext>
    </p:extLst>
  </p:cSld>
  <p:clrMap bg1="lt1" tx1="dk1" bg2="lt2" tx2="dk2" accent1="accent1" accent2="accent2" accent3="accent3" accent4="accent4" accent5="accent5" accent6="accent6" hlink="hlink" folHlink="folHlink"/>
  <p:sldLayoutIdLst>
    <p:sldLayoutId id="2147483661" r:id="rId1"/>
    <p:sldLayoutId id="2147483685" r:id="rId2"/>
    <p:sldLayoutId id="2147483686" r:id="rId3"/>
    <p:sldLayoutId id="2147483662" r:id="rId4"/>
    <p:sldLayoutId id="2147483674" r:id="rId5"/>
    <p:sldLayoutId id="2147483687" r:id="rId6"/>
    <p:sldLayoutId id="2147483688" r:id="rId7"/>
    <p:sldLayoutId id="2147483667" r:id="rId8"/>
  </p:sldLayoutIdLst>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1ABF9-D9F4-2E47-AD63-450F9F7215C1}"/>
              </a:ext>
            </a:extLst>
          </p:cNvPr>
          <p:cNvSpPr>
            <a:spLocks noGrp="1"/>
          </p:cNvSpPr>
          <p:nvPr>
            <p:ph type="ctrTitle"/>
          </p:nvPr>
        </p:nvSpPr>
        <p:spPr>
          <a:xfrm>
            <a:off x="685800" y="1338120"/>
            <a:ext cx="7772400" cy="3644846"/>
          </a:xfrm>
        </p:spPr>
        <p:txBody>
          <a:bodyPr/>
          <a:lstStyle/>
          <a:p>
            <a:r>
              <a:rPr lang="en-GB" dirty="0"/>
              <a:t>Introduction to Mine Action</a:t>
            </a:r>
          </a:p>
        </p:txBody>
      </p:sp>
    </p:spTree>
    <p:extLst>
      <p:ext uri="{BB962C8B-B14F-4D97-AF65-F5344CB8AC3E}">
        <p14:creationId xmlns:p14="http://schemas.microsoft.com/office/powerpoint/2010/main" val="2497257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6DB0A0D9-E0AA-904F-A05C-1B91050C3728}"/>
              </a:ext>
            </a:extLst>
          </p:cNvPr>
          <p:cNvSpPr>
            <a:spLocks noGrp="1"/>
          </p:cNvSpPr>
          <p:nvPr>
            <p:ph idx="1"/>
          </p:nvPr>
        </p:nvSpPr>
        <p:spPr>
          <a:xfrm>
            <a:off x="3160058" y="928636"/>
            <a:ext cx="5864672" cy="4817071"/>
          </a:xfrm>
        </p:spPr>
        <p:txBody>
          <a:bodyPr/>
          <a:lstStyle/>
          <a:p>
            <a:pPr>
              <a:spcAft>
                <a:spcPts val="1600"/>
              </a:spcAft>
            </a:pPr>
            <a:endParaRPr lang="en-GB" dirty="0"/>
          </a:p>
          <a:p>
            <a:pPr lvl="0"/>
            <a:r>
              <a:rPr lang="en-GB" dirty="0"/>
              <a:t>Who conducts Mine Action?</a:t>
            </a:r>
          </a:p>
          <a:p>
            <a:pPr lvl="0"/>
            <a:r>
              <a:rPr lang="en-GB" dirty="0"/>
              <a:t>Institutional framework</a:t>
            </a:r>
          </a:p>
          <a:p>
            <a:pPr lvl="0"/>
            <a:r>
              <a:rPr lang="en-GB" dirty="0"/>
              <a:t>The Mine Action pillars</a:t>
            </a:r>
          </a:p>
          <a:p>
            <a:pPr>
              <a:spcAft>
                <a:spcPts val="1600"/>
              </a:spcAft>
            </a:pPr>
            <a:r>
              <a:rPr lang="en-GB" dirty="0"/>
              <a:t>MA products &amp; activities</a:t>
            </a:r>
          </a:p>
          <a:p>
            <a:pPr lvl="0"/>
            <a:r>
              <a:rPr lang="en-GB" dirty="0"/>
              <a:t>Related sectors</a:t>
            </a:r>
          </a:p>
        </p:txBody>
      </p:sp>
    </p:spTree>
    <p:extLst>
      <p:ext uri="{BB962C8B-B14F-4D97-AF65-F5344CB8AC3E}">
        <p14:creationId xmlns:p14="http://schemas.microsoft.com/office/powerpoint/2010/main" val="3194560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BC5DA-FD92-624B-88EB-01ADD3553DE6}"/>
              </a:ext>
            </a:extLst>
          </p:cNvPr>
          <p:cNvSpPr>
            <a:spLocks noGrp="1"/>
          </p:cNvSpPr>
          <p:nvPr>
            <p:ph type="title"/>
          </p:nvPr>
        </p:nvSpPr>
        <p:spPr>
          <a:xfrm>
            <a:off x="2218414" y="3034185"/>
            <a:ext cx="6488857" cy="1325563"/>
          </a:xfrm>
        </p:spPr>
        <p:txBody>
          <a:bodyPr/>
          <a:lstStyle/>
          <a:p>
            <a:pPr algn="r"/>
            <a:r>
              <a:rPr lang="en-GB" dirty="0"/>
              <a:t>Introduction</a:t>
            </a:r>
          </a:p>
        </p:txBody>
      </p:sp>
    </p:spTree>
    <p:extLst>
      <p:ext uri="{BB962C8B-B14F-4D97-AF65-F5344CB8AC3E}">
        <p14:creationId xmlns:p14="http://schemas.microsoft.com/office/powerpoint/2010/main" val="3151321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3B62-2ECF-45CC-34A8-8CCD980363D5}"/>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5B662647-82C5-2BB1-F636-B906348507B6}"/>
              </a:ext>
            </a:extLst>
          </p:cNvPr>
          <p:cNvSpPr>
            <a:spLocks noGrp="1"/>
          </p:cNvSpPr>
          <p:nvPr>
            <p:ph idx="1"/>
          </p:nvPr>
        </p:nvSpPr>
        <p:spPr>
          <a:xfrm>
            <a:off x="1033670" y="2094482"/>
            <a:ext cx="7927450" cy="4090736"/>
          </a:xfrm>
        </p:spPr>
        <p:txBody>
          <a:bodyPr/>
          <a:lstStyle/>
          <a:p>
            <a:r>
              <a:rPr lang="en-US" dirty="0"/>
              <a:t>  </a:t>
            </a:r>
            <a:r>
              <a:rPr lang="en-GB" dirty="0"/>
              <a:t>International Mine Action Standards (IMAS):</a:t>
            </a:r>
          </a:p>
          <a:p>
            <a:endParaRPr lang="en-GB" dirty="0"/>
          </a:p>
          <a:p>
            <a:pPr lvl="1"/>
            <a:r>
              <a:rPr lang="en-GB" i="1" dirty="0"/>
              <a:t>“Activities which aim to reduce the social, economic and environmental impact of explosive ordnance”.</a:t>
            </a:r>
          </a:p>
          <a:p>
            <a:pPr lvl="1"/>
            <a:r>
              <a:rPr lang="en-US" i="1" dirty="0"/>
              <a:t>“Mine action is not just about demining; it is also about people and societies”</a:t>
            </a:r>
          </a:p>
          <a:p>
            <a:pPr lvl="1"/>
            <a:endParaRPr lang="en-GB" i="1" dirty="0"/>
          </a:p>
          <a:p>
            <a:endParaRPr lang="en-US" dirty="0"/>
          </a:p>
        </p:txBody>
      </p:sp>
    </p:spTree>
    <p:extLst>
      <p:ext uri="{BB962C8B-B14F-4D97-AF65-F5344CB8AC3E}">
        <p14:creationId xmlns:p14="http://schemas.microsoft.com/office/powerpoint/2010/main" val="2385865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E816-070A-C367-E0FF-2E392A8F40DF}"/>
              </a:ext>
            </a:extLst>
          </p:cNvPr>
          <p:cNvSpPr>
            <a:spLocks noGrp="1"/>
          </p:cNvSpPr>
          <p:nvPr>
            <p:ph type="title"/>
          </p:nvPr>
        </p:nvSpPr>
        <p:spPr>
          <a:xfrm>
            <a:off x="5271716" y="365126"/>
            <a:ext cx="3486856" cy="618547"/>
          </a:xfrm>
        </p:spPr>
        <p:txBody>
          <a:bodyPr/>
          <a:lstStyle/>
          <a:p>
            <a:r>
              <a:rPr lang="en-US" dirty="0"/>
              <a:t>Objectives of MA</a:t>
            </a:r>
          </a:p>
        </p:txBody>
      </p:sp>
      <p:sp>
        <p:nvSpPr>
          <p:cNvPr id="3" name="Content Placeholder 2">
            <a:extLst>
              <a:ext uri="{FF2B5EF4-FFF2-40B4-BE49-F238E27FC236}">
                <a16:creationId xmlns:a16="http://schemas.microsoft.com/office/drawing/2014/main" id="{80D0666B-5008-8959-6C0C-1B03CEF469F7}"/>
              </a:ext>
            </a:extLst>
          </p:cNvPr>
          <p:cNvSpPr>
            <a:spLocks noGrp="1"/>
          </p:cNvSpPr>
          <p:nvPr>
            <p:ph idx="1"/>
          </p:nvPr>
        </p:nvSpPr>
        <p:spPr>
          <a:xfrm>
            <a:off x="1065476" y="2094482"/>
            <a:ext cx="8014914" cy="4090736"/>
          </a:xfrm>
        </p:spPr>
        <p:txBody>
          <a:bodyPr/>
          <a:lstStyle/>
          <a:p>
            <a:r>
              <a:rPr lang="en-US" dirty="0"/>
              <a:t>Reduce the risk from EO </a:t>
            </a:r>
          </a:p>
          <a:p>
            <a:pPr lvl="1"/>
            <a:r>
              <a:rPr lang="en-US" dirty="0"/>
              <a:t>to a level where people can live safely</a:t>
            </a:r>
          </a:p>
          <a:p>
            <a:r>
              <a:rPr lang="en-US" dirty="0"/>
              <a:t>Allow economic, social and health development </a:t>
            </a:r>
          </a:p>
          <a:p>
            <a:r>
              <a:rPr lang="en-US" dirty="0"/>
              <a:t>Address victims’ different needs</a:t>
            </a:r>
          </a:p>
        </p:txBody>
      </p:sp>
    </p:spTree>
    <p:extLst>
      <p:ext uri="{BB962C8B-B14F-4D97-AF65-F5344CB8AC3E}">
        <p14:creationId xmlns:p14="http://schemas.microsoft.com/office/powerpoint/2010/main" val="296589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C6DE2-F585-3CA4-1CDF-5B1423AC395D}"/>
              </a:ext>
            </a:extLst>
          </p:cNvPr>
          <p:cNvSpPr>
            <a:spLocks noGrp="1"/>
          </p:cNvSpPr>
          <p:nvPr>
            <p:ph type="title"/>
          </p:nvPr>
        </p:nvSpPr>
        <p:spPr/>
        <p:txBody>
          <a:bodyPr/>
          <a:lstStyle/>
          <a:p>
            <a:r>
              <a:rPr lang="en-US" dirty="0"/>
              <a:t>Aim</a:t>
            </a:r>
          </a:p>
        </p:txBody>
      </p:sp>
      <p:sp>
        <p:nvSpPr>
          <p:cNvPr id="3" name="Content Placeholder 2">
            <a:extLst>
              <a:ext uri="{FF2B5EF4-FFF2-40B4-BE49-F238E27FC236}">
                <a16:creationId xmlns:a16="http://schemas.microsoft.com/office/drawing/2014/main" id="{D72DB208-F0CD-11D5-EA7F-258A8F86CB3E}"/>
              </a:ext>
            </a:extLst>
          </p:cNvPr>
          <p:cNvSpPr>
            <a:spLocks noGrp="1"/>
          </p:cNvSpPr>
          <p:nvPr>
            <p:ph idx="1"/>
          </p:nvPr>
        </p:nvSpPr>
        <p:spPr/>
        <p:txBody>
          <a:bodyPr/>
          <a:lstStyle/>
          <a:p>
            <a:r>
              <a:rPr lang="en-GB" dirty="0"/>
              <a:t>Introduce the mine action sector </a:t>
            </a:r>
          </a:p>
          <a:p>
            <a:r>
              <a:rPr lang="en-GB" dirty="0"/>
              <a:t>Introduce related sectors of activity. </a:t>
            </a:r>
            <a:endParaRPr lang="en-US" dirty="0"/>
          </a:p>
        </p:txBody>
      </p:sp>
    </p:spTree>
    <p:extLst>
      <p:ext uri="{BB962C8B-B14F-4D97-AF65-F5344CB8AC3E}">
        <p14:creationId xmlns:p14="http://schemas.microsoft.com/office/powerpoint/2010/main" val="419069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0B8C1-5C66-B84C-318C-E5D0C617552D}"/>
              </a:ext>
            </a:extLst>
          </p:cNvPr>
          <p:cNvSpPr>
            <a:spLocks noGrp="1"/>
          </p:cNvSpPr>
          <p:nvPr>
            <p:ph type="title"/>
          </p:nvPr>
        </p:nvSpPr>
        <p:spPr/>
        <p:txBody>
          <a:bodyPr/>
          <a:lstStyle/>
          <a:p>
            <a:r>
              <a:rPr lang="en-US" dirty="0"/>
              <a:t>Terminology</a:t>
            </a:r>
          </a:p>
        </p:txBody>
      </p:sp>
      <p:sp>
        <p:nvSpPr>
          <p:cNvPr id="4" name="Process 3">
            <a:extLst>
              <a:ext uri="{FF2B5EF4-FFF2-40B4-BE49-F238E27FC236}">
                <a16:creationId xmlns:a16="http://schemas.microsoft.com/office/drawing/2014/main" id="{2E4943E6-79DA-491F-1A4F-4DF9B7B603EA}"/>
              </a:ext>
            </a:extLst>
          </p:cNvPr>
          <p:cNvSpPr/>
          <p:nvPr/>
        </p:nvSpPr>
        <p:spPr>
          <a:xfrm>
            <a:off x="3593990" y="2075290"/>
            <a:ext cx="1415332" cy="94827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Helvetica Neue" panose="02000503000000020004" pitchFamily="2" charset="0"/>
                <a:ea typeface="Helvetica Neue" panose="02000503000000020004" pitchFamily="2" charset="0"/>
                <a:cs typeface="Helvetica Neue" panose="02000503000000020004" pitchFamily="2" charset="0"/>
              </a:rPr>
              <a:t>Explosive ordnance (EO)</a:t>
            </a:r>
          </a:p>
        </p:txBody>
      </p:sp>
      <p:sp>
        <p:nvSpPr>
          <p:cNvPr id="5" name="Process 4">
            <a:extLst>
              <a:ext uri="{FF2B5EF4-FFF2-40B4-BE49-F238E27FC236}">
                <a16:creationId xmlns:a16="http://schemas.microsoft.com/office/drawing/2014/main" id="{69536302-1954-3FF4-8F96-43E0861F3F83}"/>
              </a:ext>
            </a:extLst>
          </p:cNvPr>
          <p:cNvSpPr/>
          <p:nvPr/>
        </p:nvSpPr>
        <p:spPr>
          <a:xfrm>
            <a:off x="5645427" y="3722536"/>
            <a:ext cx="1415332" cy="94827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Helvetica Neue" panose="02000503000000020004" pitchFamily="2" charset="0"/>
                <a:ea typeface="Helvetica Neue" panose="02000503000000020004" pitchFamily="2" charset="0"/>
                <a:cs typeface="Helvetica Neue" panose="02000503000000020004" pitchFamily="2" charset="0"/>
              </a:rPr>
              <a:t>(Land)mines</a:t>
            </a:r>
          </a:p>
        </p:txBody>
      </p:sp>
      <p:sp>
        <p:nvSpPr>
          <p:cNvPr id="6" name="Process 5">
            <a:extLst>
              <a:ext uri="{FF2B5EF4-FFF2-40B4-BE49-F238E27FC236}">
                <a16:creationId xmlns:a16="http://schemas.microsoft.com/office/drawing/2014/main" id="{710CFD23-7F54-CDB6-95BA-83FEC6574805}"/>
              </a:ext>
            </a:extLst>
          </p:cNvPr>
          <p:cNvSpPr/>
          <p:nvPr/>
        </p:nvSpPr>
        <p:spPr>
          <a:xfrm>
            <a:off x="3593990" y="3722536"/>
            <a:ext cx="1415332" cy="94827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Helvetica Neue" panose="02000503000000020004" pitchFamily="2" charset="0"/>
                <a:ea typeface="Helvetica Neue" panose="02000503000000020004" pitchFamily="2" charset="0"/>
                <a:cs typeface="Helvetica Neue" panose="02000503000000020004" pitchFamily="2" charset="0"/>
              </a:rPr>
              <a:t>Explosive remnants of war (ERW)</a:t>
            </a:r>
          </a:p>
        </p:txBody>
      </p:sp>
      <p:sp>
        <p:nvSpPr>
          <p:cNvPr id="7" name="Process 6">
            <a:extLst>
              <a:ext uri="{FF2B5EF4-FFF2-40B4-BE49-F238E27FC236}">
                <a16:creationId xmlns:a16="http://schemas.microsoft.com/office/drawing/2014/main" id="{CA98EA70-1919-6D30-E981-FE3341162A55}"/>
              </a:ext>
            </a:extLst>
          </p:cNvPr>
          <p:cNvSpPr/>
          <p:nvPr/>
        </p:nvSpPr>
        <p:spPr>
          <a:xfrm>
            <a:off x="3593990" y="5369783"/>
            <a:ext cx="1415332" cy="94827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Helvetica Neue" panose="02000503000000020004" pitchFamily="2" charset="0"/>
                <a:ea typeface="Helvetica Neue" panose="02000503000000020004" pitchFamily="2" charset="0"/>
                <a:cs typeface="Helvetica Neue" panose="02000503000000020004" pitchFamily="2" charset="0"/>
              </a:rPr>
              <a:t>Unexploded  ordnance (UXO)</a:t>
            </a:r>
          </a:p>
        </p:txBody>
      </p:sp>
      <p:sp>
        <p:nvSpPr>
          <p:cNvPr id="8" name="Process 7">
            <a:extLst>
              <a:ext uri="{FF2B5EF4-FFF2-40B4-BE49-F238E27FC236}">
                <a16:creationId xmlns:a16="http://schemas.microsoft.com/office/drawing/2014/main" id="{195AC9C0-DEFA-EEA6-E85D-8C64FBFB7BCA}"/>
              </a:ext>
            </a:extLst>
          </p:cNvPr>
          <p:cNvSpPr/>
          <p:nvPr/>
        </p:nvSpPr>
        <p:spPr>
          <a:xfrm>
            <a:off x="1542553" y="5369783"/>
            <a:ext cx="1415332" cy="94827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Helvetica Neue" panose="02000503000000020004" pitchFamily="2" charset="0"/>
                <a:ea typeface="Helvetica Neue" panose="02000503000000020004" pitchFamily="2" charset="0"/>
                <a:cs typeface="Helvetica Neue" panose="02000503000000020004" pitchFamily="2" charset="0"/>
              </a:rPr>
              <a:t>Abandoned</a:t>
            </a:r>
          </a:p>
          <a:p>
            <a:pPr algn="ctr"/>
            <a:r>
              <a:rPr lang="en-US" sz="1400" dirty="0">
                <a:latin typeface="Helvetica Neue" panose="02000503000000020004" pitchFamily="2" charset="0"/>
                <a:ea typeface="Helvetica Neue" panose="02000503000000020004" pitchFamily="2" charset="0"/>
                <a:cs typeface="Helvetica Neue" panose="02000503000000020004" pitchFamily="2" charset="0"/>
              </a:rPr>
              <a:t>Explosive ordnance</a:t>
            </a:r>
          </a:p>
          <a:p>
            <a:pPr algn="ctr"/>
            <a:r>
              <a:rPr lang="en-US" sz="1400" dirty="0">
                <a:latin typeface="Helvetica Neue" panose="02000503000000020004" pitchFamily="2" charset="0"/>
                <a:ea typeface="Helvetica Neue" panose="02000503000000020004" pitchFamily="2" charset="0"/>
                <a:cs typeface="Helvetica Neue" panose="02000503000000020004" pitchFamily="2" charset="0"/>
              </a:rPr>
              <a:t>(AXO)</a:t>
            </a:r>
          </a:p>
        </p:txBody>
      </p:sp>
      <p:cxnSp>
        <p:nvCxnSpPr>
          <p:cNvPr id="11" name="Straight Connector 10">
            <a:extLst>
              <a:ext uri="{FF2B5EF4-FFF2-40B4-BE49-F238E27FC236}">
                <a16:creationId xmlns:a16="http://schemas.microsoft.com/office/drawing/2014/main" id="{2AE92009-E34C-4975-C0DE-E8C57F5731D4}"/>
              </a:ext>
            </a:extLst>
          </p:cNvPr>
          <p:cNvCxnSpPr>
            <a:cxnSpLocks/>
            <a:stCxn id="4" idx="2"/>
            <a:endCxn id="6" idx="0"/>
          </p:cNvCxnSpPr>
          <p:nvPr/>
        </p:nvCxnSpPr>
        <p:spPr>
          <a:xfrm>
            <a:off x="4301656" y="3023562"/>
            <a:ext cx="0" cy="6989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48B278D-47AA-7DA6-D450-49BB9393D104}"/>
              </a:ext>
            </a:extLst>
          </p:cNvPr>
          <p:cNvCxnSpPr>
            <a:cxnSpLocks/>
          </p:cNvCxnSpPr>
          <p:nvPr/>
        </p:nvCxnSpPr>
        <p:spPr>
          <a:xfrm>
            <a:off x="4301655" y="4670809"/>
            <a:ext cx="0" cy="6989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67480A8C-0BB1-28AD-ECC1-DB71FBE927AE}"/>
              </a:ext>
            </a:extLst>
          </p:cNvPr>
          <p:cNvCxnSpPr>
            <a:cxnSpLocks/>
            <a:stCxn id="4" idx="2"/>
            <a:endCxn id="5" idx="0"/>
          </p:cNvCxnSpPr>
          <p:nvPr/>
        </p:nvCxnSpPr>
        <p:spPr>
          <a:xfrm rot="16200000" flipH="1">
            <a:off x="4977887" y="2347330"/>
            <a:ext cx="698974" cy="2051437"/>
          </a:xfrm>
          <a:prstGeom prst="bentConnector3">
            <a:avLst>
              <a:gd name="adj1"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D79F131B-6C30-6967-AC8F-3E1A3887802E}"/>
              </a:ext>
            </a:extLst>
          </p:cNvPr>
          <p:cNvCxnSpPr>
            <a:cxnSpLocks/>
          </p:cNvCxnSpPr>
          <p:nvPr/>
        </p:nvCxnSpPr>
        <p:spPr>
          <a:xfrm rot="5400000">
            <a:off x="2926449" y="3994577"/>
            <a:ext cx="698975" cy="2051437"/>
          </a:xfrm>
          <a:prstGeom prst="bentConnector3">
            <a:avLst>
              <a:gd name="adj1"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015F17CB-9448-16B8-A14D-5531D7CC402D}"/>
              </a:ext>
            </a:extLst>
          </p:cNvPr>
          <p:cNvSpPr/>
          <p:nvPr/>
        </p:nvSpPr>
        <p:spPr>
          <a:xfrm>
            <a:off x="5424056" y="3595256"/>
            <a:ext cx="1901536" cy="121573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Left Arrow 22">
            <a:extLst>
              <a:ext uri="{FF2B5EF4-FFF2-40B4-BE49-F238E27FC236}">
                <a16:creationId xmlns:a16="http://schemas.microsoft.com/office/drawing/2014/main" id="{814E5D7E-4BDB-0B95-04A7-E72E59A45FBE}"/>
              </a:ext>
            </a:extLst>
          </p:cNvPr>
          <p:cNvSpPr/>
          <p:nvPr/>
        </p:nvSpPr>
        <p:spPr>
          <a:xfrm rot="18668056">
            <a:off x="6135199" y="2675465"/>
            <a:ext cx="2209740" cy="696191"/>
          </a:xfrm>
          <a:prstGeom prst="lef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Deliberate</a:t>
            </a:r>
          </a:p>
        </p:txBody>
      </p:sp>
      <p:sp>
        <p:nvSpPr>
          <p:cNvPr id="24" name="Rounded Rectangle 23">
            <a:extLst>
              <a:ext uri="{FF2B5EF4-FFF2-40B4-BE49-F238E27FC236}">
                <a16:creationId xmlns:a16="http://schemas.microsoft.com/office/drawing/2014/main" id="{BECA0EDE-3036-3598-5A87-C9351F30EE38}"/>
              </a:ext>
            </a:extLst>
          </p:cNvPr>
          <p:cNvSpPr/>
          <p:nvPr/>
        </p:nvSpPr>
        <p:spPr>
          <a:xfrm>
            <a:off x="1381993" y="3546179"/>
            <a:ext cx="3777215" cy="29377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6CE8F3B3-EEE5-73B8-A499-5733A47DBE8A}"/>
              </a:ext>
            </a:extLst>
          </p:cNvPr>
          <p:cNvSpPr/>
          <p:nvPr/>
        </p:nvSpPr>
        <p:spPr>
          <a:xfrm rot="2908118">
            <a:off x="677443" y="2852365"/>
            <a:ext cx="2081164" cy="630942"/>
          </a:xfrm>
          <a:prstGeom prst="righ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Accidental</a:t>
            </a:r>
          </a:p>
        </p:txBody>
      </p:sp>
    </p:spTree>
    <p:extLst>
      <p:ext uri="{BB962C8B-B14F-4D97-AF65-F5344CB8AC3E}">
        <p14:creationId xmlns:p14="http://schemas.microsoft.com/office/powerpoint/2010/main" val="3079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50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500"/>
                                        <p:tgtEl>
                                          <p:spTgt spid="14"/>
                                        </p:tgtEl>
                                      </p:cBhvr>
                                    </p:animEffect>
                                  </p:childTnLst>
                                </p:cTn>
                              </p:par>
                            </p:childTnLst>
                          </p:cTn>
                        </p:par>
                        <p:par>
                          <p:cTn id="30" fill="hold">
                            <p:stCondLst>
                              <p:cond delay="1000"/>
                            </p:stCondLst>
                            <p:childTnLst>
                              <p:par>
                                <p:cTn id="31" presetID="9" presetClass="entr" presetSubtype="0" fill="hold" grpId="0" nodeType="afterEffect">
                                  <p:stCondLst>
                                    <p:cond delay="500"/>
                                  </p:stCondLst>
                                  <p:childTnLst>
                                    <p:set>
                                      <p:cBhvr>
                                        <p:cTn id="32" dur="1" fill="hold">
                                          <p:stCondLst>
                                            <p:cond delay="0"/>
                                          </p:stCondLst>
                                        </p:cTn>
                                        <p:tgtEl>
                                          <p:spTgt spid="8"/>
                                        </p:tgtEl>
                                        <p:attrNameLst>
                                          <p:attrName>style.visibility</p:attrName>
                                        </p:attrNameLst>
                                      </p:cBhvr>
                                      <p:to>
                                        <p:strVal val="visible"/>
                                      </p:to>
                                    </p:set>
                                    <p:animEffect transition="in" filter="dissolve">
                                      <p:cBhvr>
                                        <p:cTn id="33" dur="500"/>
                                        <p:tgtEl>
                                          <p:spTgt spid="8"/>
                                        </p:tgtEl>
                                      </p:cBhvr>
                                    </p:animEffect>
                                  </p:childTnLst>
                                </p:cTn>
                              </p:par>
                            </p:childTnLst>
                          </p:cTn>
                        </p:par>
                        <p:par>
                          <p:cTn id="34" fill="hold">
                            <p:stCondLst>
                              <p:cond delay="2000"/>
                            </p:stCondLst>
                            <p:childTnLst>
                              <p:par>
                                <p:cTn id="35" presetID="22" presetClass="entr" presetSubtype="1"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up)">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up)">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1"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dissolve">
                                      <p:cBhvr>
                                        <p:cTn id="51" dur="500"/>
                                        <p:tgtEl>
                                          <p:spTgt spid="22"/>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up)">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22" grpId="1" animBg="1"/>
      <p:bldP spid="23"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99D79-A9CA-C443-92C4-14BB09C70C67}"/>
              </a:ext>
            </a:extLst>
          </p:cNvPr>
          <p:cNvSpPr>
            <a:spLocks noGrp="1"/>
          </p:cNvSpPr>
          <p:nvPr>
            <p:ph type="title"/>
          </p:nvPr>
        </p:nvSpPr>
        <p:spPr>
          <a:xfrm>
            <a:off x="2218414" y="3034185"/>
            <a:ext cx="6627873" cy="1325563"/>
          </a:xfrm>
        </p:spPr>
        <p:txBody>
          <a:bodyPr>
            <a:normAutofit fontScale="90000"/>
          </a:bodyPr>
          <a:lstStyle/>
          <a:p>
            <a:pPr algn="r"/>
            <a:r>
              <a:rPr lang="en-GB" dirty="0"/>
              <a:t>Who conducts mine action?</a:t>
            </a:r>
          </a:p>
        </p:txBody>
      </p:sp>
    </p:spTree>
    <p:extLst>
      <p:ext uri="{BB962C8B-B14F-4D97-AF65-F5344CB8AC3E}">
        <p14:creationId xmlns:p14="http://schemas.microsoft.com/office/powerpoint/2010/main" val="338706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D401D4-A5ED-0242-A93E-1F59725E0D40}"/>
              </a:ext>
            </a:extLst>
          </p:cNvPr>
          <p:cNvSpPr>
            <a:spLocks noGrp="1"/>
          </p:cNvSpPr>
          <p:nvPr>
            <p:ph type="title"/>
          </p:nvPr>
        </p:nvSpPr>
        <p:spPr>
          <a:xfrm>
            <a:off x="2784764" y="365126"/>
            <a:ext cx="5973807" cy="618547"/>
          </a:xfrm>
        </p:spPr>
        <p:txBody>
          <a:bodyPr/>
          <a:lstStyle/>
          <a:p>
            <a:r>
              <a:rPr lang="en-GB" dirty="0"/>
              <a:t>Humanitarian or commercial?</a:t>
            </a:r>
          </a:p>
        </p:txBody>
      </p:sp>
      <p:sp>
        <p:nvSpPr>
          <p:cNvPr id="4" name="Content Placeholder 3">
            <a:extLst>
              <a:ext uri="{FF2B5EF4-FFF2-40B4-BE49-F238E27FC236}">
                <a16:creationId xmlns:a16="http://schemas.microsoft.com/office/drawing/2014/main" id="{9181E820-6771-FA49-8DDE-11C9624954A1}"/>
              </a:ext>
            </a:extLst>
          </p:cNvPr>
          <p:cNvSpPr>
            <a:spLocks noGrp="1"/>
          </p:cNvSpPr>
          <p:nvPr>
            <p:ph idx="1"/>
          </p:nvPr>
        </p:nvSpPr>
        <p:spPr>
          <a:xfrm>
            <a:off x="1331258" y="2116476"/>
            <a:ext cx="7427313" cy="4068742"/>
          </a:xfrm>
        </p:spPr>
        <p:txBody>
          <a:bodyPr/>
          <a:lstStyle/>
          <a:p>
            <a:r>
              <a:rPr lang="en-GB" dirty="0"/>
              <a:t>NGO</a:t>
            </a:r>
          </a:p>
          <a:p>
            <a:r>
              <a:rPr lang="en-GB" dirty="0"/>
              <a:t>Parastatal organisations</a:t>
            </a:r>
          </a:p>
          <a:p>
            <a:pPr lvl="1"/>
            <a:r>
              <a:rPr lang="en-GB" dirty="0"/>
              <a:t>Civil defence</a:t>
            </a:r>
          </a:p>
          <a:p>
            <a:pPr lvl="1"/>
            <a:r>
              <a:rPr lang="en-GB" dirty="0"/>
              <a:t>Military</a:t>
            </a:r>
          </a:p>
          <a:p>
            <a:r>
              <a:rPr lang="en-GB" dirty="0"/>
              <a:t>Private companies</a:t>
            </a:r>
          </a:p>
          <a:p>
            <a:r>
              <a:rPr lang="en-GB" dirty="0"/>
              <a:t>All can do humanitarian work</a:t>
            </a:r>
          </a:p>
          <a:p>
            <a:r>
              <a:rPr lang="en-GB" dirty="0"/>
              <a:t>All can do commercial work</a:t>
            </a:r>
          </a:p>
        </p:txBody>
      </p:sp>
    </p:spTree>
    <p:extLst>
      <p:ext uri="{BB962C8B-B14F-4D97-AF65-F5344CB8AC3E}">
        <p14:creationId xmlns:p14="http://schemas.microsoft.com/office/powerpoint/2010/main" val="3694208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5C1B1-46A7-7021-4CB2-CE2753DEAD16}"/>
              </a:ext>
            </a:extLst>
          </p:cNvPr>
          <p:cNvSpPr>
            <a:spLocks noGrp="1"/>
          </p:cNvSpPr>
          <p:nvPr>
            <p:ph type="title"/>
          </p:nvPr>
        </p:nvSpPr>
        <p:spPr>
          <a:xfrm>
            <a:off x="5164282" y="365126"/>
            <a:ext cx="3594289" cy="618547"/>
          </a:xfrm>
        </p:spPr>
        <p:txBody>
          <a:bodyPr/>
          <a:lstStyle/>
          <a:p>
            <a:r>
              <a:rPr lang="en-US" dirty="0"/>
              <a:t>Commercial work</a:t>
            </a:r>
          </a:p>
        </p:txBody>
      </p:sp>
      <p:sp>
        <p:nvSpPr>
          <p:cNvPr id="5" name="Process 4">
            <a:extLst>
              <a:ext uri="{FF2B5EF4-FFF2-40B4-BE49-F238E27FC236}">
                <a16:creationId xmlns:a16="http://schemas.microsoft.com/office/drawing/2014/main" id="{1DB36FA1-91F5-A86C-21A4-7C17A131F0C4}"/>
              </a:ext>
            </a:extLst>
          </p:cNvPr>
          <p:cNvSpPr/>
          <p:nvPr/>
        </p:nvSpPr>
        <p:spPr>
          <a:xfrm>
            <a:off x="1278082" y="3025209"/>
            <a:ext cx="1205345" cy="807581"/>
          </a:xfrm>
          <a:prstGeom prst="flowChartProcess">
            <a:avLst/>
          </a:prstGeom>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Supplier</a:t>
            </a:r>
          </a:p>
        </p:txBody>
      </p:sp>
      <p:sp>
        <p:nvSpPr>
          <p:cNvPr id="6" name="Process 5">
            <a:extLst>
              <a:ext uri="{FF2B5EF4-FFF2-40B4-BE49-F238E27FC236}">
                <a16:creationId xmlns:a16="http://schemas.microsoft.com/office/drawing/2014/main" id="{15A3C682-96AF-C939-5016-B51DB943FBCB}"/>
              </a:ext>
            </a:extLst>
          </p:cNvPr>
          <p:cNvSpPr/>
          <p:nvPr/>
        </p:nvSpPr>
        <p:spPr>
          <a:xfrm>
            <a:off x="6660575" y="3025209"/>
            <a:ext cx="1205345" cy="807581"/>
          </a:xfrm>
          <a:prstGeom prst="flowChartProcess">
            <a:avLst/>
          </a:prstGeom>
          <a:solidFill>
            <a:srgbClr val="92D05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Customer</a:t>
            </a:r>
          </a:p>
        </p:txBody>
      </p:sp>
      <p:sp>
        <p:nvSpPr>
          <p:cNvPr id="7" name="Right Arrow 6">
            <a:extLst>
              <a:ext uri="{FF2B5EF4-FFF2-40B4-BE49-F238E27FC236}">
                <a16:creationId xmlns:a16="http://schemas.microsoft.com/office/drawing/2014/main" id="{8BDF62AE-9246-38D2-5347-A0C2C30D2656}"/>
              </a:ext>
            </a:extLst>
          </p:cNvPr>
          <p:cNvSpPr/>
          <p:nvPr/>
        </p:nvSpPr>
        <p:spPr>
          <a:xfrm>
            <a:off x="3023755" y="2888672"/>
            <a:ext cx="3096491" cy="618547"/>
          </a:xfrm>
          <a:prstGeom prst="righ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Service</a:t>
            </a:r>
          </a:p>
        </p:txBody>
      </p:sp>
      <p:sp>
        <p:nvSpPr>
          <p:cNvPr id="8" name="Left Arrow 7">
            <a:extLst>
              <a:ext uri="{FF2B5EF4-FFF2-40B4-BE49-F238E27FC236}">
                <a16:creationId xmlns:a16="http://schemas.microsoft.com/office/drawing/2014/main" id="{8932EEB1-30B0-BD68-A91C-D63648896577}"/>
              </a:ext>
            </a:extLst>
          </p:cNvPr>
          <p:cNvSpPr/>
          <p:nvPr/>
        </p:nvSpPr>
        <p:spPr>
          <a:xfrm>
            <a:off x="3023755" y="3428999"/>
            <a:ext cx="3096490" cy="588830"/>
          </a:xfrm>
          <a:prstGeom prst="lef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Payment</a:t>
            </a:r>
          </a:p>
        </p:txBody>
      </p:sp>
      <p:sp>
        <p:nvSpPr>
          <p:cNvPr id="9" name="TextBox 8">
            <a:extLst>
              <a:ext uri="{FF2B5EF4-FFF2-40B4-BE49-F238E27FC236}">
                <a16:creationId xmlns:a16="http://schemas.microsoft.com/office/drawing/2014/main" id="{AD57DDA4-D9EC-7CE4-6E6D-4F3CBBC29CD6}"/>
              </a:ext>
            </a:extLst>
          </p:cNvPr>
          <p:cNvSpPr txBox="1"/>
          <p:nvPr/>
        </p:nvSpPr>
        <p:spPr>
          <a:xfrm>
            <a:off x="3631623" y="4188824"/>
            <a:ext cx="1880754" cy="369332"/>
          </a:xfrm>
          <a:prstGeom prst="rect">
            <a:avLst/>
          </a:prstGeom>
          <a:noFill/>
        </p:spPr>
        <p:txBody>
          <a:bodyPr wrap="square" rtlCol="0">
            <a:spAutoFit/>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Exchange</a:t>
            </a:r>
          </a:p>
        </p:txBody>
      </p:sp>
      <p:sp>
        <p:nvSpPr>
          <p:cNvPr id="10" name="TextBox 9">
            <a:extLst>
              <a:ext uri="{FF2B5EF4-FFF2-40B4-BE49-F238E27FC236}">
                <a16:creationId xmlns:a16="http://schemas.microsoft.com/office/drawing/2014/main" id="{18BBC1DB-9579-304E-A6BF-52599E86241F}"/>
              </a:ext>
            </a:extLst>
          </p:cNvPr>
          <p:cNvSpPr txBox="1"/>
          <p:nvPr/>
        </p:nvSpPr>
        <p:spPr>
          <a:xfrm>
            <a:off x="3631623" y="4729151"/>
            <a:ext cx="1880754" cy="369332"/>
          </a:xfrm>
          <a:prstGeom prst="rect">
            <a:avLst/>
          </a:prstGeom>
          <a:noFill/>
        </p:spPr>
        <p:txBody>
          <a:bodyPr wrap="square" rtlCol="0">
            <a:spAutoFit/>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Market</a:t>
            </a:r>
          </a:p>
        </p:txBody>
      </p:sp>
    </p:spTree>
    <p:extLst>
      <p:ext uri="{BB962C8B-B14F-4D97-AF65-F5344CB8AC3E}">
        <p14:creationId xmlns:p14="http://schemas.microsoft.com/office/powerpoint/2010/main" val="314848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F9A6-309F-2328-F967-758A061E9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4324F-E91A-21D1-5631-EBDEF1FC52E7}"/>
              </a:ext>
            </a:extLst>
          </p:cNvPr>
          <p:cNvSpPr>
            <a:spLocks noGrp="1"/>
          </p:cNvSpPr>
          <p:nvPr>
            <p:ph type="title"/>
          </p:nvPr>
        </p:nvSpPr>
        <p:spPr>
          <a:xfrm>
            <a:off x="4572000" y="365126"/>
            <a:ext cx="4186571" cy="618547"/>
          </a:xfrm>
        </p:spPr>
        <p:txBody>
          <a:bodyPr/>
          <a:lstStyle/>
          <a:p>
            <a:r>
              <a:rPr lang="en-US" dirty="0"/>
              <a:t>Humanitarian work</a:t>
            </a:r>
          </a:p>
        </p:txBody>
      </p:sp>
      <p:sp>
        <p:nvSpPr>
          <p:cNvPr id="5" name="Process 4">
            <a:extLst>
              <a:ext uri="{FF2B5EF4-FFF2-40B4-BE49-F238E27FC236}">
                <a16:creationId xmlns:a16="http://schemas.microsoft.com/office/drawing/2014/main" id="{2D0A2C7D-4AB5-6396-2D99-8381783F79B6}"/>
              </a:ext>
            </a:extLst>
          </p:cNvPr>
          <p:cNvSpPr/>
          <p:nvPr/>
        </p:nvSpPr>
        <p:spPr>
          <a:xfrm>
            <a:off x="1278082" y="3025209"/>
            <a:ext cx="1205345" cy="807581"/>
          </a:xfrm>
          <a:prstGeom prst="flowChartProcess">
            <a:avLst/>
          </a:prstGeom>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Supplier</a:t>
            </a:r>
          </a:p>
        </p:txBody>
      </p:sp>
      <p:sp>
        <p:nvSpPr>
          <p:cNvPr id="6" name="Process 5">
            <a:extLst>
              <a:ext uri="{FF2B5EF4-FFF2-40B4-BE49-F238E27FC236}">
                <a16:creationId xmlns:a16="http://schemas.microsoft.com/office/drawing/2014/main" id="{B582EF92-D608-DBAE-211E-AE9B2C29E516}"/>
              </a:ext>
            </a:extLst>
          </p:cNvPr>
          <p:cNvSpPr/>
          <p:nvPr/>
        </p:nvSpPr>
        <p:spPr>
          <a:xfrm>
            <a:off x="6660575" y="3025209"/>
            <a:ext cx="1205345" cy="807581"/>
          </a:xfrm>
          <a:prstGeom prst="flowChartProcess">
            <a:avLst/>
          </a:prstGeom>
          <a:solidFill>
            <a:srgbClr val="92D05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Customer</a:t>
            </a:r>
          </a:p>
        </p:txBody>
      </p:sp>
      <p:sp>
        <p:nvSpPr>
          <p:cNvPr id="8" name="Left Arrow 7">
            <a:extLst>
              <a:ext uri="{FF2B5EF4-FFF2-40B4-BE49-F238E27FC236}">
                <a16:creationId xmlns:a16="http://schemas.microsoft.com/office/drawing/2014/main" id="{67D3AD50-59AA-F165-BDD7-A65512C6218E}"/>
              </a:ext>
            </a:extLst>
          </p:cNvPr>
          <p:cNvSpPr/>
          <p:nvPr/>
        </p:nvSpPr>
        <p:spPr>
          <a:xfrm>
            <a:off x="3023755" y="3428999"/>
            <a:ext cx="3096490" cy="588830"/>
          </a:xfrm>
          <a:prstGeom prst="lef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Payment</a:t>
            </a:r>
          </a:p>
        </p:txBody>
      </p:sp>
      <p:sp>
        <p:nvSpPr>
          <p:cNvPr id="3" name="Process 2">
            <a:extLst>
              <a:ext uri="{FF2B5EF4-FFF2-40B4-BE49-F238E27FC236}">
                <a16:creationId xmlns:a16="http://schemas.microsoft.com/office/drawing/2014/main" id="{5D1AE8A6-8D9C-B7F6-B247-905D7A42994F}"/>
              </a:ext>
            </a:extLst>
          </p:cNvPr>
          <p:cNvSpPr/>
          <p:nvPr/>
        </p:nvSpPr>
        <p:spPr>
          <a:xfrm>
            <a:off x="3969327" y="5685293"/>
            <a:ext cx="1205345" cy="807581"/>
          </a:xfrm>
          <a:prstGeom prst="flowChartProcess">
            <a:avLst/>
          </a:prstGeom>
          <a:solidFill>
            <a:srgbClr val="FFC0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Beneficiary</a:t>
            </a:r>
          </a:p>
        </p:txBody>
      </p:sp>
      <p:sp>
        <p:nvSpPr>
          <p:cNvPr id="7" name="Right Arrow 6">
            <a:extLst>
              <a:ext uri="{FF2B5EF4-FFF2-40B4-BE49-F238E27FC236}">
                <a16:creationId xmlns:a16="http://schemas.microsoft.com/office/drawing/2014/main" id="{A3284893-B336-B414-6F8E-DDC5F4CFBC01}"/>
              </a:ext>
            </a:extLst>
          </p:cNvPr>
          <p:cNvSpPr/>
          <p:nvPr/>
        </p:nvSpPr>
        <p:spPr>
          <a:xfrm rot="3008003">
            <a:off x="1805333" y="4368434"/>
            <a:ext cx="2737226" cy="618547"/>
          </a:xfrm>
          <a:prstGeom prst="righ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Service</a:t>
            </a:r>
          </a:p>
        </p:txBody>
      </p:sp>
      <p:sp>
        <p:nvSpPr>
          <p:cNvPr id="4" name="TextBox 3">
            <a:extLst>
              <a:ext uri="{FF2B5EF4-FFF2-40B4-BE49-F238E27FC236}">
                <a16:creationId xmlns:a16="http://schemas.microsoft.com/office/drawing/2014/main" id="{A1BD55BF-DCDA-A4E6-7C66-795DDDE46A20}"/>
              </a:ext>
            </a:extLst>
          </p:cNvPr>
          <p:cNvSpPr txBox="1"/>
          <p:nvPr/>
        </p:nvSpPr>
        <p:spPr>
          <a:xfrm>
            <a:off x="5574723" y="4677707"/>
            <a:ext cx="1880754" cy="369332"/>
          </a:xfrm>
          <a:prstGeom prst="rect">
            <a:avLst/>
          </a:prstGeom>
          <a:noFill/>
        </p:spPr>
        <p:txBody>
          <a:bodyPr wrap="square" rtlCol="0">
            <a:spAutoFit/>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Exchange?</a:t>
            </a:r>
          </a:p>
        </p:txBody>
      </p:sp>
      <p:sp>
        <p:nvSpPr>
          <p:cNvPr id="9" name="TextBox 8">
            <a:extLst>
              <a:ext uri="{FF2B5EF4-FFF2-40B4-BE49-F238E27FC236}">
                <a16:creationId xmlns:a16="http://schemas.microsoft.com/office/drawing/2014/main" id="{FA032C65-F3CC-8B01-5F72-3DB9EA7164BE}"/>
              </a:ext>
            </a:extLst>
          </p:cNvPr>
          <p:cNvSpPr txBox="1"/>
          <p:nvPr/>
        </p:nvSpPr>
        <p:spPr>
          <a:xfrm>
            <a:off x="5720198" y="5908784"/>
            <a:ext cx="1880754" cy="369332"/>
          </a:xfrm>
          <a:prstGeom prst="rect">
            <a:avLst/>
          </a:prstGeom>
          <a:noFill/>
        </p:spPr>
        <p:txBody>
          <a:bodyPr wrap="square" rtlCol="0">
            <a:spAutoFit/>
          </a:bodyP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“Market failure”</a:t>
            </a:r>
          </a:p>
        </p:txBody>
      </p:sp>
      <p:sp>
        <p:nvSpPr>
          <p:cNvPr id="10" name="Left Arrow 9">
            <a:extLst>
              <a:ext uri="{FF2B5EF4-FFF2-40B4-BE49-F238E27FC236}">
                <a16:creationId xmlns:a16="http://schemas.microsoft.com/office/drawing/2014/main" id="{F79A0FD3-081E-33ED-E5DE-C1A1D8395E43}"/>
              </a:ext>
            </a:extLst>
          </p:cNvPr>
          <p:cNvSpPr/>
          <p:nvPr/>
        </p:nvSpPr>
        <p:spPr>
          <a:xfrm rot="18473351">
            <a:off x="6998279" y="2400854"/>
            <a:ext cx="1205345" cy="588830"/>
          </a:xfrm>
          <a:prstGeom prst="leftArrow">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Donor</a:t>
            </a:r>
          </a:p>
        </p:txBody>
      </p:sp>
    </p:spTree>
    <p:extLst>
      <p:ext uri="{BB962C8B-B14F-4D97-AF65-F5344CB8AC3E}">
        <p14:creationId xmlns:p14="http://schemas.microsoft.com/office/powerpoint/2010/main" val="105044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righ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dissolv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3" grpId="0" animBg="1"/>
      <p:bldP spid="7" grpId="0" animBg="1"/>
      <p:bldP spid="4" grpId="0"/>
      <p:bldP spid="9"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47383-D895-2FB6-F8F8-259E30A15EAD}"/>
              </a:ext>
            </a:extLst>
          </p:cNvPr>
          <p:cNvSpPr>
            <a:spLocks noGrp="1"/>
          </p:cNvSpPr>
          <p:nvPr>
            <p:ph type="title"/>
          </p:nvPr>
        </p:nvSpPr>
        <p:spPr/>
        <p:txBody>
          <a:bodyPr>
            <a:normAutofit fontScale="90000"/>
          </a:bodyPr>
          <a:lstStyle/>
          <a:p>
            <a:r>
              <a:rPr lang="en-US" dirty="0"/>
              <a:t>Institutional framework</a:t>
            </a:r>
          </a:p>
        </p:txBody>
      </p:sp>
    </p:spTree>
    <p:extLst>
      <p:ext uri="{BB962C8B-B14F-4D97-AF65-F5344CB8AC3E}">
        <p14:creationId xmlns:p14="http://schemas.microsoft.com/office/powerpoint/2010/main" val="1450936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89647-3E2B-9E95-C69A-F8EBE7335073}"/>
              </a:ext>
            </a:extLst>
          </p:cNvPr>
          <p:cNvSpPr>
            <a:spLocks noGrp="1"/>
          </p:cNvSpPr>
          <p:nvPr>
            <p:ph type="title"/>
          </p:nvPr>
        </p:nvSpPr>
        <p:spPr>
          <a:xfrm>
            <a:off x="4291446" y="365126"/>
            <a:ext cx="4467126" cy="618547"/>
          </a:xfrm>
        </p:spPr>
        <p:txBody>
          <a:bodyPr/>
          <a:lstStyle/>
          <a:p>
            <a:r>
              <a:rPr lang="en-US" dirty="0"/>
              <a:t>Institutional </a:t>
            </a:r>
            <a:r>
              <a:rPr lang="en-US" dirty="0" err="1"/>
              <a:t>franework</a:t>
            </a:r>
            <a:endParaRPr lang="en-US" dirty="0"/>
          </a:p>
        </p:txBody>
      </p:sp>
      <p:sp>
        <p:nvSpPr>
          <p:cNvPr id="3" name="Content Placeholder 2">
            <a:extLst>
              <a:ext uri="{FF2B5EF4-FFF2-40B4-BE49-F238E27FC236}">
                <a16:creationId xmlns:a16="http://schemas.microsoft.com/office/drawing/2014/main" id="{B62237E5-D638-E326-7840-0FD0B6A10835}"/>
              </a:ext>
            </a:extLst>
          </p:cNvPr>
          <p:cNvSpPr>
            <a:spLocks noGrp="1"/>
          </p:cNvSpPr>
          <p:nvPr>
            <p:ph idx="1"/>
          </p:nvPr>
        </p:nvSpPr>
        <p:spPr>
          <a:xfrm>
            <a:off x="1331258" y="2094482"/>
            <a:ext cx="7812742" cy="4090736"/>
          </a:xfrm>
        </p:spPr>
        <p:txBody>
          <a:bodyPr/>
          <a:lstStyle/>
          <a:p>
            <a:r>
              <a:rPr lang="en-US" dirty="0"/>
              <a:t>Many variations</a:t>
            </a:r>
          </a:p>
          <a:p>
            <a:r>
              <a:rPr lang="en-US" dirty="0"/>
              <a:t>Some ‘legacy’ structures from early days</a:t>
            </a:r>
          </a:p>
          <a:p>
            <a:r>
              <a:rPr lang="en-US" dirty="0"/>
              <a:t>Generally three levels:</a:t>
            </a:r>
          </a:p>
          <a:p>
            <a:pPr lvl="1"/>
            <a:r>
              <a:rPr lang="en-US" dirty="0"/>
              <a:t>National mine action steering committee</a:t>
            </a:r>
          </a:p>
          <a:p>
            <a:pPr lvl="1"/>
            <a:r>
              <a:rPr lang="en-US" dirty="0"/>
              <a:t>National coordination body</a:t>
            </a:r>
          </a:p>
          <a:p>
            <a:pPr lvl="1"/>
            <a:r>
              <a:rPr lang="en-US" dirty="0"/>
              <a:t>Implementing agencies</a:t>
            </a:r>
          </a:p>
        </p:txBody>
      </p:sp>
    </p:spTree>
    <p:extLst>
      <p:ext uri="{BB962C8B-B14F-4D97-AF65-F5344CB8AC3E}">
        <p14:creationId xmlns:p14="http://schemas.microsoft.com/office/powerpoint/2010/main" val="1879758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roup 103">
            <a:extLst>
              <a:ext uri="{FF2B5EF4-FFF2-40B4-BE49-F238E27FC236}">
                <a16:creationId xmlns:a16="http://schemas.microsoft.com/office/drawing/2014/main" id="{E8273B1A-2EE4-C852-9FA9-AC7E8F7DFE3F}"/>
              </a:ext>
            </a:extLst>
          </p:cNvPr>
          <p:cNvGrpSpPr/>
          <p:nvPr/>
        </p:nvGrpSpPr>
        <p:grpSpPr>
          <a:xfrm>
            <a:off x="1501827" y="1404979"/>
            <a:ext cx="5369721" cy="3066853"/>
            <a:chOff x="1501827" y="1404979"/>
            <a:chExt cx="5369721" cy="3066853"/>
          </a:xfrm>
        </p:grpSpPr>
        <p:cxnSp>
          <p:nvCxnSpPr>
            <p:cNvPr id="20" name="Elbow Connector 19">
              <a:extLst>
                <a:ext uri="{FF2B5EF4-FFF2-40B4-BE49-F238E27FC236}">
                  <a16:creationId xmlns:a16="http://schemas.microsoft.com/office/drawing/2014/main" id="{00E07174-D16A-8054-CB4F-41203CCEC3AC}"/>
                </a:ext>
              </a:extLst>
            </p:cNvPr>
            <p:cNvCxnSpPr>
              <a:cxnSpLocks/>
            </p:cNvCxnSpPr>
            <p:nvPr/>
          </p:nvCxnSpPr>
          <p:spPr>
            <a:xfrm rot="5400000">
              <a:off x="1577400" y="1967351"/>
              <a:ext cx="568895" cy="197657"/>
            </a:xfrm>
            <a:prstGeom prst="bent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03" name="Group 102">
              <a:extLst>
                <a:ext uri="{FF2B5EF4-FFF2-40B4-BE49-F238E27FC236}">
                  <a16:creationId xmlns:a16="http://schemas.microsoft.com/office/drawing/2014/main" id="{D37F8875-AFFE-2657-21F8-B7ECB2E6511C}"/>
                </a:ext>
              </a:extLst>
            </p:cNvPr>
            <p:cNvGrpSpPr/>
            <p:nvPr/>
          </p:nvGrpSpPr>
          <p:grpSpPr>
            <a:xfrm>
              <a:off x="1501827" y="1404979"/>
              <a:ext cx="5369721" cy="3066853"/>
              <a:chOff x="1501827" y="1404979"/>
              <a:chExt cx="5369721" cy="3066853"/>
            </a:xfrm>
          </p:grpSpPr>
          <p:cxnSp>
            <p:nvCxnSpPr>
              <p:cNvPr id="21" name="Elbow Connector 20">
                <a:extLst>
                  <a:ext uri="{FF2B5EF4-FFF2-40B4-BE49-F238E27FC236}">
                    <a16:creationId xmlns:a16="http://schemas.microsoft.com/office/drawing/2014/main" id="{F394DC67-094E-D36B-7633-7F6199332D3E}"/>
                  </a:ext>
                </a:extLst>
              </p:cNvPr>
              <p:cNvCxnSpPr>
                <a:cxnSpLocks/>
              </p:cNvCxnSpPr>
              <p:nvPr/>
            </p:nvCxnSpPr>
            <p:spPr>
              <a:xfrm flipV="1">
                <a:off x="2069481" y="2574980"/>
                <a:ext cx="3799758" cy="1"/>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86FC13E2-C28A-6586-5491-8933A6DF84B8}"/>
                  </a:ext>
                </a:extLst>
              </p:cNvPr>
              <p:cNvCxnSpPr>
                <a:cxnSpLocks/>
              </p:cNvCxnSpPr>
              <p:nvPr/>
            </p:nvCxnSpPr>
            <p:spPr>
              <a:xfrm>
                <a:off x="2114754" y="1425425"/>
                <a:ext cx="3754486" cy="1149555"/>
              </a:xfrm>
              <a:prstGeom prst="bentConnector3">
                <a:avLst>
                  <a:gd name="adj1" fmla="val 18064"/>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Elbow Connector 23">
                <a:extLst>
                  <a:ext uri="{FF2B5EF4-FFF2-40B4-BE49-F238E27FC236}">
                    <a16:creationId xmlns:a16="http://schemas.microsoft.com/office/drawing/2014/main" id="{C0942424-85B2-E4AE-F2F6-51FEDF33203A}"/>
                  </a:ext>
                </a:extLst>
              </p:cNvPr>
              <p:cNvCxnSpPr>
                <a:cxnSpLocks/>
              </p:cNvCxnSpPr>
              <p:nvPr/>
            </p:nvCxnSpPr>
            <p:spPr>
              <a:xfrm rot="16200000" flipH="1">
                <a:off x="2606424" y="1955929"/>
                <a:ext cx="844984" cy="2531796"/>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Elbow Connector 24">
                <a:extLst>
                  <a:ext uri="{FF2B5EF4-FFF2-40B4-BE49-F238E27FC236}">
                    <a16:creationId xmlns:a16="http://schemas.microsoft.com/office/drawing/2014/main" id="{8F783805-DFEB-16A6-9070-550B72503948}"/>
                  </a:ext>
                </a:extLst>
              </p:cNvPr>
              <p:cNvCxnSpPr>
                <a:cxnSpLocks/>
              </p:cNvCxnSpPr>
              <p:nvPr/>
            </p:nvCxnSpPr>
            <p:spPr>
              <a:xfrm rot="10800000" flipH="1" flipV="1">
                <a:off x="1501827" y="1404979"/>
                <a:ext cx="3895659" cy="2463693"/>
              </a:xfrm>
              <a:prstGeom prst="bentConnector4">
                <a:avLst>
                  <a:gd name="adj1" fmla="val -5867"/>
                  <a:gd name="adj2" fmla="val 12469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1B0A7EC3-927D-C75F-AA91-99558DD316B4}"/>
                  </a:ext>
                </a:extLst>
              </p:cNvPr>
              <p:cNvCxnSpPr>
                <a:cxnSpLocks/>
              </p:cNvCxnSpPr>
              <p:nvPr/>
            </p:nvCxnSpPr>
            <p:spPr>
              <a:xfrm flipV="1">
                <a:off x="5372193" y="3857685"/>
                <a:ext cx="803509" cy="614147"/>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F8019B68-7FC5-D6D3-CC0E-5A20A711ABC6}"/>
                  </a:ext>
                </a:extLst>
              </p:cNvPr>
              <p:cNvCxnSpPr>
                <a:cxnSpLocks/>
              </p:cNvCxnSpPr>
              <p:nvPr/>
            </p:nvCxnSpPr>
            <p:spPr>
              <a:xfrm rot="16200000" flipH="1">
                <a:off x="1605907" y="2991734"/>
                <a:ext cx="1637207" cy="1322990"/>
              </a:xfrm>
              <a:prstGeom prst="bentConnector3">
                <a:avLst>
                  <a:gd name="adj1" fmla="val 4969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Elbow Connector 40">
                <a:extLst>
                  <a:ext uri="{FF2B5EF4-FFF2-40B4-BE49-F238E27FC236}">
                    <a16:creationId xmlns:a16="http://schemas.microsoft.com/office/drawing/2014/main" id="{F9A824D1-4CBE-F5FC-CE03-6C56EC7DF0A9}"/>
                  </a:ext>
                </a:extLst>
              </p:cNvPr>
              <p:cNvCxnSpPr>
                <a:cxnSpLocks/>
              </p:cNvCxnSpPr>
              <p:nvPr/>
            </p:nvCxnSpPr>
            <p:spPr>
              <a:xfrm flipV="1">
                <a:off x="6068039" y="3857685"/>
                <a:ext cx="803509" cy="614147"/>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grpSp>
        <p:nvGrpSpPr>
          <p:cNvPr id="84" name="Group 83">
            <a:extLst>
              <a:ext uri="{FF2B5EF4-FFF2-40B4-BE49-F238E27FC236}">
                <a16:creationId xmlns:a16="http://schemas.microsoft.com/office/drawing/2014/main" id="{29917F74-45BA-2A8C-270B-15A5D92A70E1}"/>
              </a:ext>
            </a:extLst>
          </p:cNvPr>
          <p:cNvGrpSpPr/>
          <p:nvPr/>
        </p:nvGrpSpPr>
        <p:grpSpPr>
          <a:xfrm>
            <a:off x="4601277" y="1721405"/>
            <a:ext cx="3137648" cy="1698560"/>
            <a:chOff x="4601277" y="1721405"/>
            <a:chExt cx="3137648" cy="1698560"/>
          </a:xfrm>
        </p:grpSpPr>
        <p:cxnSp>
          <p:nvCxnSpPr>
            <p:cNvPr id="28" name="Straight Arrow Connector 27">
              <a:extLst>
                <a:ext uri="{FF2B5EF4-FFF2-40B4-BE49-F238E27FC236}">
                  <a16:creationId xmlns:a16="http://schemas.microsoft.com/office/drawing/2014/main" id="{5EA9DF38-30D7-88FF-2016-88733B2DCD23}"/>
                </a:ext>
              </a:extLst>
            </p:cNvPr>
            <p:cNvCxnSpPr>
              <a:cxnSpLocks/>
            </p:cNvCxnSpPr>
            <p:nvPr/>
          </p:nvCxnSpPr>
          <p:spPr>
            <a:xfrm>
              <a:off x="6193697" y="1721405"/>
              <a:ext cx="0" cy="62922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CD6B954-71BC-6FDD-D016-5A42E0807569}"/>
                </a:ext>
              </a:extLst>
            </p:cNvPr>
            <p:cNvCxnSpPr>
              <a:cxnSpLocks/>
            </p:cNvCxnSpPr>
            <p:nvPr/>
          </p:nvCxnSpPr>
          <p:spPr>
            <a:xfrm>
              <a:off x="6175702" y="2810323"/>
              <a:ext cx="0" cy="59865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CA5AEDC-109E-D6C1-222B-99C2056C24D0}"/>
                </a:ext>
              </a:extLst>
            </p:cNvPr>
            <p:cNvCxnSpPr>
              <a:cxnSpLocks/>
            </p:cNvCxnSpPr>
            <p:nvPr/>
          </p:nvCxnSpPr>
          <p:spPr>
            <a:xfrm rot="5400000">
              <a:off x="5481774" y="2726036"/>
              <a:ext cx="609642" cy="778215"/>
            </a:xfrm>
            <a:prstGeom prst="bentConnector3">
              <a:avLst>
                <a:gd name="adj1" fmla="val 50000"/>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Elbow Connector 31">
              <a:extLst>
                <a:ext uri="{FF2B5EF4-FFF2-40B4-BE49-F238E27FC236}">
                  <a16:creationId xmlns:a16="http://schemas.microsoft.com/office/drawing/2014/main" id="{4F21F2C3-6E64-B3D4-8571-A560DE6EDBB7}"/>
                </a:ext>
              </a:extLst>
            </p:cNvPr>
            <p:cNvCxnSpPr>
              <a:cxnSpLocks/>
            </p:cNvCxnSpPr>
            <p:nvPr/>
          </p:nvCxnSpPr>
          <p:spPr>
            <a:xfrm rot="10800000" flipV="1">
              <a:off x="4601277" y="3115144"/>
              <a:ext cx="796211" cy="304821"/>
            </a:xfrm>
            <a:prstGeom prst="bentConnector2">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Elbow Connector 32">
              <a:extLst>
                <a:ext uri="{FF2B5EF4-FFF2-40B4-BE49-F238E27FC236}">
                  <a16:creationId xmlns:a16="http://schemas.microsoft.com/office/drawing/2014/main" id="{AE5397F1-18DF-A659-C392-D803908139C6}"/>
                </a:ext>
              </a:extLst>
            </p:cNvPr>
            <p:cNvCxnSpPr>
              <a:cxnSpLocks/>
            </p:cNvCxnSpPr>
            <p:nvPr/>
          </p:nvCxnSpPr>
          <p:spPr>
            <a:xfrm rot="16200000" flipH="1">
              <a:off x="6270753" y="2715271"/>
              <a:ext cx="588110" cy="778214"/>
            </a:xfrm>
            <a:prstGeom prst="bentConnector3">
              <a:avLst>
                <a:gd name="adj1" fmla="val 50000"/>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Elbow Connector 33">
              <a:extLst>
                <a:ext uri="{FF2B5EF4-FFF2-40B4-BE49-F238E27FC236}">
                  <a16:creationId xmlns:a16="http://schemas.microsoft.com/office/drawing/2014/main" id="{10064EA4-D07F-B4B8-4ABE-E94A9BFD5498}"/>
                </a:ext>
              </a:extLst>
            </p:cNvPr>
            <p:cNvCxnSpPr>
              <a:cxnSpLocks/>
            </p:cNvCxnSpPr>
            <p:nvPr/>
          </p:nvCxnSpPr>
          <p:spPr>
            <a:xfrm>
              <a:off x="6899899" y="3104377"/>
              <a:ext cx="839026" cy="299550"/>
            </a:xfrm>
            <a:prstGeom prst="bentConnector2">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 name="Rectangle 3">
            <a:extLst>
              <a:ext uri="{FF2B5EF4-FFF2-40B4-BE49-F238E27FC236}">
                <a16:creationId xmlns:a16="http://schemas.microsoft.com/office/drawing/2014/main" id="{24863F58-2FD5-8717-DA39-303AD9801474}"/>
              </a:ext>
            </a:extLst>
          </p:cNvPr>
          <p:cNvSpPr/>
          <p:nvPr/>
        </p:nvSpPr>
        <p:spPr>
          <a:xfrm>
            <a:off x="6640427" y="3392940"/>
            <a:ext cx="612926" cy="459695"/>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nvGrpSpPr>
          <p:cNvPr id="6" name="Group 5">
            <a:extLst>
              <a:ext uri="{FF2B5EF4-FFF2-40B4-BE49-F238E27FC236}">
                <a16:creationId xmlns:a16="http://schemas.microsoft.com/office/drawing/2014/main" id="{588FF6B7-69B4-09F8-90EB-307C4069C430}"/>
              </a:ext>
            </a:extLst>
          </p:cNvPr>
          <p:cNvGrpSpPr/>
          <p:nvPr/>
        </p:nvGrpSpPr>
        <p:grpSpPr>
          <a:xfrm>
            <a:off x="3319576" y="683260"/>
            <a:ext cx="5700928" cy="1171417"/>
            <a:chOff x="3196392" y="0"/>
            <a:chExt cx="5701507" cy="1171437"/>
          </a:xfrm>
        </p:grpSpPr>
        <p:grpSp>
          <p:nvGrpSpPr>
            <p:cNvPr id="56" name="Group 55">
              <a:extLst>
                <a:ext uri="{FF2B5EF4-FFF2-40B4-BE49-F238E27FC236}">
                  <a16:creationId xmlns:a16="http://schemas.microsoft.com/office/drawing/2014/main" id="{36A836AE-314C-002A-CFE0-62FB4F86FED9}"/>
                </a:ext>
              </a:extLst>
            </p:cNvPr>
            <p:cNvGrpSpPr/>
            <p:nvPr/>
          </p:nvGrpSpPr>
          <p:grpSpPr>
            <a:xfrm>
              <a:off x="3196392" y="192574"/>
              <a:ext cx="5701507" cy="978863"/>
              <a:chOff x="3196392" y="192574"/>
              <a:chExt cx="5701507" cy="978863"/>
            </a:xfrm>
          </p:grpSpPr>
          <p:sp>
            <p:nvSpPr>
              <p:cNvPr id="58" name="Rounded Rectangle 57">
                <a:extLst>
                  <a:ext uri="{FF2B5EF4-FFF2-40B4-BE49-F238E27FC236}">
                    <a16:creationId xmlns:a16="http://schemas.microsoft.com/office/drawing/2014/main" id="{7FA52FA9-5B70-F905-C5B3-5214D90FA08D}"/>
                  </a:ext>
                </a:extLst>
              </p:cNvPr>
              <p:cNvSpPr/>
              <p:nvPr/>
            </p:nvSpPr>
            <p:spPr>
              <a:xfrm>
                <a:off x="3196392" y="192574"/>
                <a:ext cx="5701507" cy="9788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nvGrpSpPr>
              <p:cNvPr id="59" name="Group 58">
                <a:extLst>
                  <a:ext uri="{FF2B5EF4-FFF2-40B4-BE49-F238E27FC236}">
                    <a16:creationId xmlns:a16="http://schemas.microsoft.com/office/drawing/2014/main" id="{1334FB12-DFA2-580B-CF64-B0856B11811A}"/>
                  </a:ext>
                </a:extLst>
              </p:cNvPr>
              <p:cNvGrpSpPr/>
              <p:nvPr/>
            </p:nvGrpSpPr>
            <p:grpSpPr>
              <a:xfrm>
                <a:off x="3390038" y="447039"/>
                <a:ext cx="5321637" cy="470692"/>
                <a:chOff x="3390038" y="447039"/>
                <a:chExt cx="5321637" cy="470692"/>
              </a:xfrm>
            </p:grpSpPr>
            <p:grpSp>
              <p:nvGrpSpPr>
                <p:cNvPr id="60" name="Group 59">
                  <a:extLst>
                    <a:ext uri="{FF2B5EF4-FFF2-40B4-BE49-F238E27FC236}">
                      <a16:creationId xmlns:a16="http://schemas.microsoft.com/office/drawing/2014/main" id="{EC923F78-D177-D81D-2442-F2D4C352ECF8}"/>
                    </a:ext>
                  </a:extLst>
                </p:cNvPr>
                <p:cNvGrpSpPr/>
                <p:nvPr/>
              </p:nvGrpSpPr>
              <p:grpSpPr>
                <a:xfrm>
                  <a:off x="3390038" y="458026"/>
                  <a:ext cx="612988" cy="459703"/>
                  <a:chOff x="3390038" y="458026"/>
                  <a:chExt cx="3217246" cy="2412736"/>
                </a:xfrm>
              </p:grpSpPr>
              <p:sp>
                <p:nvSpPr>
                  <p:cNvPr id="79" name="Rectangle 78">
                    <a:extLst>
                      <a:ext uri="{FF2B5EF4-FFF2-40B4-BE49-F238E27FC236}">
                        <a16:creationId xmlns:a16="http://schemas.microsoft.com/office/drawing/2014/main" id="{B1F768A5-B2A0-9AAA-0C46-3A0215B264F5}"/>
                      </a:ext>
                    </a:extLst>
                  </p:cNvPr>
                  <p:cNvSpPr/>
                  <p:nvPr/>
                </p:nvSpPr>
                <p:spPr>
                  <a:xfrm>
                    <a:off x="3390038" y="458026"/>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80" name="Rectangle 79">
                    <a:extLst>
                      <a:ext uri="{FF2B5EF4-FFF2-40B4-BE49-F238E27FC236}">
                        <a16:creationId xmlns:a16="http://schemas.microsoft.com/office/drawing/2014/main" id="{E0AC4859-54C3-D0A6-40C0-CC7123829CC0}"/>
                      </a:ext>
                    </a:extLst>
                  </p:cNvPr>
                  <p:cNvSpPr/>
                  <p:nvPr/>
                </p:nvSpPr>
                <p:spPr>
                  <a:xfrm>
                    <a:off x="3390040" y="1664394"/>
                    <a:ext cx="3217244" cy="120636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nvGrpSpPr>
                <p:cNvPr id="61" name="Group 60">
                  <a:extLst>
                    <a:ext uri="{FF2B5EF4-FFF2-40B4-BE49-F238E27FC236}">
                      <a16:creationId xmlns:a16="http://schemas.microsoft.com/office/drawing/2014/main" id="{0526B086-8B6E-6793-E4B2-C471B3819569}"/>
                    </a:ext>
                  </a:extLst>
                </p:cNvPr>
                <p:cNvGrpSpPr/>
                <p:nvPr/>
              </p:nvGrpSpPr>
              <p:grpSpPr>
                <a:xfrm>
                  <a:off x="8098687" y="447039"/>
                  <a:ext cx="612988" cy="459703"/>
                  <a:chOff x="8098687" y="447039"/>
                  <a:chExt cx="3217246" cy="2412736"/>
                </a:xfrm>
              </p:grpSpPr>
              <p:sp>
                <p:nvSpPr>
                  <p:cNvPr id="77" name="Rectangle 76">
                    <a:extLst>
                      <a:ext uri="{FF2B5EF4-FFF2-40B4-BE49-F238E27FC236}">
                        <a16:creationId xmlns:a16="http://schemas.microsoft.com/office/drawing/2014/main" id="{EB4DD475-2B0E-540C-8682-525ECDBA47F1}"/>
                      </a:ext>
                    </a:extLst>
                  </p:cNvPr>
                  <p:cNvSpPr/>
                  <p:nvPr/>
                </p:nvSpPr>
                <p:spPr>
                  <a:xfrm>
                    <a:off x="8098687" y="447039"/>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78" name="Rectangle 77">
                    <a:extLst>
                      <a:ext uri="{FF2B5EF4-FFF2-40B4-BE49-F238E27FC236}">
                        <a16:creationId xmlns:a16="http://schemas.microsoft.com/office/drawing/2014/main" id="{B711E016-451B-1B92-1759-BC62B09DCB27}"/>
                      </a:ext>
                    </a:extLst>
                  </p:cNvPr>
                  <p:cNvSpPr/>
                  <p:nvPr/>
                </p:nvSpPr>
                <p:spPr>
                  <a:xfrm>
                    <a:off x="8098689" y="1653407"/>
                    <a:ext cx="3217244" cy="120636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nvGrpSpPr>
                <p:cNvPr id="62" name="Group 61">
                  <a:extLst>
                    <a:ext uri="{FF2B5EF4-FFF2-40B4-BE49-F238E27FC236}">
                      <a16:creationId xmlns:a16="http://schemas.microsoft.com/office/drawing/2014/main" id="{BABFCFA0-A380-3F34-41DD-AC8441D1B1D0}"/>
                    </a:ext>
                  </a:extLst>
                </p:cNvPr>
                <p:cNvGrpSpPr/>
                <p:nvPr/>
              </p:nvGrpSpPr>
              <p:grpSpPr>
                <a:xfrm>
                  <a:off x="7309696" y="458026"/>
                  <a:ext cx="612988" cy="459703"/>
                  <a:chOff x="7309696" y="458026"/>
                  <a:chExt cx="3217246" cy="2412736"/>
                </a:xfrm>
              </p:grpSpPr>
              <p:sp>
                <p:nvSpPr>
                  <p:cNvPr id="75" name="Rectangle 74">
                    <a:extLst>
                      <a:ext uri="{FF2B5EF4-FFF2-40B4-BE49-F238E27FC236}">
                        <a16:creationId xmlns:a16="http://schemas.microsoft.com/office/drawing/2014/main" id="{93706237-E472-88DC-5D39-CEF6CDDB74EC}"/>
                      </a:ext>
                    </a:extLst>
                  </p:cNvPr>
                  <p:cNvSpPr/>
                  <p:nvPr/>
                </p:nvSpPr>
                <p:spPr>
                  <a:xfrm>
                    <a:off x="7309696" y="458026"/>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76" name="Rectangle 75">
                    <a:extLst>
                      <a:ext uri="{FF2B5EF4-FFF2-40B4-BE49-F238E27FC236}">
                        <a16:creationId xmlns:a16="http://schemas.microsoft.com/office/drawing/2014/main" id="{778D2DD5-9D4D-92C9-EE18-E912B845AA7F}"/>
                      </a:ext>
                    </a:extLst>
                  </p:cNvPr>
                  <p:cNvSpPr/>
                  <p:nvPr/>
                </p:nvSpPr>
                <p:spPr>
                  <a:xfrm>
                    <a:off x="7309698" y="1664394"/>
                    <a:ext cx="3217244" cy="120636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nvGrpSpPr>
                <p:cNvPr id="63" name="Group 62">
                  <a:extLst>
                    <a:ext uri="{FF2B5EF4-FFF2-40B4-BE49-F238E27FC236}">
                      <a16:creationId xmlns:a16="http://schemas.microsoft.com/office/drawing/2014/main" id="{9E2A3772-1238-9989-BDBD-0E25164746AC}"/>
                    </a:ext>
                  </a:extLst>
                </p:cNvPr>
                <p:cNvGrpSpPr/>
                <p:nvPr/>
              </p:nvGrpSpPr>
              <p:grpSpPr>
                <a:xfrm>
                  <a:off x="6520705" y="458026"/>
                  <a:ext cx="612988" cy="459704"/>
                  <a:chOff x="6520705" y="458026"/>
                  <a:chExt cx="3217246" cy="2412742"/>
                </a:xfrm>
              </p:grpSpPr>
              <p:sp>
                <p:nvSpPr>
                  <p:cNvPr id="73" name="Rectangle 72">
                    <a:extLst>
                      <a:ext uri="{FF2B5EF4-FFF2-40B4-BE49-F238E27FC236}">
                        <a16:creationId xmlns:a16="http://schemas.microsoft.com/office/drawing/2014/main" id="{105F9661-3208-30D4-5CA3-1EF110BED145}"/>
                      </a:ext>
                    </a:extLst>
                  </p:cNvPr>
                  <p:cNvSpPr/>
                  <p:nvPr/>
                </p:nvSpPr>
                <p:spPr>
                  <a:xfrm>
                    <a:off x="6520705" y="458026"/>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74" name="Rectangle 73">
                    <a:extLst>
                      <a:ext uri="{FF2B5EF4-FFF2-40B4-BE49-F238E27FC236}">
                        <a16:creationId xmlns:a16="http://schemas.microsoft.com/office/drawing/2014/main" id="{BB75A813-01D7-42E4-29A8-0B557475051D}"/>
                      </a:ext>
                    </a:extLst>
                  </p:cNvPr>
                  <p:cNvSpPr/>
                  <p:nvPr/>
                </p:nvSpPr>
                <p:spPr>
                  <a:xfrm>
                    <a:off x="6520705" y="1664397"/>
                    <a:ext cx="3217246" cy="1206371"/>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nvGrpSpPr>
                <p:cNvPr id="64" name="Group 63">
                  <a:extLst>
                    <a:ext uri="{FF2B5EF4-FFF2-40B4-BE49-F238E27FC236}">
                      <a16:creationId xmlns:a16="http://schemas.microsoft.com/office/drawing/2014/main" id="{41616334-E2C6-C08F-B752-744374A56230}"/>
                    </a:ext>
                  </a:extLst>
                </p:cNvPr>
                <p:cNvGrpSpPr/>
                <p:nvPr/>
              </p:nvGrpSpPr>
              <p:grpSpPr>
                <a:xfrm>
                  <a:off x="4179029" y="458027"/>
                  <a:ext cx="612988" cy="459703"/>
                  <a:chOff x="4179029" y="458027"/>
                  <a:chExt cx="3217246" cy="2412736"/>
                </a:xfrm>
              </p:grpSpPr>
              <p:sp>
                <p:nvSpPr>
                  <p:cNvPr id="71" name="Rectangle 70">
                    <a:extLst>
                      <a:ext uri="{FF2B5EF4-FFF2-40B4-BE49-F238E27FC236}">
                        <a16:creationId xmlns:a16="http://schemas.microsoft.com/office/drawing/2014/main" id="{31B04305-4BCE-A4D3-9632-BA8CC89B6DE0}"/>
                      </a:ext>
                    </a:extLst>
                  </p:cNvPr>
                  <p:cNvSpPr/>
                  <p:nvPr/>
                </p:nvSpPr>
                <p:spPr>
                  <a:xfrm>
                    <a:off x="4179029" y="458027"/>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72" name="Rectangle 71">
                    <a:extLst>
                      <a:ext uri="{FF2B5EF4-FFF2-40B4-BE49-F238E27FC236}">
                        <a16:creationId xmlns:a16="http://schemas.microsoft.com/office/drawing/2014/main" id="{F1C68945-16FC-1457-8835-DD215773FFC6}"/>
                      </a:ext>
                    </a:extLst>
                  </p:cNvPr>
                  <p:cNvSpPr/>
                  <p:nvPr/>
                </p:nvSpPr>
                <p:spPr>
                  <a:xfrm>
                    <a:off x="4179031" y="1664395"/>
                    <a:ext cx="3217244" cy="120636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nvGrpSpPr>
                <p:cNvPr id="65" name="Group 64">
                  <a:extLst>
                    <a:ext uri="{FF2B5EF4-FFF2-40B4-BE49-F238E27FC236}">
                      <a16:creationId xmlns:a16="http://schemas.microsoft.com/office/drawing/2014/main" id="{FAD3C143-90CB-A6C7-98C2-261B983FC300}"/>
                    </a:ext>
                  </a:extLst>
                </p:cNvPr>
                <p:cNvGrpSpPr/>
                <p:nvPr/>
              </p:nvGrpSpPr>
              <p:grpSpPr>
                <a:xfrm>
                  <a:off x="4942723" y="458027"/>
                  <a:ext cx="612988" cy="459703"/>
                  <a:chOff x="4942723" y="458027"/>
                  <a:chExt cx="3217246" cy="2412736"/>
                </a:xfrm>
              </p:grpSpPr>
              <p:sp>
                <p:nvSpPr>
                  <p:cNvPr id="69" name="Rectangle 68">
                    <a:extLst>
                      <a:ext uri="{FF2B5EF4-FFF2-40B4-BE49-F238E27FC236}">
                        <a16:creationId xmlns:a16="http://schemas.microsoft.com/office/drawing/2014/main" id="{E8DF5D92-66BF-281B-6DDA-9D496855A5EC}"/>
                      </a:ext>
                    </a:extLst>
                  </p:cNvPr>
                  <p:cNvSpPr/>
                  <p:nvPr/>
                </p:nvSpPr>
                <p:spPr>
                  <a:xfrm>
                    <a:off x="4942723" y="458027"/>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70" name="Rectangle 69">
                    <a:extLst>
                      <a:ext uri="{FF2B5EF4-FFF2-40B4-BE49-F238E27FC236}">
                        <a16:creationId xmlns:a16="http://schemas.microsoft.com/office/drawing/2014/main" id="{D9D06B13-5E85-C72F-D433-DEEF848EE4EA}"/>
                      </a:ext>
                    </a:extLst>
                  </p:cNvPr>
                  <p:cNvSpPr/>
                  <p:nvPr/>
                </p:nvSpPr>
                <p:spPr>
                  <a:xfrm>
                    <a:off x="4942725" y="1664395"/>
                    <a:ext cx="3217244" cy="120636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nvGrpSpPr>
                <p:cNvPr id="66" name="Group 65">
                  <a:extLst>
                    <a:ext uri="{FF2B5EF4-FFF2-40B4-BE49-F238E27FC236}">
                      <a16:creationId xmlns:a16="http://schemas.microsoft.com/office/drawing/2014/main" id="{5EE85DE5-7BBD-A754-3BD9-7F87C62D8A85}"/>
                    </a:ext>
                  </a:extLst>
                </p:cNvPr>
                <p:cNvGrpSpPr/>
                <p:nvPr/>
              </p:nvGrpSpPr>
              <p:grpSpPr>
                <a:xfrm>
                  <a:off x="5731714" y="458028"/>
                  <a:ext cx="612988" cy="459703"/>
                  <a:chOff x="5731714" y="458028"/>
                  <a:chExt cx="3217246" cy="2412736"/>
                </a:xfrm>
              </p:grpSpPr>
              <p:sp>
                <p:nvSpPr>
                  <p:cNvPr id="67" name="Rectangle 66">
                    <a:extLst>
                      <a:ext uri="{FF2B5EF4-FFF2-40B4-BE49-F238E27FC236}">
                        <a16:creationId xmlns:a16="http://schemas.microsoft.com/office/drawing/2014/main" id="{D9191E36-D468-8333-3F0D-148274B09BAA}"/>
                      </a:ext>
                    </a:extLst>
                  </p:cNvPr>
                  <p:cNvSpPr/>
                  <p:nvPr/>
                </p:nvSpPr>
                <p:spPr>
                  <a:xfrm>
                    <a:off x="5731714" y="458028"/>
                    <a:ext cx="3217245" cy="241273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68" name="Rectangle 67">
                    <a:extLst>
                      <a:ext uri="{FF2B5EF4-FFF2-40B4-BE49-F238E27FC236}">
                        <a16:creationId xmlns:a16="http://schemas.microsoft.com/office/drawing/2014/main" id="{D334E8FA-DE7A-BCBD-7DD5-F277ED7CEE7A}"/>
                      </a:ext>
                    </a:extLst>
                  </p:cNvPr>
                  <p:cNvSpPr/>
                  <p:nvPr/>
                </p:nvSpPr>
                <p:spPr>
                  <a:xfrm>
                    <a:off x="5731716" y="1664396"/>
                    <a:ext cx="3217244" cy="120636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grpSp>
        </p:grpSp>
        <p:sp>
          <p:nvSpPr>
            <p:cNvPr id="57" name="TextBox 42">
              <a:extLst>
                <a:ext uri="{FF2B5EF4-FFF2-40B4-BE49-F238E27FC236}">
                  <a16:creationId xmlns:a16="http://schemas.microsoft.com/office/drawing/2014/main" id="{3EB412D4-8FC6-5EAD-1A69-2B1344C6FDC3}"/>
                </a:ext>
              </a:extLst>
            </p:cNvPr>
            <p:cNvSpPr txBox="1"/>
            <p:nvPr/>
          </p:nvSpPr>
          <p:spPr>
            <a:xfrm>
              <a:off x="4977571" y="0"/>
              <a:ext cx="2138112" cy="440063"/>
            </a:xfrm>
            <a:prstGeom prst="rect">
              <a:avLst/>
            </a:prstGeom>
            <a:solidFill>
              <a:schemeClr val="bg1"/>
            </a:solidFill>
          </p:spPr>
          <p:txBody>
            <a:bodyPr wrap="square" rtlCol="0">
              <a:spAutoFit/>
            </a:bodyPr>
            <a:lstStyle/>
            <a:p>
              <a:pPr algn="ct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Steering committee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a:p>
              <a:pPr algn="ct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(with various ministries)</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grpSp>
      <p:sp>
        <p:nvSpPr>
          <p:cNvPr id="7" name="Rectangle 6">
            <a:extLst>
              <a:ext uri="{FF2B5EF4-FFF2-40B4-BE49-F238E27FC236}">
                <a16:creationId xmlns:a16="http://schemas.microsoft.com/office/drawing/2014/main" id="{7C641078-9B89-9D37-E6B6-FDC9FE5DA126}"/>
              </a:ext>
            </a:extLst>
          </p:cNvPr>
          <p:cNvSpPr/>
          <p:nvPr/>
        </p:nvSpPr>
        <p:spPr>
          <a:xfrm>
            <a:off x="5869239" y="3408977"/>
            <a:ext cx="612926" cy="448708"/>
          </a:xfrm>
          <a:prstGeom prst="rect">
            <a:avLst/>
          </a:prstGeom>
          <a:solidFill>
            <a:srgbClr val="FFDD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8" name="Rectangle 7">
            <a:extLst>
              <a:ext uri="{FF2B5EF4-FFF2-40B4-BE49-F238E27FC236}">
                <a16:creationId xmlns:a16="http://schemas.microsoft.com/office/drawing/2014/main" id="{7760D12F-E1E6-E1A2-D08F-0624DD71AF83}"/>
              </a:ext>
            </a:extLst>
          </p:cNvPr>
          <p:cNvSpPr/>
          <p:nvPr/>
        </p:nvSpPr>
        <p:spPr>
          <a:xfrm>
            <a:off x="7432462" y="3403927"/>
            <a:ext cx="612926" cy="448708"/>
          </a:xfrm>
          <a:prstGeom prst="rect">
            <a:avLst/>
          </a:prstGeom>
          <a:solidFill>
            <a:srgbClr val="0057B7"/>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3" name="Rectangle 12">
            <a:extLst>
              <a:ext uri="{FF2B5EF4-FFF2-40B4-BE49-F238E27FC236}">
                <a16:creationId xmlns:a16="http://schemas.microsoft.com/office/drawing/2014/main" id="{2FC5F18F-8D4F-EA1D-DFD7-0FB80BB08D70}"/>
              </a:ext>
            </a:extLst>
          </p:cNvPr>
          <p:cNvSpPr/>
          <p:nvPr/>
        </p:nvSpPr>
        <p:spPr>
          <a:xfrm>
            <a:off x="1456556" y="2350627"/>
            <a:ext cx="612926" cy="448708"/>
          </a:xfrm>
          <a:prstGeom prst="rect">
            <a:avLst/>
          </a:prstGeom>
          <a:solidFill>
            <a:srgbClr val="5B92E5"/>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4" name="Rectangle 13">
            <a:extLst>
              <a:ext uri="{FF2B5EF4-FFF2-40B4-BE49-F238E27FC236}">
                <a16:creationId xmlns:a16="http://schemas.microsoft.com/office/drawing/2014/main" id="{EB874F51-1595-0914-BD91-58458FF38485}"/>
              </a:ext>
            </a:extLst>
          </p:cNvPr>
          <p:cNvSpPr/>
          <p:nvPr/>
        </p:nvSpPr>
        <p:spPr>
          <a:xfrm>
            <a:off x="4294814" y="3419965"/>
            <a:ext cx="612926" cy="448708"/>
          </a:xfrm>
          <a:prstGeom prst="rect">
            <a:avLst/>
          </a:prstGeom>
          <a:solidFill>
            <a:srgbClr val="00B05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5" name="Rectangle 14">
            <a:extLst>
              <a:ext uri="{FF2B5EF4-FFF2-40B4-BE49-F238E27FC236}">
                <a16:creationId xmlns:a16="http://schemas.microsoft.com/office/drawing/2014/main" id="{E6255F2A-A06C-00EE-CD0C-FE5EF68BCA5D}"/>
              </a:ext>
            </a:extLst>
          </p:cNvPr>
          <p:cNvSpPr/>
          <p:nvPr/>
        </p:nvSpPr>
        <p:spPr>
          <a:xfrm>
            <a:off x="5091024" y="3419965"/>
            <a:ext cx="612926" cy="448708"/>
          </a:xfrm>
          <a:prstGeom prst="rect">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6" name="Rectangle 15">
            <a:extLst>
              <a:ext uri="{FF2B5EF4-FFF2-40B4-BE49-F238E27FC236}">
                <a16:creationId xmlns:a16="http://schemas.microsoft.com/office/drawing/2014/main" id="{728BB56C-FB57-DEC7-25B7-3A6091A6BD1F}"/>
              </a:ext>
            </a:extLst>
          </p:cNvPr>
          <p:cNvSpPr/>
          <p:nvPr/>
        </p:nvSpPr>
        <p:spPr>
          <a:xfrm>
            <a:off x="6647453" y="3628281"/>
            <a:ext cx="612926" cy="22984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nvGrpSpPr>
          <p:cNvPr id="82" name="Group 81">
            <a:extLst>
              <a:ext uri="{FF2B5EF4-FFF2-40B4-BE49-F238E27FC236}">
                <a16:creationId xmlns:a16="http://schemas.microsoft.com/office/drawing/2014/main" id="{79765236-CF71-6029-6A2A-F33B755275D2}"/>
              </a:ext>
            </a:extLst>
          </p:cNvPr>
          <p:cNvGrpSpPr/>
          <p:nvPr/>
        </p:nvGrpSpPr>
        <p:grpSpPr>
          <a:xfrm>
            <a:off x="5869239" y="2352374"/>
            <a:ext cx="1939742" cy="522171"/>
            <a:chOff x="5869239" y="2352374"/>
            <a:chExt cx="1939742" cy="522171"/>
          </a:xfrm>
        </p:grpSpPr>
        <p:sp>
          <p:nvSpPr>
            <p:cNvPr id="3" name="Rectangle 2">
              <a:extLst>
                <a:ext uri="{FF2B5EF4-FFF2-40B4-BE49-F238E27FC236}">
                  <a16:creationId xmlns:a16="http://schemas.microsoft.com/office/drawing/2014/main" id="{2FD7F1A7-7CD1-0BD3-E2C1-D6D22F38C7B6}"/>
                </a:ext>
              </a:extLst>
            </p:cNvPr>
            <p:cNvSpPr/>
            <p:nvPr/>
          </p:nvSpPr>
          <p:spPr>
            <a:xfrm>
              <a:off x="5887231" y="2352374"/>
              <a:ext cx="594731" cy="459695"/>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7" name="TextBox 63">
              <a:extLst>
                <a:ext uri="{FF2B5EF4-FFF2-40B4-BE49-F238E27FC236}">
                  <a16:creationId xmlns:a16="http://schemas.microsoft.com/office/drawing/2014/main" id="{8240A34B-9369-3A7A-B72A-52404BBB3257}"/>
                </a:ext>
              </a:extLst>
            </p:cNvPr>
            <p:cNvSpPr txBox="1"/>
            <p:nvPr/>
          </p:nvSpPr>
          <p:spPr>
            <a:xfrm>
              <a:off x="6556849" y="2434490"/>
              <a:ext cx="1252132" cy="440055"/>
            </a:xfrm>
            <a:prstGeom prst="rect">
              <a:avLst/>
            </a:prstGeom>
            <a:solidFill>
              <a:schemeClr val="bg1"/>
            </a:solidFill>
          </p:spPr>
          <p:txBody>
            <a:bodyPr wrap="square" rtlCol="0">
              <a:spAutoFit/>
            </a:bodyPr>
            <a:lstStyle/>
            <a:p>
              <a:pP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National coordination body</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25BBA94E-942D-5D38-001F-3A4E357FF473}"/>
                </a:ext>
              </a:extLst>
            </p:cNvPr>
            <p:cNvSpPr/>
            <p:nvPr/>
          </p:nvSpPr>
          <p:spPr>
            <a:xfrm>
              <a:off x="5869239" y="2580475"/>
              <a:ext cx="612926" cy="229848"/>
            </a:xfrm>
            <a:prstGeom prst="rect">
              <a:avLst/>
            </a:prstGeom>
            <a:solidFill>
              <a:srgbClr val="FFDD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sp>
        <p:nvSpPr>
          <p:cNvPr id="19" name="TextBox 70">
            <a:extLst>
              <a:ext uri="{FF2B5EF4-FFF2-40B4-BE49-F238E27FC236}">
                <a16:creationId xmlns:a16="http://schemas.microsoft.com/office/drawing/2014/main" id="{BE9C37D9-AF3E-BADD-87E0-5E0C47B084B9}"/>
              </a:ext>
            </a:extLst>
          </p:cNvPr>
          <p:cNvSpPr txBox="1"/>
          <p:nvPr/>
        </p:nvSpPr>
        <p:spPr>
          <a:xfrm>
            <a:off x="4125718" y="4618052"/>
            <a:ext cx="974657" cy="440055"/>
          </a:xfrm>
          <a:prstGeom prst="rect">
            <a:avLst/>
          </a:prstGeom>
          <a:solidFill>
            <a:schemeClr val="bg1"/>
          </a:solidFill>
        </p:spPr>
        <p:txBody>
          <a:bodyPr wrap="square" rtlCol="0">
            <a:spAutoFit/>
          </a:bodyPr>
          <a:lstStyle/>
          <a:p>
            <a:pPr algn="ctr">
              <a:lnSpc>
                <a:spcPct val="115000"/>
              </a:lnSpc>
              <a:buNone/>
            </a:pPr>
            <a:r>
              <a:rPr lang="en-US" sz="10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International NGO</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grpSp>
        <p:nvGrpSpPr>
          <p:cNvPr id="83" name="Group 82">
            <a:extLst>
              <a:ext uri="{FF2B5EF4-FFF2-40B4-BE49-F238E27FC236}">
                <a16:creationId xmlns:a16="http://schemas.microsoft.com/office/drawing/2014/main" id="{5CA2D178-D319-B430-1FDC-09C38F0168D8}"/>
              </a:ext>
            </a:extLst>
          </p:cNvPr>
          <p:cNvGrpSpPr/>
          <p:nvPr/>
        </p:nvGrpSpPr>
        <p:grpSpPr>
          <a:xfrm>
            <a:off x="267586" y="875831"/>
            <a:ext cx="1999552" cy="905900"/>
            <a:chOff x="267586" y="875831"/>
            <a:chExt cx="1999552" cy="905900"/>
          </a:xfrm>
        </p:grpSpPr>
        <p:sp>
          <p:nvSpPr>
            <p:cNvPr id="9" name="Rectangle 8">
              <a:extLst>
                <a:ext uri="{FF2B5EF4-FFF2-40B4-BE49-F238E27FC236}">
                  <a16:creationId xmlns:a16="http://schemas.microsoft.com/office/drawing/2014/main" id="{797713AD-BED7-1DA9-4847-A894289A218F}"/>
                </a:ext>
              </a:extLst>
            </p:cNvPr>
            <p:cNvSpPr/>
            <p:nvPr/>
          </p:nvSpPr>
          <p:spPr>
            <a:xfrm>
              <a:off x="1197059" y="875831"/>
              <a:ext cx="612926" cy="448708"/>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0" name="Rectangle 9">
              <a:extLst>
                <a:ext uri="{FF2B5EF4-FFF2-40B4-BE49-F238E27FC236}">
                  <a16:creationId xmlns:a16="http://schemas.microsoft.com/office/drawing/2014/main" id="{E9ED76D4-AC90-9972-6FA6-6CAFB014F35B}"/>
                </a:ext>
              </a:extLst>
            </p:cNvPr>
            <p:cNvSpPr/>
            <p:nvPr/>
          </p:nvSpPr>
          <p:spPr>
            <a:xfrm>
              <a:off x="1349443" y="1028228"/>
              <a:ext cx="612926" cy="448708"/>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1" name="Rectangle 10">
              <a:extLst>
                <a:ext uri="{FF2B5EF4-FFF2-40B4-BE49-F238E27FC236}">
                  <a16:creationId xmlns:a16="http://schemas.microsoft.com/office/drawing/2014/main" id="{DD786005-C4F2-F6A3-0B5D-D832E9425478}"/>
                </a:ext>
              </a:extLst>
            </p:cNvPr>
            <p:cNvSpPr/>
            <p:nvPr/>
          </p:nvSpPr>
          <p:spPr>
            <a:xfrm>
              <a:off x="1501828" y="1180626"/>
              <a:ext cx="612926" cy="448708"/>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12" name="TextBox 53">
              <a:extLst>
                <a:ext uri="{FF2B5EF4-FFF2-40B4-BE49-F238E27FC236}">
                  <a16:creationId xmlns:a16="http://schemas.microsoft.com/office/drawing/2014/main" id="{84F14D48-FBB6-8FC0-D3B2-FC730058DD29}"/>
                </a:ext>
              </a:extLst>
            </p:cNvPr>
            <p:cNvSpPr txBox="1"/>
            <p:nvPr/>
          </p:nvSpPr>
          <p:spPr>
            <a:xfrm>
              <a:off x="267586" y="1252582"/>
              <a:ext cx="841316" cy="265430"/>
            </a:xfrm>
            <a:prstGeom prst="rect">
              <a:avLst/>
            </a:prstGeom>
            <a:solidFill>
              <a:schemeClr val="bg1"/>
            </a:solidFill>
          </p:spPr>
          <p:txBody>
            <a:bodyPr wrap="square" rtlCol="0">
              <a:spAutoFit/>
            </a:bodyPr>
            <a:lstStyle/>
            <a:p>
              <a:pPr>
                <a:lnSpc>
                  <a:spcPct val="115000"/>
                </a:lnSpc>
                <a:buNone/>
              </a:pPr>
              <a:r>
                <a:rPr lang="en-US" sz="10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Donors</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D1296713-6B14-E4BF-156F-00027158B26D}"/>
                </a:ext>
              </a:extLst>
            </p:cNvPr>
            <p:cNvSpPr/>
            <p:nvPr/>
          </p:nvSpPr>
          <p:spPr>
            <a:xfrm>
              <a:off x="1654212" y="1333023"/>
              <a:ext cx="612926" cy="448708"/>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sp>
        <p:nvSpPr>
          <p:cNvPr id="26" name="TextBox 62">
            <a:extLst>
              <a:ext uri="{FF2B5EF4-FFF2-40B4-BE49-F238E27FC236}">
                <a16:creationId xmlns:a16="http://schemas.microsoft.com/office/drawing/2014/main" id="{2385230F-47D6-EE91-CFA3-B804F9FBFCDE}"/>
              </a:ext>
            </a:extLst>
          </p:cNvPr>
          <p:cNvSpPr txBox="1"/>
          <p:nvPr/>
        </p:nvSpPr>
        <p:spPr>
          <a:xfrm>
            <a:off x="123509" y="2410189"/>
            <a:ext cx="1071805" cy="440055"/>
          </a:xfrm>
          <a:prstGeom prst="rect">
            <a:avLst/>
          </a:prstGeom>
          <a:solidFill>
            <a:schemeClr val="bg1"/>
          </a:solidFill>
        </p:spPr>
        <p:txBody>
          <a:bodyPr wrap="square" rtlCol="0">
            <a:spAutoFit/>
          </a:bodyPr>
          <a:lstStyle/>
          <a:p>
            <a:pPr>
              <a:lnSpc>
                <a:spcPct val="115000"/>
              </a:lnSpc>
              <a:buNone/>
            </a:pPr>
            <a:r>
              <a:rPr lang="en-GB"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International organisations</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27" name="TextBox 71">
            <a:extLst>
              <a:ext uri="{FF2B5EF4-FFF2-40B4-BE49-F238E27FC236}">
                <a16:creationId xmlns:a16="http://schemas.microsoft.com/office/drawing/2014/main" id="{AEBA6E0F-398F-274C-889D-D22D145ABAD1}"/>
              </a:ext>
            </a:extLst>
          </p:cNvPr>
          <p:cNvSpPr txBox="1"/>
          <p:nvPr/>
        </p:nvSpPr>
        <p:spPr>
          <a:xfrm>
            <a:off x="5053384" y="4618052"/>
            <a:ext cx="894017" cy="440055"/>
          </a:xfrm>
          <a:prstGeom prst="rect">
            <a:avLst/>
          </a:prstGeom>
          <a:solidFill>
            <a:schemeClr val="bg1"/>
          </a:solidFill>
        </p:spPr>
        <p:txBody>
          <a:bodyPr wrap="square" rtlCol="0">
            <a:spAutoFit/>
          </a:bodyPr>
          <a:lstStyle/>
          <a:p>
            <a:pPr algn="ctr">
              <a:lnSpc>
                <a:spcPct val="115000"/>
              </a:lnSpc>
              <a:buNone/>
            </a:pPr>
            <a:r>
              <a:rPr lang="en-US" sz="10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International commercial</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31A85E22-5A52-71EF-798A-96F75BE376FD}"/>
              </a:ext>
            </a:extLst>
          </p:cNvPr>
          <p:cNvSpPr/>
          <p:nvPr/>
        </p:nvSpPr>
        <p:spPr>
          <a:xfrm>
            <a:off x="6041009" y="1663779"/>
            <a:ext cx="305376" cy="1731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36" name="TextBox 65">
            <a:extLst>
              <a:ext uri="{FF2B5EF4-FFF2-40B4-BE49-F238E27FC236}">
                <a16:creationId xmlns:a16="http://schemas.microsoft.com/office/drawing/2014/main" id="{8B6B27C3-0D8C-E13F-F14F-82F86FAAED2C}"/>
              </a:ext>
            </a:extLst>
          </p:cNvPr>
          <p:cNvSpPr txBox="1"/>
          <p:nvPr/>
        </p:nvSpPr>
        <p:spPr>
          <a:xfrm>
            <a:off x="5836464" y="4624541"/>
            <a:ext cx="710515" cy="440055"/>
          </a:xfrm>
          <a:prstGeom prst="rect">
            <a:avLst/>
          </a:prstGeom>
          <a:solidFill>
            <a:schemeClr val="bg1"/>
          </a:solidFill>
        </p:spPr>
        <p:txBody>
          <a:bodyPr wrap="square" rtlCol="0">
            <a:spAutoFit/>
          </a:bodyPr>
          <a:lstStyle/>
          <a:p>
            <a:pPr algn="ctr">
              <a:lnSpc>
                <a:spcPct val="115000"/>
              </a:lnSpc>
              <a:buNone/>
            </a:pPr>
            <a:r>
              <a:rPr lang="en-US" sz="10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National NGO</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8" name="TextBox 66">
            <a:extLst>
              <a:ext uri="{FF2B5EF4-FFF2-40B4-BE49-F238E27FC236}">
                <a16:creationId xmlns:a16="http://schemas.microsoft.com/office/drawing/2014/main" id="{545A7ECD-2D99-E89E-2FA5-4AB6BE4ED4D9}"/>
              </a:ext>
            </a:extLst>
          </p:cNvPr>
          <p:cNvSpPr txBox="1"/>
          <p:nvPr/>
        </p:nvSpPr>
        <p:spPr>
          <a:xfrm>
            <a:off x="7406532" y="4627234"/>
            <a:ext cx="944179" cy="440055"/>
          </a:xfrm>
          <a:prstGeom prst="rect">
            <a:avLst/>
          </a:prstGeom>
          <a:solidFill>
            <a:schemeClr val="bg1"/>
          </a:solidFill>
        </p:spPr>
        <p:txBody>
          <a:bodyPr wrap="square" rtlCol="0">
            <a:spAutoFit/>
          </a:bodyPr>
          <a:lstStyle/>
          <a:p>
            <a:pPr algn="ctr">
              <a:lnSpc>
                <a:spcPct val="115000"/>
              </a:lnSpc>
              <a:buNone/>
            </a:pPr>
            <a:r>
              <a:rPr lang="en-US" sz="10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National commercial</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42" name="TextBox 64">
            <a:extLst>
              <a:ext uri="{FF2B5EF4-FFF2-40B4-BE49-F238E27FC236}">
                <a16:creationId xmlns:a16="http://schemas.microsoft.com/office/drawing/2014/main" id="{13064512-33D5-662D-BCA9-AA0EA9A9B48F}"/>
              </a:ext>
            </a:extLst>
          </p:cNvPr>
          <p:cNvSpPr txBox="1"/>
          <p:nvPr/>
        </p:nvSpPr>
        <p:spPr>
          <a:xfrm>
            <a:off x="6520072" y="4628754"/>
            <a:ext cx="1003230" cy="440055"/>
          </a:xfrm>
          <a:prstGeom prst="rect">
            <a:avLst/>
          </a:prstGeom>
          <a:solidFill>
            <a:schemeClr val="bg1"/>
          </a:solidFill>
        </p:spPr>
        <p:txBody>
          <a:bodyPr wrap="square" rtlCol="0">
            <a:spAutoFit/>
          </a:bodyPr>
          <a:lstStyle/>
          <a:p>
            <a:pPr>
              <a:lnSpc>
                <a:spcPct val="115000"/>
              </a:lnSpc>
              <a:buNone/>
            </a:pPr>
            <a:r>
              <a:rPr lang="en-GB" sz="10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State-owned organisations</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44" name="Rectangle 43">
            <a:extLst>
              <a:ext uri="{FF2B5EF4-FFF2-40B4-BE49-F238E27FC236}">
                <a16:creationId xmlns:a16="http://schemas.microsoft.com/office/drawing/2014/main" id="{E32CEA3A-F63C-11D6-EA1A-A25D9D351A9F}"/>
              </a:ext>
            </a:extLst>
          </p:cNvPr>
          <p:cNvSpPr/>
          <p:nvPr/>
        </p:nvSpPr>
        <p:spPr>
          <a:xfrm>
            <a:off x="1608940" y="2503024"/>
            <a:ext cx="612926" cy="448708"/>
          </a:xfrm>
          <a:prstGeom prst="rect">
            <a:avLst/>
          </a:prstGeom>
          <a:solidFill>
            <a:srgbClr val="5B92E5"/>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45" name="Rectangle 44">
            <a:extLst>
              <a:ext uri="{FF2B5EF4-FFF2-40B4-BE49-F238E27FC236}">
                <a16:creationId xmlns:a16="http://schemas.microsoft.com/office/drawing/2014/main" id="{178F32AD-8E34-7C17-194C-8B8786433C07}"/>
              </a:ext>
            </a:extLst>
          </p:cNvPr>
          <p:cNvSpPr/>
          <p:nvPr/>
        </p:nvSpPr>
        <p:spPr>
          <a:xfrm>
            <a:off x="1761325" y="2655422"/>
            <a:ext cx="612926" cy="448708"/>
          </a:xfrm>
          <a:prstGeom prst="rect">
            <a:avLst/>
          </a:prstGeom>
          <a:solidFill>
            <a:srgbClr val="5B92E5"/>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46" name="Rectangle 45">
            <a:extLst>
              <a:ext uri="{FF2B5EF4-FFF2-40B4-BE49-F238E27FC236}">
                <a16:creationId xmlns:a16="http://schemas.microsoft.com/office/drawing/2014/main" id="{72E59FB5-6EAC-0AEF-CDCC-FB00B82B9C49}"/>
              </a:ext>
            </a:extLst>
          </p:cNvPr>
          <p:cNvSpPr/>
          <p:nvPr/>
        </p:nvSpPr>
        <p:spPr>
          <a:xfrm>
            <a:off x="1913709" y="2807819"/>
            <a:ext cx="612926" cy="448708"/>
          </a:xfrm>
          <a:prstGeom prst="rect">
            <a:avLst/>
          </a:prstGeom>
          <a:solidFill>
            <a:srgbClr val="5B92E5"/>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grpSp>
        <p:nvGrpSpPr>
          <p:cNvPr id="47" name="Group 46">
            <a:extLst>
              <a:ext uri="{FF2B5EF4-FFF2-40B4-BE49-F238E27FC236}">
                <a16:creationId xmlns:a16="http://schemas.microsoft.com/office/drawing/2014/main" id="{8F51537F-D5AA-4DFA-339E-B16F61FB9CC3}"/>
              </a:ext>
            </a:extLst>
          </p:cNvPr>
          <p:cNvGrpSpPr/>
          <p:nvPr/>
        </p:nvGrpSpPr>
        <p:grpSpPr>
          <a:xfrm>
            <a:off x="792845" y="4757447"/>
            <a:ext cx="3176515" cy="1417296"/>
            <a:chOff x="669404" y="4074256"/>
            <a:chExt cx="3176838" cy="1417320"/>
          </a:xfrm>
        </p:grpSpPr>
        <p:sp>
          <p:nvSpPr>
            <p:cNvPr id="48" name="Rectangle 47">
              <a:extLst>
                <a:ext uri="{FF2B5EF4-FFF2-40B4-BE49-F238E27FC236}">
                  <a16:creationId xmlns:a16="http://schemas.microsoft.com/office/drawing/2014/main" id="{D3D1BE59-FC4E-0FBE-0ABF-DDDD26788963}"/>
                </a:ext>
              </a:extLst>
            </p:cNvPr>
            <p:cNvSpPr/>
            <p:nvPr/>
          </p:nvSpPr>
          <p:spPr>
            <a:xfrm>
              <a:off x="669452" y="4074256"/>
              <a:ext cx="3176790" cy="1417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cxnSp>
          <p:nvCxnSpPr>
            <p:cNvPr id="49" name="Straight Arrow Connector 48">
              <a:extLst>
                <a:ext uri="{FF2B5EF4-FFF2-40B4-BE49-F238E27FC236}">
                  <a16:creationId xmlns:a16="http://schemas.microsoft.com/office/drawing/2014/main" id="{0A71815A-BEFF-EEC7-9FB1-8BB401E1F62E}"/>
                </a:ext>
              </a:extLst>
            </p:cNvPr>
            <p:cNvCxnSpPr>
              <a:cxnSpLocks/>
            </p:cNvCxnSpPr>
            <p:nvPr/>
          </p:nvCxnSpPr>
          <p:spPr>
            <a:xfrm>
              <a:off x="761121" y="4645756"/>
              <a:ext cx="86844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9AC09223-5F99-6A6C-BB64-7B16BD55AF0A}"/>
                </a:ext>
              </a:extLst>
            </p:cNvPr>
            <p:cNvCxnSpPr>
              <a:cxnSpLocks/>
            </p:cNvCxnSpPr>
            <p:nvPr/>
          </p:nvCxnSpPr>
          <p:spPr>
            <a:xfrm>
              <a:off x="761121" y="4927696"/>
              <a:ext cx="868445"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48899E9-8872-D2D8-DA40-16B67D70262F}"/>
                </a:ext>
              </a:extLst>
            </p:cNvPr>
            <p:cNvCxnSpPr>
              <a:cxnSpLocks/>
            </p:cNvCxnSpPr>
            <p:nvPr/>
          </p:nvCxnSpPr>
          <p:spPr>
            <a:xfrm>
              <a:off x="761121" y="5217256"/>
              <a:ext cx="8684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2" name="TextBox 191">
              <a:extLst>
                <a:ext uri="{FF2B5EF4-FFF2-40B4-BE49-F238E27FC236}">
                  <a16:creationId xmlns:a16="http://schemas.microsoft.com/office/drawing/2014/main" id="{025F1E56-212A-5668-23E9-DEE008375475}"/>
                </a:ext>
              </a:extLst>
            </p:cNvPr>
            <p:cNvSpPr txBox="1"/>
            <p:nvPr/>
          </p:nvSpPr>
          <p:spPr>
            <a:xfrm>
              <a:off x="669404" y="4163759"/>
              <a:ext cx="2138112" cy="265434"/>
            </a:xfrm>
            <a:prstGeom prst="rect">
              <a:avLst/>
            </a:prstGeom>
            <a:solidFill>
              <a:schemeClr val="bg1"/>
            </a:solidFill>
          </p:spPr>
          <p:txBody>
            <a:bodyPr wrap="square" rtlCol="0">
              <a:spAutoFit/>
            </a:bodyPr>
            <a:lstStyle/>
            <a:p>
              <a:pPr algn="ct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Key</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53" name="TextBox 192">
              <a:extLst>
                <a:ext uri="{FF2B5EF4-FFF2-40B4-BE49-F238E27FC236}">
                  <a16:creationId xmlns:a16="http://schemas.microsoft.com/office/drawing/2014/main" id="{3362E740-763E-1208-B788-F10CC439543A}"/>
                </a:ext>
              </a:extLst>
            </p:cNvPr>
            <p:cNvSpPr txBox="1"/>
            <p:nvPr/>
          </p:nvSpPr>
          <p:spPr>
            <a:xfrm>
              <a:off x="1663876" y="4538884"/>
              <a:ext cx="2138112" cy="265434"/>
            </a:xfrm>
            <a:prstGeom prst="rect">
              <a:avLst/>
            </a:prstGeom>
            <a:solidFill>
              <a:schemeClr val="bg1"/>
            </a:solidFill>
          </p:spPr>
          <p:txBody>
            <a:bodyPr wrap="square" rtlCol="0">
              <a:spAutoFit/>
            </a:bodyPr>
            <a:lstStyle/>
            <a:p>
              <a:pP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Operational control</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54" name="TextBox 193">
              <a:extLst>
                <a:ext uri="{FF2B5EF4-FFF2-40B4-BE49-F238E27FC236}">
                  <a16:creationId xmlns:a16="http://schemas.microsoft.com/office/drawing/2014/main" id="{628B9E3F-7568-2578-C778-BD35D9EBDE21}"/>
                </a:ext>
              </a:extLst>
            </p:cNvPr>
            <p:cNvSpPr txBox="1"/>
            <p:nvPr/>
          </p:nvSpPr>
          <p:spPr>
            <a:xfrm>
              <a:off x="1663876" y="4804582"/>
              <a:ext cx="2138112" cy="265434"/>
            </a:xfrm>
            <a:prstGeom prst="rect">
              <a:avLst/>
            </a:prstGeom>
            <a:solidFill>
              <a:schemeClr val="bg1"/>
            </a:solidFill>
          </p:spPr>
          <p:txBody>
            <a:bodyPr wrap="square" rtlCol="0">
              <a:spAutoFit/>
            </a:bodyPr>
            <a:lstStyle/>
            <a:p>
              <a:pP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Typical international funding route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55" name="TextBox 194">
              <a:extLst>
                <a:ext uri="{FF2B5EF4-FFF2-40B4-BE49-F238E27FC236}">
                  <a16:creationId xmlns:a16="http://schemas.microsoft.com/office/drawing/2014/main" id="{FEFE2151-AB66-0A02-02C2-1BBB4A2D68E2}"/>
                </a:ext>
              </a:extLst>
            </p:cNvPr>
            <p:cNvSpPr txBox="1"/>
            <p:nvPr/>
          </p:nvSpPr>
          <p:spPr>
            <a:xfrm>
              <a:off x="1671242" y="5094141"/>
              <a:ext cx="2138112" cy="265434"/>
            </a:xfrm>
            <a:prstGeom prst="rect">
              <a:avLst/>
            </a:prstGeom>
            <a:solidFill>
              <a:schemeClr val="bg1"/>
            </a:solidFill>
          </p:spPr>
          <p:txBody>
            <a:bodyPr wrap="square" rtlCol="0">
              <a:spAutoFit/>
            </a:bodyPr>
            <a:lstStyle/>
            <a:p>
              <a:pPr>
                <a:lnSpc>
                  <a:spcPct val="115000"/>
                </a:lnSpc>
                <a:buNone/>
              </a:pPr>
              <a:r>
                <a:rPr lang="en-US" sz="10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Typical national funding route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grpSp>
      <p:grpSp>
        <p:nvGrpSpPr>
          <p:cNvPr id="101" name="Group 100">
            <a:extLst>
              <a:ext uri="{FF2B5EF4-FFF2-40B4-BE49-F238E27FC236}">
                <a16:creationId xmlns:a16="http://schemas.microsoft.com/office/drawing/2014/main" id="{6980DEC5-1336-F92E-ABA8-C0CB5D09F737}"/>
              </a:ext>
            </a:extLst>
          </p:cNvPr>
          <p:cNvGrpSpPr/>
          <p:nvPr/>
        </p:nvGrpSpPr>
        <p:grpSpPr>
          <a:xfrm>
            <a:off x="6461997" y="1854288"/>
            <a:ext cx="1583391" cy="2003842"/>
            <a:chOff x="6461997" y="1854288"/>
            <a:chExt cx="1583391" cy="2003842"/>
          </a:xfrm>
        </p:grpSpPr>
        <p:cxnSp>
          <p:nvCxnSpPr>
            <p:cNvPr id="39" name="Elbow Connector 38">
              <a:extLst>
                <a:ext uri="{FF2B5EF4-FFF2-40B4-BE49-F238E27FC236}">
                  <a16:creationId xmlns:a16="http://schemas.microsoft.com/office/drawing/2014/main" id="{D4F1A474-FC95-BF0A-6DD8-292D4119B601}"/>
                </a:ext>
              </a:extLst>
            </p:cNvPr>
            <p:cNvCxnSpPr>
              <a:cxnSpLocks/>
            </p:cNvCxnSpPr>
            <p:nvPr/>
          </p:nvCxnSpPr>
          <p:spPr>
            <a:xfrm rot="16200000" flipH="1">
              <a:off x="6650522" y="2233415"/>
              <a:ext cx="1773604" cy="1016128"/>
            </a:xfrm>
            <a:prstGeom prst="bentConnector4">
              <a:avLst>
                <a:gd name="adj1" fmla="val 32110"/>
                <a:gd name="adj2" fmla="val 122495"/>
              </a:avLst>
            </a:prstGeom>
            <a:ln>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Elbow Connector 39">
              <a:extLst>
                <a:ext uri="{FF2B5EF4-FFF2-40B4-BE49-F238E27FC236}">
                  <a16:creationId xmlns:a16="http://schemas.microsoft.com/office/drawing/2014/main" id="{BAD07F5C-5700-F20D-7046-439EE8B86B2A}"/>
                </a:ext>
              </a:extLst>
            </p:cNvPr>
            <p:cNvCxnSpPr>
              <a:cxnSpLocks/>
            </p:cNvCxnSpPr>
            <p:nvPr/>
          </p:nvCxnSpPr>
          <p:spPr>
            <a:xfrm rot="10800000" flipV="1">
              <a:off x="6461997" y="1854288"/>
              <a:ext cx="567262" cy="564197"/>
            </a:xfrm>
            <a:prstGeom prst="bentConnector3">
              <a:avLst>
                <a:gd name="adj1" fmla="val 542"/>
              </a:avLst>
            </a:prstGeom>
            <a:ln>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Elbow Connector 42">
              <a:extLst>
                <a:ext uri="{FF2B5EF4-FFF2-40B4-BE49-F238E27FC236}">
                  <a16:creationId xmlns:a16="http://schemas.microsoft.com/office/drawing/2014/main" id="{18373AB3-4114-22E7-0231-2632497DFDEA}"/>
                </a:ext>
              </a:extLst>
            </p:cNvPr>
            <p:cNvCxnSpPr>
              <a:cxnSpLocks/>
            </p:cNvCxnSpPr>
            <p:nvPr/>
          </p:nvCxnSpPr>
          <p:spPr>
            <a:xfrm flipH="1">
              <a:off x="6953916" y="3628281"/>
              <a:ext cx="1091472" cy="229848"/>
            </a:xfrm>
            <a:prstGeom prst="bentConnector4">
              <a:avLst>
                <a:gd name="adj1" fmla="val -20942"/>
                <a:gd name="adj2" fmla="val 163540"/>
              </a:avLst>
            </a:prstGeom>
            <a:ln>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7" name="Elbow Connector 86">
              <a:extLst>
                <a:ext uri="{FF2B5EF4-FFF2-40B4-BE49-F238E27FC236}">
                  <a16:creationId xmlns:a16="http://schemas.microsoft.com/office/drawing/2014/main" id="{319CDB99-59EE-B8F2-7E6C-F91A535EE130}"/>
                </a:ext>
              </a:extLst>
            </p:cNvPr>
            <p:cNvCxnSpPr>
              <a:cxnSpLocks/>
              <a:stCxn id="16" idx="2"/>
              <a:endCxn id="7" idx="3"/>
            </p:cNvCxnSpPr>
            <p:nvPr/>
          </p:nvCxnSpPr>
          <p:spPr>
            <a:xfrm rot="5400000" flipH="1">
              <a:off x="6605642" y="3509855"/>
              <a:ext cx="224798" cy="471751"/>
            </a:xfrm>
            <a:prstGeom prst="bentConnector4">
              <a:avLst>
                <a:gd name="adj1" fmla="val -63852"/>
                <a:gd name="adj2" fmla="val 82481"/>
              </a:avLst>
            </a:prstGeom>
            <a:ln>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05" name="Left Arrow 104">
            <a:extLst>
              <a:ext uri="{FF2B5EF4-FFF2-40B4-BE49-F238E27FC236}">
                <a16:creationId xmlns:a16="http://schemas.microsoft.com/office/drawing/2014/main" id="{D149AE7E-2DB5-5C28-292C-370F20E0046C}"/>
              </a:ext>
            </a:extLst>
          </p:cNvPr>
          <p:cNvSpPr/>
          <p:nvPr/>
        </p:nvSpPr>
        <p:spPr>
          <a:xfrm rot="20771535">
            <a:off x="7440231" y="2201689"/>
            <a:ext cx="1196810" cy="505839"/>
          </a:xfrm>
          <a:prstGeom prst="lef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NMAA?</a:t>
            </a:r>
          </a:p>
        </p:txBody>
      </p:sp>
      <p:sp>
        <p:nvSpPr>
          <p:cNvPr id="106" name="Left Arrow 105">
            <a:extLst>
              <a:ext uri="{FF2B5EF4-FFF2-40B4-BE49-F238E27FC236}">
                <a16:creationId xmlns:a16="http://schemas.microsoft.com/office/drawing/2014/main" id="{92BC219F-7C60-EFF8-DE9F-76C42DCA44D8}"/>
              </a:ext>
            </a:extLst>
          </p:cNvPr>
          <p:cNvSpPr/>
          <p:nvPr/>
        </p:nvSpPr>
        <p:spPr>
          <a:xfrm rot="20771535">
            <a:off x="6981493" y="465090"/>
            <a:ext cx="1196810" cy="505839"/>
          </a:xfrm>
          <a:prstGeom prst="lef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NMAA?</a:t>
            </a:r>
          </a:p>
        </p:txBody>
      </p:sp>
      <p:sp>
        <p:nvSpPr>
          <p:cNvPr id="107" name="TextBox 106">
            <a:extLst>
              <a:ext uri="{FF2B5EF4-FFF2-40B4-BE49-F238E27FC236}">
                <a16:creationId xmlns:a16="http://schemas.microsoft.com/office/drawing/2014/main" id="{9FE1461E-E447-5E96-6653-0CDCE5240350}"/>
              </a:ext>
            </a:extLst>
          </p:cNvPr>
          <p:cNvSpPr txBox="1"/>
          <p:nvPr/>
        </p:nvSpPr>
        <p:spPr>
          <a:xfrm>
            <a:off x="1960675" y="164892"/>
            <a:ext cx="2341438" cy="382249"/>
          </a:xfrm>
          <a:prstGeom prst="rect">
            <a:avLst/>
          </a:prstGeom>
          <a:noFill/>
        </p:spPr>
        <p:txBody>
          <a:bodyPr wrap="square" rtlCol="0">
            <a:spAutoFit/>
          </a:bodyPr>
          <a:lstStyle/>
          <a:p>
            <a:pPr algn="ctr"/>
            <a:r>
              <a:rPr lang="en-US"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Simplified version!</a:t>
            </a:r>
          </a:p>
        </p:txBody>
      </p:sp>
    </p:spTree>
    <p:extLst>
      <p:ext uri="{BB962C8B-B14F-4D97-AF65-F5344CB8AC3E}">
        <p14:creationId xmlns:p14="http://schemas.microsoft.com/office/powerpoint/2010/main" val="269468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dissolve">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dissolve">
                                      <p:cBhvr>
                                        <p:cTn id="29" dur="500"/>
                                        <p:tgtEl>
                                          <p:spTgt spid="15"/>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dissolv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dissolve">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dissolve">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84"/>
                                        </p:tgtEl>
                                        <p:attrNameLst>
                                          <p:attrName>style.visibility</p:attrName>
                                        </p:attrNameLst>
                                      </p:cBhvr>
                                      <p:to>
                                        <p:strVal val="visible"/>
                                      </p:to>
                                    </p:set>
                                    <p:animEffect transition="in" filter="wipe(up)">
                                      <p:cBhvr>
                                        <p:cTn id="62" dur="500"/>
                                        <p:tgtEl>
                                          <p:spTgt spid="8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83"/>
                                        </p:tgtEl>
                                        <p:attrNameLst>
                                          <p:attrName>style.visibility</p:attrName>
                                        </p:attrNameLst>
                                      </p:cBhvr>
                                      <p:to>
                                        <p:strVal val="visible"/>
                                      </p:to>
                                    </p:set>
                                    <p:animEffect transition="in" filter="dissolve">
                                      <p:cBhvr>
                                        <p:cTn id="67" dur="500"/>
                                        <p:tgtEl>
                                          <p:spTgt spid="83"/>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dissolve">
                                      <p:cBhvr>
                                        <p:cTn id="72" dur="500"/>
                                        <p:tgtEl>
                                          <p:spTgt spid="13"/>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dissolve">
                                      <p:cBhvr>
                                        <p:cTn id="75" dur="500"/>
                                        <p:tgtEl>
                                          <p:spTgt spid="26"/>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dissolve">
                                      <p:cBhvr>
                                        <p:cTn id="78" dur="500"/>
                                        <p:tgtEl>
                                          <p:spTgt spid="44"/>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dissolve">
                                      <p:cBhvr>
                                        <p:cTn id="81" dur="500"/>
                                        <p:tgtEl>
                                          <p:spTgt spid="45"/>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dissolve">
                                      <p:cBhvr>
                                        <p:cTn id="84" dur="500"/>
                                        <p:tgtEl>
                                          <p:spTgt spid="46"/>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101"/>
                                        </p:tgtEl>
                                        <p:attrNameLst>
                                          <p:attrName>style.visibility</p:attrName>
                                        </p:attrNameLst>
                                      </p:cBhvr>
                                      <p:to>
                                        <p:strVal val="visible"/>
                                      </p:to>
                                    </p:set>
                                    <p:animEffect transition="in" filter="dissolve">
                                      <p:cBhvr>
                                        <p:cTn id="89" dur="500"/>
                                        <p:tgtEl>
                                          <p:spTgt spid="101"/>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104"/>
                                        </p:tgtEl>
                                        <p:attrNameLst>
                                          <p:attrName>style.visibility</p:attrName>
                                        </p:attrNameLst>
                                      </p:cBhvr>
                                      <p:to>
                                        <p:strVal val="visible"/>
                                      </p:to>
                                    </p:set>
                                    <p:animEffect transition="in" filter="dissolve">
                                      <p:cBhvr>
                                        <p:cTn id="94" dur="500"/>
                                        <p:tgtEl>
                                          <p:spTgt spid="104"/>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dissolve">
                                      <p:cBhvr>
                                        <p:cTn id="99" dur="500"/>
                                        <p:tgtEl>
                                          <p:spTgt spid="47"/>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2" fill="hold" grpId="0" nodeType="clickEffect">
                                  <p:stCondLst>
                                    <p:cond delay="0"/>
                                  </p:stCondLst>
                                  <p:childTnLst>
                                    <p:set>
                                      <p:cBhvr>
                                        <p:cTn id="103" dur="1" fill="hold">
                                          <p:stCondLst>
                                            <p:cond delay="0"/>
                                          </p:stCondLst>
                                        </p:cTn>
                                        <p:tgtEl>
                                          <p:spTgt spid="105"/>
                                        </p:tgtEl>
                                        <p:attrNameLst>
                                          <p:attrName>style.visibility</p:attrName>
                                        </p:attrNameLst>
                                      </p:cBhvr>
                                      <p:to>
                                        <p:strVal val="visible"/>
                                      </p:to>
                                    </p:set>
                                    <p:animEffect transition="in" filter="wipe(right)">
                                      <p:cBhvr>
                                        <p:cTn id="104" dur="500"/>
                                        <p:tgtEl>
                                          <p:spTgt spid="10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2" fill="hold" grpId="0" nodeType="clickEffect">
                                  <p:stCondLst>
                                    <p:cond delay="0"/>
                                  </p:stCondLst>
                                  <p:childTnLst>
                                    <p:set>
                                      <p:cBhvr>
                                        <p:cTn id="108" dur="1" fill="hold">
                                          <p:stCondLst>
                                            <p:cond delay="0"/>
                                          </p:stCondLst>
                                        </p:cTn>
                                        <p:tgtEl>
                                          <p:spTgt spid="106"/>
                                        </p:tgtEl>
                                        <p:attrNameLst>
                                          <p:attrName>style.visibility</p:attrName>
                                        </p:attrNameLst>
                                      </p:cBhvr>
                                      <p:to>
                                        <p:strVal val="visible"/>
                                      </p:to>
                                    </p:set>
                                    <p:animEffect transition="in" filter="wipe(right)">
                                      <p:cBhvr>
                                        <p:cTn id="109" dur="500"/>
                                        <p:tgtEl>
                                          <p:spTgt spid="106"/>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107"/>
                                        </p:tgtEl>
                                        <p:attrNameLst>
                                          <p:attrName>style.visibility</p:attrName>
                                        </p:attrNameLst>
                                      </p:cBhvr>
                                      <p:to>
                                        <p:strVal val="visible"/>
                                      </p:to>
                                    </p:set>
                                    <p:animEffect transition="in" filter="dissolve">
                                      <p:cBhvr>
                                        <p:cTn id="114"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3" grpId="0" animBg="1"/>
      <p:bldP spid="14" grpId="0" animBg="1"/>
      <p:bldP spid="15" grpId="0" animBg="1"/>
      <p:bldP spid="16" grpId="0" animBg="1"/>
      <p:bldP spid="19" grpId="0" animBg="1"/>
      <p:bldP spid="26" grpId="0" animBg="1"/>
      <p:bldP spid="27" grpId="0" animBg="1"/>
      <p:bldP spid="36" grpId="0" animBg="1"/>
      <p:bldP spid="38" grpId="0" animBg="1"/>
      <p:bldP spid="42" grpId="0" animBg="1"/>
      <p:bldP spid="44" grpId="0" animBg="1"/>
      <p:bldP spid="45" grpId="0" animBg="1"/>
      <p:bldP spid="46" grpId="0" animBg="1"/>
      <p:bldP spid="105" grpId="0" animBg="1"/>
      <p:bldP spid="106" grpId="0" animBg="1"/>
      <p:bldP spid="10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0926-9123-D9F3-C3B4-112347C911D8}"/>
              </a:ext>
            </a:extLst>
          </p:cNvPr>
          <p:cNvSpPr>
            <a:spLocks noGrp="1"/>
          </p:cNvSpPr>
          <p:nvPr>
            <p:ph type="title"/>
          </p:nvPr>
        </p:nvSpPr>
        <p:spPr>
          <a:xfrm>
            <a:off x="4721902" y="365126"/>
            <a:ext cx="4036669" cy="618547"/>
          </a:xfrm>
        </p:spPr>
        <p:txBody>
          <a:bodyPr/>
          <a:lstStyle/>
          <a:p>
            <a:r>
              <a:rPr lang="en-US" dirty="0"/>
              <a:t>Steering committee</a:t>
            </a:r>
          </a:p>
        </p:txBody>
      </p:sp>
      <p:sp>
        <p:nvSpPr>
          <p:cNvPr id="3" name="Content Placeholder 2">
            <a:extLst>
              <a:ext uri="{FF2B5EF4-FFF2-40B4-BE49-F238E27FC236}">
                <a16:creationId xmlns:a16="http://schemas.microsoft.com/office/drawing/2014/main" id="{1569A2FF-A8F6-22D9-D8F0-EA7429415344}"/>
              </a:ext>
            </a:extLst>
          </p:cNvPr>
          <p:cNvSpPr>
            <a:spLocks noGrp="1"/>
          </p:cNvSpPr>
          <p:nvPr>
            <p:ph idx="1"/>
          </p:nvPr>
        </p:nvSpPr>
        <p:spPr/>
        <p:txBody>
          <a:bodyPr/>
          <a:lstStyle/>
          <a:p>
            <a:r>
              <a:rPr lang="en-US" dirty="0"/>
              <a:t>Inter ministerial</a:t>
            </a:r>
          </a:p>
          <a:p>
            <a:r>
              <a:rPr lang="en-US" dirty="0"/>
              <a:t>Meets periodically</a:t>
            </a:r>
          </a:p>
          <a:p>
            <a:r>
              <a:rPr lang="en-US" dirty="0"/>
              <a:t>Receives reports from coordination body</a:t>
            </a:r>
          </a:p>
          <a:p>
            <a:r>
              <a:rPr lang="en-US" dirty="0"/>
              <a:t>Approves strategy</a:t>
            </a:r>
          </a:p>
          <a:p>
            <a:r>
              <a:rPr lang="en-US" dirty="0"/>
              <a:t>Allocates resources</a:t>
            </a:r>
          </a:p>
          <a:p>
            <a:r>
              <a:rPr lang="en-US" dirty="0"/>
              <a:t>Can </a:t>
            </a:r>
            <a:r>
              <a:rPr lang="en-US" dirty="0" err="1"/>
              <a:t>scrutinise</a:t>
            </a:r>
            <a:r>
              <a:rPr lang="en-US" dirty="0"/>
              <a:t> activity independently</a:t>
            </a:r>
          </a:p>
        </p:txBody>
      </p:sp>
    </p:spTree>
    <p:extLst>
      <p:ext uri="{BB962C8B-B14F-4D97-AF65-F5344CB8AC3E}">
        <p14:creationId xmlns:p14="http://schemas.microsoft.com/office/powerpoint/2010/main" val="2883834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91CF9-491E-C9F5-78F6-A6CF2E55A019}"/>
              </a:ext>
            </a:extLst>
          </p:cNvPr>
          <p:cNvSpPr>
            <a:spLocks noGrp="1"/>
          </p:cNvSpPr>
          <p:nvPr>
            <p:ph type="title"/>
          </p:nvPr>
        </p:nvSpPr>
        <p:spPr>
          <a:xfrm>
            <a:off x="4347148" y="365126"/>
            <a:ext cx="4411423" cy="618547"/>
          </a:xfrm>
        </p:spPr>
        <p:txBody>
          <a:bodyPr/>
          <a:lstStyle/>
          <a:p>
            <a:r>
              <a:rPr lang="en-US" dirty="0"/>
              <a:t>Steering committee (2)</a:t>
            </a:r>
          </a:p>
        </p:txBody>
      </p:sp>
      <p:sp>
        <p:nvSpPr>
          <p:cNvPr id="3" name="Content Placeholder 2">
            <a:extLst>
              <a:ext uri="{FF2B5EF4-FFF2-40B4-BE49-F238E27FC236}">
                <a16:creationId xmlns:a16="http://schemas.microsoft.com/office/drawing/2014/main" id="{A00C4F54-211C-2F3A-7F25-EA52BE7105F1}"/>
              </a:ext>
            </a:extLst>
          </p:cNvPr>
          <p:cNvSpPr>
            <a:spLocks noGrp="1"/>
          </p:cNvSpPr>
          <p:nvPr>
            <p:ph idx="1"/>
          </p:nvPr>
        </p:nvSpPr>
        <p:spPr>
          <a:xfrm>
            <a:off x="1331258" y="2094482"/>
            <a:ext cx="7427313" cy="618547"/>
          </a:xfrm>
        </p:spPr>
        <p:txBody>
          <a:bodyPr/>
          <a:lstStyle/>
          <a:p>
            <a:r>
              <a:rPr lang="en-US" dirty="0"/>
              <a:t>One ministry chosen to lead</a:t>
            </a:r>
          </a:p>
        </p:txBody>
      </p:sp>
      <p:graphicFrame>
        <p:nvGraphicFramePr>
          <p:cNvPr id="5" name="Table 4">
            <a:extLst>
              <a:ext uri="{FF2B5EF4-FFF2-40B4-BE49-F238E27FC236}">
                <a16:creationId xmlns:a16="http://schemas.microsoft.com/office/drawing/2014/main" id="{7B318843-3C00-BE6F-52EA-AEA54C75640F}"/>
              </a:ext>
            </a:extLst>
          </p:cNvPr>
          <p:cNvGraphicFramePr>
            <a:graphicFrameLocks noGrp="1"/>
          </p:cNvGraphicFramePr>
          <p:nvPr>
            <p:extLst>
              <p:ext uri="{D42A27DB-BD31-4B8C-83A1-F6EECF244321}">
                <p14:modId xmlns:p14="http://schemas.microsoft.com/office/powerpoint/2010/main" val="1249559226"/>
              </p:ext>
            </p:extLst>
          </p:nvPr>
        </p:nvGraphicFramePr>
        <p:xfrm>
          <a:off x="1463986" y="2728391"/>
          <a:ext cx="7086496" cy="2368265"/>
        </p:xfrm>
        <a:graphic>
          <a:graphicData uri="http://schemas.openxmlformats.org/drawingml/2006/table">
            <a:tbl>
              <a:tblPr firstRow="1" firstCol="1" bandRow="1">
                <a:tableStyleId>{E8B1032C-EA38-4F05-BA0D-38AFFFC7BED3}</a:tableStyleId>
              </a:tblPr>
              <a:tblGrid>
                <a:gridCol w="3543248">
                  <a:extLst>
                    <a:ext uri="{9D8B030D-6E8A-4147-A177-3AD203B41FA5}">
                      <a16:colId xmlns:a16="http://schemas.microsoft.com/office/drawing/2014/main" val="3660100112"/>
                    </a:ext>
                  </a:extLst>
                </a:gridCol>
                <a:gridCol w="3543248">
                  <a:extLst>
                    <a:ext uri="{9D8B030D-6E8A-4147-A177-3AD203B41FA5}">
                      <a16:colId xmlns:a16="http://schemas.microsoft.com/office/drawing/2014/main" val="4197773242"/>
                    </a:ext>
                  </a:extLst>
                </a:gridCol>
              </a:tblGrid>
              <a:tr h="2368265">
                <a:tc>
                  <a:txBody>
                    <a:bodyPr/>
                    <a:lstStyle/>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Agriculture</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Culture</a:t>
                      </a: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Strategic Communications</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Defence</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Economic Development and Trade</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Education and Science</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Finance</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Foreign Affairs</a:t>
                      </a:r>
                      <a:endParaRPr lang="en-GB" sz="1100" b="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74132" marR="74132" marT="0" marB="0"/>
                </a:tc>
                <a:tc>
                  <a:txBody>
                    <a:bodyPr/>
                    <a:lstStyle/>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Planning</a:t>
                      </a: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Health</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Infrastructure</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Internal Affairs</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National Unity</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Social Policy</a:t>
                      </a:r>
                      <a:endParaRPr lang="en-GB" sz="1100" b="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lvl="0" indent="-342900">
                        <a:buFont typeface="Symbol" pitchFamily="2" charset="2"/>
                        <a:buChar char=""/>
                      </a:pPr>
                      <a:r>
                        <a:rPr lang="en-GB" sz="1600" b="0" dirty="0">
                          <a:effectLst/>
                          <a:latin typeface="Helvetica Neue" panose="02000503000000020004" pitchFamily="2" charset="0"/>
                          <a:ea typeface="Helvetica Neue" panose="02000503000000020004" pitchFamily="2" charset="0"/>
                          <a:cs typeface="Helvetica Neue" panose="02000503000000020004" pitchFamily="2" charset="0"/>
                        </a:rPr>
                        <a:t>Veteran’s Affairs</a:t>
                      </a:r>
                    </a:p>
                    <a:p>
                      <a:pPr marL="342900" lvl="0" indent="-342900">
                        <a:buFont typeface="Symbol" pitchFamily="2" charset="2"/>
                        <a:buChar char=""/>
                      </a:pPr>
                      <a:r>
                        <a:rPr lang="en-GB" sz="1600" b="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Women’s affairs</a:t>
                      </a:r>
                      <a:endParaRPr lang="en-GB" sz="1100" b="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74132" marR="74132" marT="0" marB="0"/>
                </a:tc>
                <a:extLst>
                  <a:ext uri="{0D108BD9-81ED-4DB2-BD59-A6C34878D82A}">
                    <a16:rowId xmlns:a16="http://schemas.microsoft.com/office/drawing/2014/main" val="3763663595"/>
                  </a:ext>
                </a:extLst>
              </a:tr>
            </a:tbl>
          </a:graphicData>
        </a:graphic>
      </p:graphicFrame>
    </p:spTree>
    <p:extLst>
      <p:ext uri="{BB962C8B-B14F-4D97-AF65-F5344CB8AC3E}">
        <p14:creationId xmlns:p14="http://schemas.microsoft.com/office/powerpoint/2010/main" val="23622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6C0F-8D13-7101-EAFD-10F1F10B4DB1}"/>
              </a:ext>
            </a:extLst>
          </p:cNvPr>
          <p:cNvSpPr>
            <a:spLocks noGrp="1"/>
          </p:cNvSpPr>
          <p:nvPr>
            <p:ph type="title"/>
          </p:nvPr>
        </p:nvSpPr>
        <p:spPr>
          <a:xfrm>
            <a:off x="4916774" y="365126"/>
            <a:ext cx="3841797" cy="618547"/>
          </a:xfrm>
        </p:spPr>
        <p:txBody>
          <a:bodyPr/>
          <a:lstStyle/>
          <a:p>
            <a:r>
              <a:rPr lang="en-US" dirty="0"/>
              <a:t>Coordination body</a:t>
            </a:r>
          </a:p>
        </p:txBody>
      </p:sp>
      <p:sp>
        <p:nvSpPr>
          <p:cNvPr id="3" name="Content Placeholder 2">
            <a:extLst>
              <a:ext uri="{FF2B5EF4-FFF2-40B4-BE49-F238E27FC236}">
                <a16:creationId xmlns:a16="http://schemas.microsoft.com/office/drawing/2014/main" id="{1D83C5D8-64A1-CE3B-B5EA-B288D3106278}"/>
              </a:ext>
            </a:extLst>
          </p:cNvPr>
          <p:cNvSpPr>
            <a:spLocks noGrp="1"/>
          </p:cNvSpPr>
          <p:nvPr>
            <p:ph idx="1"/>
          </p:nvPr>
        </p:nvSpPr>
        <p:spPr/>
        <p:txBody>
          <a:bodyPr/>
          <a:lstStyle/>
          <a:p>
            <a:r>
              <a:rPr lang="en-US" dirty="0"/>
              <a:t>Also recommended to be multi-agency</a:t>
            </a:r>
          </a:p>
          <a:p>
            <a:r>
              <a:rPr lang="en-US" dirty="0"/>
              <a:t>Key personnel from different bodies</a:t>
            </a:r>
          </a:p>
          <a:p>
            <a:r>
              <a:rPr lang="en-US" dirty="0"/>
              <a:t>Sole focus of operational leadership</a:t>
            </a:r>
          </a:p>
          <a:p>
            <a:pPr lvl="1"/>
            <a:r>
              <a:rPr lang="en-US" dirty="0"/>
              <a:t>Planning</a:t>
            </a:r>
          </a:p>
          <a:p>
            <a:pPr lvl="1"/>
            <a:r>
              <a:rPr lang="en-US" dirty="0"/>
              <a:t>Briefing</a:t>
            </a:r>
          </a:p>
          <a:p>
            <a:pPr lvl="1"/>
            <a:r>
              <a:rPr lang="en-US" dirty="0"/>
              <a:t>Controlling</a:t>
            </a:r>
          </a:p>
          <a:p>
            <a:pPr lvl="1"/>
            <a:r>
              <a:rPr lang="en-US" dirty="0"/>
              <a:t>Supporting</a:t>
            </a:r>
          </a:p>
          <a:p>
            <a:pPr lvl="1"/>
            <a:r>
              <a:rPr lang="en-US" dirty="0"/>
              <a:t>Evaluating</a:t>
            </a:r>
          </a:p>
        </p:txBody>
      </p:sp>
    </p:spTree>
    <p:extLst>
      <p:ext uri="{BB962C8B-B14F-4D97-AF65-F5344CB8AC3E}">
        <p14:creationId xmlns:p14="http://schemas.microsoft.com/office/powerpoint/2010/main" val="219858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E04C7-3935-35DD-91D8-F072C773B7F9}"/>
              </a:ext>
            </a:extLst>
          </p:cNvPr>
          <p:cNvSpPr>
            <a:spLocks noGrp="1"/>
          </p:cNvSpPr>
          <p:nvPr>
            <p:ph type="title"/>
          </p:nvPr>
        </p:nvSpPr>
        <p:spPr>
          <a:xfrm>
            <a:off x="4489554" y="365126"/>
            <a:ext cx="4269017" cy="618547"/>
          </a:xfrm>
        </p:spPr>
        <p:txBody>
          <a:bodyPr/>
          <a:lstStyle/>
          <a:p>
            <a:r>
              <a:rPr lang="en-US" dirty="0"/>
              <a:t>Coordination body (2)</a:t>
            </a:r>
          </a:p>
        </p:txBody>
      </p:sp>
      <p:sp>
        <p:nvSpPr>
          <p:cNvPr id="3" name="Content Placeholder 2">
            <a:extLst>
              <a:ext uri="{FF2B5EF4-FFF2-40B4-BE49-F238E27FC236}">
                <a16:creationId xmlns:a16="http://schemas.microsoft.com/office/drawing/2014/main" id="{F11450A1-F1D3-4627-2234-D4DEF8F3806F}"/>
              </a:ext>
            </a:extLst>
          </p:cNvPr>
          <p:cNvSpPr>
            <a:spLocks noGrp="1"/>
          </p:cNvSpPr>
          <p:nvPr>
            <p:ph idx="1"/>
          </p:nvPr>
        </p:nvSpPr>
        <p:spPr/>
        <p:txBody>
          <a:bodyPr>
            <a:normAutofit lnSpcReduction="10000"/>
          </a:bodyPr>
          <a:lstStyle/>
          <a:p>
            <a:r>
              <a:rPr lang="en-US" dirty="0"/>
              <a:t>9 Key functions:</a:t>
            </a:r>
          </a:p>
          <a:p>
            <a:pPr lvl="1"/>
            <a:r>
              <a:rPr lang="en-GB" dirty="0"/>
              <a:t>Plans</a:t>
            </a:r>
          </a:p>
          <a:p>
            <a:pPr lvl="1"/>
            <a:r>
              <a:rPr lang="en-GB" dirty="0"/>
              <a:t>Operations</a:t>
            </a:r>
          </a:p>
          <a:p>
            <a:pPr lvl="1"/>
            <a:r>
              <a:rPr lang="en-GB" dirty="0"/>
              <a:t>Standards</a:t>
            </a:r>
          </a:p>
          <a:p>
            <a:pPr lvl="1"/>
            <a:r>
              <a:rPr lang="en-GB" dirty="0"/>
              <a:t>Information management</a:t>
            </a:r>
          </a:p>
          <a:p>
            <a:pPr lvl="1"/>
            <a:r>
              <a:rPr lang="en-US" dirty="0"/>
              <a:t>Quality management</a:t>
            </a:r>
          </a:p>
          <a:p>
            <a:pPr lvl="1"/>
            <a:r>
              <a:rPr lang="en-GB" dirty="0"/>
              <a:t>EORE coordination</a:t>
            </a:r>
          </a:p>
          <a:p>
            <a:pPr lvl="1"/>
            <a:r>
              <a:rPr lang="en-GB" dirty="0"/>
              <a:t>Victim assistance coordination*</a:t>
            </a:r>
          </a:p>
          <a:p>
            <a:pPr lvl="2"/>
            <a:r>
              <a:rPr lang="en-GB" dirty="0"/>
              <a:t>Within defined role</a:t>
            </a:r>
          </a:p>
          <a:p>
            <a:pPr lvl="1"/>
            <a:r>
              <a:rPr lang="en-GB" dirty="0"/>
              <a:t>Support</a:t>
            </a:r>
          </a:p>
          <a:p>
            <a:pPr lvl="1"/>
            <a:r>
              <a:rPr lang="en-GB" dirty="0"/>
              <a:t>Administration</a:t>
            </a:r>
          </a:p>
          <a:p>
            <a:pPr marL="457200" lvl="1" indent="0">
              <a:buNone/>
            </a:pPr>
            <a:endParaRPr lang="en-US" dirty="0"/>
          </a:p>
        </p:txBody>
      </p:sp>
    </p:spTree>
    <p:extLst>
      <p:ext uri="{BB962C8B-B14F-4D97-AF65-F5344CB8AC3E}">
        <p14:creationId xmlns:p14="http://schemas.microsoft.com/office/powerpoint/2010/main" val="3271805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oup 92">
            <a:extLst>
              <a:ext uri="{FF2B5EF4-FFF2-40B4-BE49-F238E27FC236}">
                <a16:creationId xmlns:a16="http://schemas.microsoft.com/office/drawing/2014/main" id="{E5DAFA38-55F8-1249-FDD8-4BE5CE9D044A}"/>
              </a:ext>
            </a:extLst>
          </p:cNvPr>
          <p:cNvGrpSpPr/>
          <p:nvPr/>
        </p:nvGrpSpPr>
        <p:grpSpPr>
          <a:xfrm>
            <a:off x="3379613" y="3188488"/>
            <a:ext cx="2846846" cy="1572367"/>
            <a:chOff x="3379613" y="3188488"/>
            <a:chExt cx="2846846" cy="1572367"/>
          </a:xfrm>
        </p:grpSpPr>
        <p:grpSp>
          <p:nvGrpSpPr>
            <p:cNvPr id="49" name="Group 48">
              <a:extLst>
                <a:ext uri="{FF2B5EF4-FFF2-40B4-BE49-F238E27FC236}">
                  <a16:creationId xmlns:a16="http://schemas.microsoft.com/office/drawing/2014/main" id="{928D473A-EB00-A6CD-A95D-47D4B07DC32E}"/>
                </a:ext>
              </a:extLst>
            </p:cNvPr>
            <p:cNvGrpSpPr/>
            <p:nvPr/>
          </p:nvGrpSpPr>
          <p:grpSpPr>
            <a:xfrm>
              <a:off x="3379613" y="4300021"/>
              <a:ext cx="847458" cy="423717"/>
              <a:chOff x="3212517" y="4247413"/>
              <a:chExt cx="884931" cy="445211"/>
            </a:xfrm>
          </p:grpSpPr>
          <p:sp>
            <p:nvSpPr>
              <p:cNvPr id="64" name="Rounded Rectangle 63">
                <a:extLst>
                  <a:ext uri="{FF2B5EF4-FFF2-40B4-BE49-F238E27FC236}">
                    <a16:creationId xmlns:a16="http://schemas.microsoft.com/office/drawing/2014/main" id="{F2B197FE-82C3-804D-7C26-7176F87FB6A8}"/>
                  </a:ext>
                </a:extLst>
              </p:cNvPr>
              <p:cNvSpPr/>
              <p:nvPr/>
            </p:nvSpPr>
            <p:spPr>
              <a:xfrm>
                <a:off x="3212517" y="4247413"/>
                <a:ext cx="884931" cy="445211"/>
              </a:xfrm>
              <a:prstGeom prst="roundRect">
                <a:avLst>
                  <a:gd name="adj" fmla="val 45325"/>
                </a:avLst>
              </a:prstGeom>
              <a:solidFill>
                <a:srgbClr val="FFFF0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65" name="Freeform 64">
                <a:extLst>
                  <a:ext uri="{FF2B5EF4-FFF2-40B4-BE49-F238E27FC236}">
                    <a16:creationId xmlns:a16="http://schemas.microsoft.com/office/drawing/2014/main" id="{DD2C0C06-1C25-CC1E-4048-DEF12791C4DE}"/>
                  </a:ext>
                </a:extLst>
              </p:cNvPr>
              <p:cNvSpPr/>
              <p:nvPr/>
            </p:nvSpPr>
            <p:spPr>
              <a:xfrm>
                <a:off x="3220223" y="4253763"/>
                <a:ext cx="877225" cy="232183"/>
              </a:xfrm>
              <a:custGeom>
                <a:avLst/>
                <a:gdLst>
                  <a:gd name="connsiteX0" fmla="*/ 201792 w 884931"/>
                  <a:gd name="connsiteY0" fmla="*/ 0 h 232183"/>
                  <a:gd name="connsiteX1" fmla="*/ 683139 w 884931"/>
                  <a:gd name="connsiteY1" fmla="*/ 0 h 232183"/>
                  <a:gd name="connsiteX2" fmla="*/ 884931 w 884931"/>
                  <a:gd name="connsiteY2" fmla="*/ 201792 h 232183"/>
                  <a:gd name="connsiteX3" fmla="*/ 884931 w 884931"/>
                  <a:gd name="connsiteY3" fmla="*/ 232183 h 232183"/>
                  <a:gd name="connsiteX4" fmla="*/ 0 w 884931"/>
                  <a:gd name="connsiteY4" fmla="*/ 232183 h 232183"/>
                  <a:gd name="connsiteX5" fmla="*/ 0 w 884931"/>
                  <a:gd name="connsiteY5" fmla="*/ 201792 h 232183"/>
                  <a:gd name="connsiteX6" fmla="*/ 201792 w 884931"/>
                  <a:gd name="connsiteY6" fmla="*/ 0 h 2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931" h="232183">
                    <a:moveTo>
                      <a:pt x="201792" y="0"/>
                    </a:moveTo>
                    <a:lnTo>
                      <a:pt x="683139" y="0"/>
                    </a:lnTo>
                    <a:cubicBezTo>
                      <a:pt x="794586" y="0"/>
                      <a:pt x="884931" y="90345"/>
                      <a:pt x="884931" y="201792"/>
                    </a:cubicBezTo>
                    <a:lnTo>
                      <a:pt x="884931" y="232183"/>
                    </a:lnTo>
                    <a:lnTo>
                      <a:pt x="0" y="232183"/>
                    </a:lnTo>
                    <a:lnTo>
                      <a:pt x="0" y="201792"/>
                    </a:lnTo>
                    <a:cubicBezTo>
                      <a:pt x="0" y="90345"/>
                      <a:pt x="90345" y="0"/>
                      <a:pt x="20179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GB"/>
              </a:p>
            </p:txBody>
          </p:sp>
        </p:grpSp>
        <p:cxnSp>
          <p:nvCxnSpPr>
            <p:cNvPr id="53" name="Straight Connector 52">
              <a:extLst>
                <a:ext uri="{FF2B5EF4-FFF2-40B4-BE49-F238E27FC236}">
                  <a16:creationId xmlns:a16="http://schemas.microsoft.com/office/drawing/2014/main" id="{B1D4A84B-E970-D115-5A96-0A30BB4B165A}"/>
                </a:ext>
              </a:extLst>
            </p:cNvPr>
            <p:cNvCxnSpPr>
              <a:cxnSpLocks/>
              <a:stCxn id="10" idx="2"/>
            </p:cNvCxnSpPr>
            <p:nvPr/>
          </p:nvCxnSpPr>
          <p:spPr>
            <a:xfrm flipH="1">
              <a:off x="3812883" y="3188488"/>
              <a:ext cx="2708" cy="1111532"/>
            </a:xfrm>
            <a:prstGeom prst="line">
              <a:avLst/>
            </a:prstGeom>
            <a:ln w="9525">
              <a:prstDash val="dash"/>
            </a:ln>
          </p:spPr>
          <p:style>
            <a:lnRef idx="2">
              <a:schemeClr val="accent1"/>
            </a:lnRef>
            <a:fillRef idx="0">
              <a:schemeClr val="accent1"/>
            </a:fillRef>
            <a:effectRef idx="1">
              <a:schemeClr val="accent1"/>
            </a:effectRef>
            <a:fontRef idx="minor">
              <a:schemeClr val="tx1"/>
            </a:fontRef>
          </p:style>
        </p:cxnSp>
        <p:sp>
          <p:nvSpPr>
            <p:cNvPr id="57" name="TextBox 197">
              <a:extLst>
                <a:ext uri="{FF2B5EF4-FFF2-40B4-BE49-F238E27FC236}">
                  <a16:creationId xmlns:a16="http://schemas.microsoft.com/office/drawing/2014/main" id="{87386605-0E1B-8942-BD39-CDC75ED0B7FD}"/>
                </a:ext>
              </a:extLst>
            </p:cNvPr>
            <p:cNvSpPr txBox="1"/>
            <p:nvPr/>
          </p:nvSpPr>
          <p:spPr>
            <a:xfrm>
              <a:off x="4352759" y="4442964"/>
              <a:ext cx="1873700" cy="317891"/>
            </a:xfrm>
            <a:prstGeom prst="rect">
              <a:avLst/>
            </a:prstGeom>
            <a:noFill/>
          </p:spPr>
          <p:txBody>
            <a:bodyPr wrap="square" rtlCol="0">
              <a:noAutofit/>
            </a:bodyPr>
            <a:lstStyle/>
            <a:p>
              <a:pP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External standards and certification bodies etc</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59" name="TextBox 199">
              <a:extLst>
                <a:ext uri="{FF2B5EF4-FFF2-40B4-BE49-F238E27FC236}">
                  <a16:creationId xmlns:a16="http://schemas.microsoft.com/office/drawing/2014/main" id="{82A51980-1743-8D35-1A79-F91268BA44AA}"/>
                </a:ext>
              </a:extLst>
            </p:cNvPr>
            <p:cNvSpPr txBox="1"/>
            <p:nvPr/>
          </p:nvSpPr>
          <p:spPr>
            <a:xfrm>
              <a:off x="4203118" y="4259978"/>
              <a:ext cx="224406" cy="249599"/>
            </a:xfrm>
            <a:prstGeom prst="rect">
              <a:avLst/>
            </a:prstGeom>
            <a:noFill/>
          </p:spPr>
          <p:txBody>
            <a:bodyPr wrap="square" rtlCol="0">
              <a:noAutofit/>
            </a:bodyPr>
            <a:lstStyle/>
            <a:p>
              <a:pPr algn="ctr">
                <a:buNone/>
              </a:pPr>
              <a:r>
                <a:rPr lang="en-US" sz="1100" b="1"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5</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grpSp>
      <p:sp>
        <p:nvSpPr>
          <p:cNvPr id="8" name="Rectangle 7">
            <a:extLst>
              <a:ext uri="{FF2B5EF4-FFF2-40B4-BE49-F238E27FC236}">
                <a16:creationId xmlns:a16="http://schemas.microsoft.com/office/drawing/2014/main" id="{1B2033F9-13DA-15C6-9100-982A75F2D3BA}"/>
              </a:ext>
            </a:extLst>
          </p:cNvPr>
          <p:cNvSpPr/>
          <p:nvPr/>
        </p:nvSpPr>
        <p:spPr>
          <a:xfrm>
            <a:off x="5267349" y="2761437"/>
            <a:ext cx="851802"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EORE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80CA132A-057B-E032-3703-65086EE2289E}"/>
              </a:ext>
            </a:extLst>
          </p:cNvPr>
          <p:cNvSpPr/>
          <p:nvPr/>
        </p:nvSpPr>
        <p:spPr>
          <a:xfrm>
            <a:off x="4353741" y="2767480"/>
            <a:ext cx="806738"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7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Information</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a:p>
            <a:pPr algn="ctr">
              <a:buNone/>
            </a:pPr>
            <a:r>
              <a:rPr lang="en-US" sz="7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Management</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F2471E47-9A40-D1D5-2270-4E5E6F5A7015}"/>
              </a:ext>
            </a:extLst>
          </p:cNvPr>
          <p:cNvSpPr/>
          <p:nvPr/>
        </p:nvSpPr>
        <p:spPr>
          <a:xfrm>
            <a:off x="3389199" y="2761436"/>
            <a:ext cx="852783"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Quality management</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477FE2E9-1AB6-9242-8FE3-6020D7B90097}"/>
              </a:ext>
            </a:extLst>
          </p:cNvPr>
          <p:cNvSpPr/>
          <p:nvPr/>
        </p:nvSpPr>
        <p:spPr>
          <a:xfrm>
            <a:off x="2453853" y="2767480"/>
            <a:ext cx="852785"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Standards</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78EF39EA-22EE-6B6A-042F-0C9EA0332A00}"/>
              </a:ext>
            </a:extLst>
          </p:cNvPr>
          <p:cNvSpPr/>
          <p:nvPr/>
        </p:nvSpPr>
        <p:spPr>
          <a:xfrm>
            <a:off x="1502688" y="2767480"/>
            <a:ext cx="852785"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Operations</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13A59A84-1BCC-2566-635C-0C2ADBC84141}"/>
              </a:ext>
            </a:extLst>
          </p:cNvPr>
          <p:cNvSpPr/>
          <p:nvPr/>
        </p:nvSpPr>
        <p:spPr>
          <a:xfrm>
            <a:off x="556468" y="2755392"/>
            <a:ext cx="852783"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9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Plans</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6B886DA6-40A5-673E-E568-2281B7EA14A4}"/>
              </a:ext>
            </a:extLst>
          </p:cNvPr>
          <p:cNvSpPr/>
          <p:nvPr/>
        </p:nvSpPr>
        <p:spPr>
          <a:xfrm>
            <a:off x="7186657" y="2767480"/>
            <a:ext cx="851801"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Meeting Support/</a:t>
            </a:r>
          </a:p>
          <a:p>
            <a:pPr algn="ctr">
              <a:buNone/>
            </a:pPr>
            <a:r>
              <a:rPr lang="en-US" sz="8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secretariat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725D826D-31EA-9737-BD8B-C7E502878A1D}"/>
              </a:ext>
            </a:extLst>
          </p:cNvPr>
          <p:cNvSpPr/>
          <p:nvPr/>
        </p:nvSpPr>
        <p:spPr>
          <a:xfrm>
            <a:off x="6237327" y="2761437"/>
            <a:ext cx="836569"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Victim assistance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DCA1895D-0C60-648B-CEAD-AF1788282FA8}"/>
              </a:ext>
            </a:extLst>
          </p:cNvPr>
          <p:cNvSpPr/>
          <p:nvPr/>
        </p:nvSpPr>
        <p:spPr>
          <a:xfrm>
            <a:off x="5255928" y="2019380"/>
            <a:ext cx="849345"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Deputy</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cxnSp>
        <p:nvCxnSpPr>
          <p:cNvPr id="18" name="Elbow Connector 17">
            <a:extLst>
              <a:ext uri="{FF2B5EF4-FFF2-40B4-BE49-F238E27FC236}">
                <a16:creationId xmlns:a16="http://schemas.microsoft.com/office/drawing/2014/main" id="{40558464-5A5F-3A53-2DE5-CC1FC51DA201}"/>
              </a:ext>
            </a:extLst>
          </p:cNvPr>
          <p:cNvCxnSpPr>
            <a:cxnSpLocks/>
            <a:stCxn id="12" idx="0"/>
            <a:endCxn id="7" idx="2"/>
          </p:cNvCxnSpPr>
          <p:nvPr/>
        </p:nvCxnSpPr>
        <p:spPr>
          <a:xfrm rot="5400000" flipH="1" flipV="1">
            <a:off x="2847386" y="858247"/>
            <a:ext cx="990928" cy="2827539"/>
          </a:xfrm>
          <a:prstGeom prst="bentConnector3">
            <a:avLst>
              <a:gd name="adj1"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8450089-A7C8-12D0-6F22-C3C125124840}"/>
              </a:ext>
            </a:extLst>
          </p:cNvPr>
          <p:cNvSpPr/>
          <p:nvPr/>
        </p:nvSpPr>
        <p:spPr>
          <a:xfrm>
            <a:off x="8170780" y="2755391"/>
            <a:ext cx="830030"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dirty="0">
                <a:solidFill>
                  <a:srgbClr val="000000"/>
                </a:solidFill>
                <a:effectLst/>
                <a:ea typeface="Calibri" panose="020F0502020204030204" pitchFamily="34" charset="0"/>
                <a:cs typeface="Times New Roman" panose="02020603050405020304" pitchFamily="18" charset="0"/>
              </a:rPr>
              <a:t>Administration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grpSp>
        <p:nvGrpSpPr>
          <p:cNvPr id="101" name="Group 100">
            <a:extLst>
              <a:ext uri="{FF2B5EF4-FFF2-40B4-BE49-F238E27FC236}">
                <a16:creationId xmlns:a16="http://schemas.microsoft.com/office/drawing/2014/main" id="{A1B151A7-9A78-8744-AD4B-43AB155CE8D1}"/>
              </a:ext>
            </a:extLst>
          </p:cNvPr>
          <p:cNvGrpSpPr/>
          <p:nvPr/>
        </p:nvGrpSpPr>
        <p:grpSpPr>
          <a:xfrm>
            <a:off x="982858" y="1776553"/>
            <a:ext cx="7602938" cy="990928"/>
            <a:chOff x="982858" y="1776553"/>
            <a:chExt cx="7602938" cy="990928"/>
          </a:xfrm>
        </p:grpSpPr>
        <p:cxnSp>
          <p:nvCxnSpPr>
            <p:cNvPr id="17" name="Elbow Connector 16">
              <a:extLst>
                <a:ext uri="{FF2B5EF4-FFF2-40B4-BE49-F238E27FC236}">
                  <a16:creationId xmlns:a16="http://schemas.microsoft.com/office/drawing/2014/main" id="{C08DE6D9-8F53-78AF-C80D-1661C47926D8}"/>
                </a:ext>
              </a:extLst>
            </p:cNvPr>
            <p:cNvCxnSpPr>
              <a:cxnSpLocks/>
            </p:cNvCxnSpPr>
            <p:nvPr/>
          </p:nvCxnSpPr>
          <p:spPr>
            <a:xfrm rot="16200000" flipH="1">
              <a:off x="2863940" y="874311"/>
              <a:ext cx="12088" cy="3774251"/>
            </a:xfrm>
            <a:prstGeom prst="bentConnector3">
              <a:avLst>
                <a:gd name="adj1" fmla="val -1799858"/>
              </a:avLst>
            </a:prstGeom>
          </p:spPr>
          <p:style>
            <a:lnRef idx="2">
              <a:schemeClr val="accent1"/>
            </a:lnRef>
            <a:fillRef idx="0">
              <a:schemeClr val="accent1"/>
            </a:fillRef>
            <a:effectRef idx="1">
              <a:schemeClr val="accent1"/>
            </a:effectRef>
            <a:fontRef idx="minor">
              <a:schemeClr val="tx1"/>
            </a:fontRef>
          </p:style>
        </p:cxnSp>
        <p:cxnSp>
          <p:nvCxnSpPr>
            <p:cNvPr id="19" name="Elbow Connector 18">
              <a:extLst>
                <a:ext uri="{FF2B5EF4-FFF2-40B4-BE49-F238E27FC236}">
                  <a16:creationId xmlns:a16="http://schemas.microsoft.com/office/drawing/2014/main" id="{E0759899-D9B0-CA5A-3872-C6EE34D9E5E5}"/>
                </a:ext>
              </a:extLst>
            </p:cNvPr>
            <p:cNvCxnSpPr>
              <a:cxnSpLocks/>
            </p:cNvCxnSpPr>
            <p:nvPr/>
          </p:nvCxnSpPr>
          <p:spPr>
            <a:xfrm rot="16200000" flipV="1">
              <a:off x="5718963" y="873885"/>
              <a:ext cx="6044" cy="3781146"/>
            </a:xfrm>
            <a:prstGeom prst="bentConnector3">
              <a:avLst>
                <a:gd name="adj1" fmla="val 3773230"/>
              </a:avLst>
            </a:prstGeom>
          </p:spPr>
          <p:style>
            <a:lnRef idx="2">
              <a:schemeClr val="accent1"/>
            </a:lnRef>
            <a:fillRef idx="0">
              <a:schemeClr val="accent1"/>
            </a:fillRef>
            <a:effectRef idx="1">
              <a:schemeClr val="accent1"/>
            </a:effectRef>
            <a:fontRef idx="minor">
              <a:schemeClr val="tx1"/>
            </a:fontRef>
          </p:style>
        </p:cxnSp>
        <p:cxnSp>
          <p:nvCxnSpPr>
            <p:cNvPr id="20" name="Elbow Connector 19">
              <a:extLst>
                <a:ext uri="{FF2B5EF4-FFF2-40B4-BE49-F238E27FC236}">
                  <a16:creationId xmlns:a16="http://schemas.microsoft.com/office/drawing/2014/main" id="{84329254-B880-7DFB-C887-41A6F8C730C3}"/>
                </a:ext>
              </a:extLst>
            </p:cNvPr>
            <p:cNvCxnSpPr>
              <a:cxnSpLocks/>
            </p:cNvCxnSpPr>
            <p:nvPr/>
          </p:nvCxnSpPr>
          <p:spPr>
            <a:xfrm rot="16200000" flipH="1" flipV="1">
              <a:off x="4261676" y="1357181"/>
              <a:ext cx="6043" cy="2813004"/>
            </a:xfrm>
            <a:prstGeom prst="bentConnector3">
              <a:avLst>
                <a:gd name="adj1" fmla="val -3673804"/>
              </a:avLst>
            </a:prstGeom>
          </p:spPr>
          <p:style>
            <a:lnRef idx="2">
              <a:schemeClr val="accent1"/>
            </a:lnRef>
            <a:fillRef idx="0">
              <a:schemeClr val="accent1"/>
            </a:fillRef>
            <a:effectRef idx="1">
              <a:schemeClr val="accent1"/>
            </a:effectRef>
            <a:fontRef idx="minor">
              <a:schemeClr val="tx1"/>
            </a:fontRef>
          </p:style>
        </p:cxnSp>
        <p:cxnSp>
          <p:nvCxnSpPr>
            <p:cNvPr id="21" name="Elbow Connector 20">
              <a:extLst>
                <a:ext uri="{FF2B5EF4-FFF2-40B4-BE49-F238E27FC236}">
                  <a16:creationId xmlns:a16="http://schemas.microsoft.com/office/drawing/2014/main" id="{7E4A228E-26C7-0D73-F39F-28392B1C773F}"/>
                </a:ext>
              </a:extLst>
            </p:cNvPr>
            <p:cNvCxnSpPr>
              <a:cxnSpLocks/>
            </p:cNvCxnSpPr>
            <p:nvPr/>
          </p:nvCxnSpPr>
          <p:spPr>
            <a:xfrm rot="16200000" flipV="1">
              <a:off x="5097197" y="1435976"/>
              <a:ext cx="242827" cy="9239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73D31214-B793-81AD-B1D3-5DD350DF9EC1}"/>
                </a:ext>
              </a:extLst>
            </p:cNvPr>
            <p:cNvCxnSpPr>
              <a:cxnSpLocks/>
            </p:cNvCxnSpPr>
            <p:nvPr/>
          </p:nvCxnSpPr>
          <p:spPr>
            <a:xfrm rot="16200000" flipH="1" flipV="1">
              <a:off x="8093132" y="2274816"/>
              <a:ext cx="12089" cy="973239"/>
            </a:xfrm>
            <a:prstGeom prst="bentConnector3">
              <a:avLst>
                <a:gd name="adj1" fmla="val -1767259"/>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B91CCD4-A09B-5510-D857-ECFFEC5FD036}"/>
                </a:ext>
              </a:extLst>
            </p:cNvPr>
            <p:cNvCxnSpPr>
              <a:cxnSpLocks/>
            </p:cNvCxnSpPr>
            <p:nvPr/>
          </p:nvCxnSpPr>
          <p:spPr>
            <a:xfrm>
              <a:off x="4756619" y="1776553"/>
              <a:ext cx="491" cy="990927"/>
            </a:xfrm>
            <a:prstGeom prst="line">
              <a:avLst/>
            </a:prstGeom>
          </p:spPr>
          <p:style>
            <a:lnRef idx="2">
              <a:schemeClr val="accent1"/>
            </a:lnRef>
            <a:fillRef idx="0">
              <a:schemeClr val="accent1"/>
            </a:fillRef>
            <a:effectRef idx="1">
              <a:schemeClr val="accent1"/>
            </a:effectRef>
            <a:fontRef idx="minor">
              <a:schemeClr val="tx1"/>
            </a:fontRef>
          </p:style>
        </p:cxnSp>
      </p:grpSp>
      <p:sp>
        <p:nvSpPr>
          <p:cNvPr id="26" name="Rectangle 25">
            <a:extLst>
              <a:ext uri="{FF2B5EF4-FFF2-40B4-BE49-F238E27FC236}">
                <a16:creationId xmlns:a16="http://schemas.microsoft.com/office/drawing/2014/main" id="{6C22E0C9-C678-A83E-18E6-744D96D05E93}"/>
              </a:ext>
            </a:extLst>
          </p:cNvPr>
          <p:cNvSpPr/>
          <p:nvPr/>
        </p:nvSpPr>
        <p:spPr>
          <a:xfrm>
            <a:off x="570723" y="3378990"/>
            <a:ext cx="852784" cy="34564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err="1">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Prioritisation</a:t>
            </a: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planning, data analysis and resource allocation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810EB21F-9CB9-F39A-14EA-307A01BBE2DA}"/>
              </a:ext>
            </a:extLst>
          </p:cNvPr>
          <p:cNvSpPr/>
          <p:nvPr/>
        </p:nvSpPr>
        <p:spPr>
          <a:xfrm>
            <a:off x="2461622" y="3379054"/>
            <a:ext cx="852784" cy="42705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Mine action standards</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Capacity building</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Personnel training</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Land release standards</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00CD927D-4D0F-78B6-7A5B-F9BCDFE6A055}"/>
              </a:ext>
            </a:extLst>
          </p:cNvPr>
          <p:cNvSpPr/>
          <p:nvPr/>
        </p:nvSpPr>
        <p:spPr>
          <a:xfrm>
            <a:off x="4352760" y="3379054"/>
            <a:ext cx="807721" cy="42705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Information management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00530370-057B-DAEE-D5B4-CAAEF5959C54}"/>
              </a:ext>
            </a:extLst>
          </p:cNvPr>
          <p:cNvSpPr/>
          <p:nvPr/>
        </p:nvSpPr>
        <p:spPr>
          <a:xfrm>
            <a:off x="5267350" y="3379054"/>
            <a:ext cx="852784" cy="42705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EORE</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lgn="ct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Community engagement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lgn="ct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lgn="ct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9E706F73-86C9-1183-54FC-1DB7935A2A45}"/>
              </a:ext>
            </a:extLst>
          </p:cNvPr>
          <p:cNvSpPr/>
          <p:nvPr/>
        </p:nvSpPr>
        <p:spPr>
          <a:xfrm>
            <a:off x="6227003" y="3382865"/>
            <a:ext cx="852784" cy="42705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Victim assistance</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1" name="Rectangle 30">
            <a:extLst>
              <a:ext uri="{FF2B5EF4-FFF2-40B4-BE49-F238E27FC236}">
                <a16:creationId xmlns:a16="http://schemas.microsoft.com/office/drawing/2014/main" id="{0814E004-4ACD-B9F6-665A-6A4928BDAD96}"/>
              </a:ext>
            </a:extLst>
          </p:cNvPr>
          <p:cNvSpPr/>
          <p:nvPr/>
        </p:nvSpPr>
        <p:spPr>
          <a:xfrm>
            <a:off x="8149504" y="3377233"/>
            <a:ext cx="852784" cy="42705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ea typeface="Calibri" panose="020F0502020204030204" pitchFamily="34" charset="0"/>
                <a:cs typeface="Times New Roman" panose="02020603050405020304" pitchFamily="18" charset="0"/>
              </a:rPr>
              <a:t>Administration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ea typeface="Calibri" panose="020F0502020204030204" pitchFamily="34" charset="0"/>
                <a:cs typeface="Times New Roman" panose="02020603050405020304" pitchFamily="18" charset="0"/>
              </a:rPr>
              <a:t>Logistics</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ea typeface="Calibri" panose="020F0502020204030204" pitchFamily="34" charset="0"/>
                <a:cs typeface="Times New Roman" panose="02020603050405020304" pitchFamily="18" charset="0"/>
              </a:rPr>
              <a:t>Internal budgeting &amp; finance</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cxnSp>
        <p:nvCxnSpPr>
          <p:cNvPr id="43" name="Straight Connector 42">
            <a:extLst>
              <a:ext uri="{FF2B5EF4-FFF2-40B4-BE49-F238E27FC236}">
                <a16:creationId xmlns:a16="http://schemas.microsoft.com/office/drawing/2014/main" id="{AB2813C2-8EC8-3364-B7DF-E79F69798F96}"/>
              </a:ext>
            </a:extLst>
          </p:cNvPr>
          <p:cNvCxnSpPr>
            <a:cxnSpLocks/>
          </p:cNvCxnSpPr>
          <p:nvPr/>
        </p:nvCxnSpPr>
        <p:spPr>
          <a:xfrm>
            <a:off x="1929080" y="3194533"/>
            <a:ext cx="15536" cy="113404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343A02E4-9697-99FA-D081-5CEE8D0EA1A5}"/>
              </a:ext>
            </a:extLst>
          </p:cNvPr>
          <p:cNvSpPr/>
          <p:nvPr/>
        </p:nvSpPr>
        <p:spPr>
          <a:xfrm>
            <a:off x="1518226" y="3379054"/>
            <a:ext cx="852784" cy="427052"/>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Tasking</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Regional participation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Monitoring </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grpSp>
        <p:nvGrpSpPr>
          <p:cNvPr id="83" name="Group 82">
            <a:extLst>
              <a:ext uri="{FF2B5EF4-FFF2-40B4-BE49-F238E27FC236}">
                <a16:creationId xmlns:a16="http://schemas.microsoft.com/office/drawing/2014/main" id="{55E925B4-2C15-B5E6-DDEC-0851B8B9932B}"/>
              </a:ext>
            </a:extLst>
          </p:cNvPr>
          <p:cNvGrpSpPr/>
          <p:nvPr/>
        </p:nvGrpSpPr>
        <p:grpSpPr>
          <a:xfrm>
            <a:off x="4352760" y="1349477"/>
            <a:ext cx="1015016" cy="427075"/>
            <a:chOff x="4352760" y="1349477"/>
            <a:chExt cx="1015016" cy="427075"/>
          </a:xfrm>
        </p:grpSpPr>
        <p:sp>
          <p:nvSpPr>
            <p:cNvPr id="7" name="Rectangle 6">
              <a:extLst>
                <a:ext uri="{FF2B5EF4-FFF2-40B4-BE49-F238E27FC236}">
                  <a16:creationId xmlns:a16="http://schemas.microsoft.com/office/drawing/2014/main" id="{F19CE91F-D126-8A65-2E70-E9CAC6A4D117}"/>
                </a:ext>
              </a:extLst>
            </p:cNvPr>
            <p:cNvSpPr/>
            <p:nvPr/>
          </p:nvSpPr>
          <p:spPr>
            <a:xfrm>
              <a:off x="4352760" y="1349500"/>
              <a:ext cx="807720" cy="427052"/>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Director</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45" name="TextBox 169">
              <a:extLst>
                <a:ext uri="{FF2B5EF4-FFF2-40B4-BE49-F238E27FC236}">
                  <a16:creationId xmlns:a16="http://schemas.microsoft.com/office/drawing/2014/main" id="{0A610B43-CA6A-49F9-8C3F-1C542CEF3BDB}"/>
                </a:ext>
              </a:extLst>
            </p:cNvPr>
            <p:cNvSpPr txBox="1"/>
            <p:nvPr/>
          </p:nvSpPr>
          <p:spPr>
            <a:xfrm>
              <a:off x="5143383" y="1349477"/>
              <a:ext cx="224393" cy="249594"/>
            </a:xfrm>
            <a:prstGeom prst="rect">
              <a:avLst/>
            </a:prstGeom>
            <a:noFill/>
          </p:spPr>
          <p:txBody>
            <a:bodyPr wrap="square" rtlCol="0">
              <a:noAutofit/>
            </a:bodyPr>
            <a:lstStyle/>
            <a:p>
              <a:pPr algn="ctr">
                <a:buNone/>
              </a:pPr>
              <a:r>
                <a:rPr lang="en-US" sz="1100" b="1"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1</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grpSp>
      <p:sp>
        <p:nvSpPr>
          <p:cNvPr id="46" name="TextBox 170">
            <a:extLst>
              <a:ext uri="{FF2B5EF4-FFF2-40B4-BE49-F238E27FC236}">
                <a16:creationId xmlns:a16="http://schemas.microsoft.com/office/drawing/2014/main" id="{08188B0B-7952-ADC5-8653-91AD96DFE68F}"/>
              </a:ext>
            </a:extLst>
          </p:cNvPr>
          <p:cNvSpPr txBox="1"/>
          <p:nvPr/>
        </p:nvSpPr>
        <p:spPr>
          <a:xfrm>
            <a:off x="291197" y="2837050"/>
            <a:ext cx="224393" cy="249594"/>
          </a:xfrm>
          <a:prstGeom prst="rect">
            <a:avLst/>
          </a:prstGeom>
          <a:noFill/>
        </p:spPr>
        <p:txBody>
          <a:bodyPr wrap="square" rtlCol="0">
            <a:noAutofit/>
          </a:bodyPr>
          <a:lstStyle/>
          <a:p>
            <a:pPr algn="ctr">
              <a:buNone/>
            </a:pPr>
            <a:r>
              <a:rPr lang="en-US" sz="1100" b="1"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2</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47" name="TextBox 171">
            <a:extLst>
              <a:ext uri="{FF2B5EF4-FFF2-40B4-BE49-F238E27FC236}">
                <a16:creationId xmlns:a16="http://schemas.microsoft.com/office/drawing/2014/main" id="{A2434A75-8E2D-716F-06DB-18FCB513D2EF}"/>
              </a:ext>
            </a:extLst>
          </p:cNvPr>
          <p:cNvSpPr txBox="1"/>
          <p:nvPr/>
        </p:nvSpPr>
        <p:spPr>
          <a:xfrm>
            <a:off x="291197" y="3475111"/>
            <a:ext cx="224393" cy="249594"/>
          </a:xfrm>
          <a:prstGeom prst="rect">
            <a:avLst/>
          </a:prstGeom>
          <a:noFill/>
        </p:spPr>
        <p:txBody>
          <a:bodyPr wrap="square" rtlCol="0">
            <a:noAutofit/>
          </a:bodyPr>
          <a:lstStyle/>
          <a:p>
            <a:pPr algn="ctr">
              <a:buNone/>
            </a:pPr>
            <a:r>
              <a:rPr lang="en-US" sz="1100" b="1"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3</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48" name="TextBox 172">
            <a:extLst>
              <a:ext uri="{FF2B5EF4-FFF2-40B4-BE49-F238E27FC236}">
                <a16:creationId xmlns:a16="http://schemas.microsoft.com/office/drawing/2014/main" id="{86A9875D-64BA-BB01-7BB9-B6DFB7580766}"/>
              </a:ext>
            </a:extLst>
          </p:cNvPr>
          <p:cNvSpPr txBox="1"/>
          <p:nvPr/>
        </p:nvSpPr>
        <p:spPr>
          <a:xfrm>
            <a:off x="3274410" y="3148817"/>
            <a:ext cx="224393" cy="264098"/>
          </a:xfrm>
          <a:prstGeom prst="rect">
            <a:avLst/>
          </a:prstGeom>
          <a:noFill/>
        </p:spPr>
        <p:txBody>
          <a:bodyPr wrap="square" rtlCol="0">
            <a:noAutofit/>
          </a:bodyPr>
          <a:lstStyle/>
          <a:p>
            <a:pPr algn="ctr">
              <a:buNone/>
            </a:pPr>
            <a:r>
              <a:rPr lang="en-US" sz="1200" b="1"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 </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54" name="Rectangle 53">
            <a:extLst>
              <a:ext uri="{FF2B5EF4-FFF2-40B4-BE49-F238E27FC236}">
                <a16:creationId xmlns:a16="http://schemas.microsoft.com/office/drawing/2014/main" id="{2A1E440C-B910-EDE9-5346-10681E9ED7A0}"/>
              </a:ext>
            </a:extLst>
          </p:cNvPr>
          <p:cNvSpPr/>
          <p:nvPr/>
        </p:nvSpPr>
        <p:spPr>
          <a:xfrm>
            <a:off x="3389198" y="3382865"/>
            <a:ext cx="852784" cy="51086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Quality management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Innovation &amp; technology</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Accident investigation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Technology certification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Operator certification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6FEFD067-4ED9-612D-45B6-8461F57425D3}"/>
              </a:ext>
            </a:extLst>
          </p:cNvPr>
          <p:cNvSpPr/>
          <p:nvPr/>
        </p:nvSpPr>
        <p:spPr>
          <a:xfrm>
            <a:off x="7186657" y="3377233"/>
            <a:ext cx="852784" cy="773626"/>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Partner coordination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Point of Contact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Support to Steering Committee</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Attendance at international fora</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Public information</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Legal</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a:p>
            <a:pPr>
              <a:buNone/>
            </a:pPr>
            <a:r>
              <a:rPr lang="en-US" sz="5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Equipment import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grpSp>
        <p:nvGrpSpPr>
          <p:cNvPr id="104" name="Group 103">
            <a:extLst>
              <a:ext uri="{FF2B5EF4-FFF2-40B4-BE49-F238E27FC236}">
                <a16:creationId xmlns:a16="http://schemas.microsoft.com/office/drawing/2014/main" id="{48FA93C2-C5B7-6F0D-4AF6-BEC624F37471}"/>
              </a:ext>
            </a:extLst>
          </p:cNvPr>
          <p:cNvGrpSpPr/>
          <p:nvPr/>
        </p:nvGrpSpPr>
        <p:grpSpPr>
          <a:xfrm>
            <a:off x="4756620" y="284082"/>
            <a:ext cx="3971157" cy="2483399"/>
            <a:chOff x="4756620" y="284082"/>
            <a:chExt cx="3971157" cy="2483399"/>
          </a:xfrm>
        </p:grpSpPr>
        <p:cxnSp>
          <p:nvCxnSpPr>
            <p:cNvPr id="51" name="Elbow Connector 50">
              <a:extLst>
                <a:ext uri="{FF2B5EF4-FFF2-40B4-BE49-F238E27FC236}">
                  <a16:creationId xmlns:a16="http://schemas.microsoft.com/office/drawing/2014/main" id="{AC311FA5-BA55-7DF6-C6ED-BD33B99E385E}"/>
                </a:ext>
              </a:extLst>
            </p:cNvPr>
            <p:cNvCxnSpPr>
              <a:cxnSpLocks/>
            </p:cNvCxnSpPr>
            <p:nvPr/>
          </p:nvCxnSpPr>
          <p:spPr>
            <a:xfrm rot="5400000">
              <a:off x="5864824" y="-400405"/>
              <a:ext cx="641702" cy="285810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grpSp>
          <p:nvGrpSpPr>
            <p:cNvPr id="94" name="Group 93">
              <a:extLst>
                <a:ext uri="{FF2B5EF4-FFF2-40B4-BE49-F238E27FC236}">
                  <a16:creationId xmlns:a16="http://schemas.microsoft.com/office/drawing/2014/main" id="{C58D38F2-A0A5-4128-413B-FD985CE6086D}"/>
                </a:ext>
              </a:extLst>
            </p:cNvPr>
            <p:cNvGrpSpPr/>
            <p:nvPr/>
          </p:nvGrpSpPr>
          <p:grpSpPr>
            <a:xfrm>
              <a:off x="7191000" y="284082"/>
              <a:ext cx="1536777" cy="2483399"/>
              <a:chOff x="7191000" y="284082"/>
              <a:chExt cx="1536777" cy="2483399"/>
            </a:xfrm>
          </p:grpSpPr>
          <p:grpSp>
            <p:nvGrpSpPr>
              <p:cNvPr id="50" name="Group 49">
                <a:extLst>
                  <a:ext uri="{FF2B5EF4-FFF2-40B4-BE49-F238E27FC236}">
                    <a16:creationId xmlns:a16="http://schemas.microsoft.com/office/drawing/2014/main" id="{8C71749C-D589-0DD0-028F-0C8FE54FEA1C}"/>
                  </a:ext>
                </a:extLst>
              </p:cNvPr>
              <p:cNvGrpSpPr/>
              <p:nvPr/>
            </p:nvGrpSpPr>
            <p:grpSpPr>
              <a:xfrm>
                <a:off x="7191000" y="284082"/>
                <a:ext cx="847458" cy="423717"/>
                <a:chOff x="7204902" y="0"/>
                <a:chExt cx="884931" cy="445211"/>
              </a:xfrm>
            </p:grpSpPr>
            <p:sp>
              <p:nvSpPr>
                <p:cNvPr id="62" name="Rounded Rectangle 61">
                  <a:extLst>
                    <a:ext uri="{FF2B5EF4-FFF2-40B4-BE49-F238E27FC236}">
                      <a16:creationId xmlns:a16="http://schemas.microsoft.com/office/drawing/2014/main" id="{A13B88CA-6D71-BE54-4AAB-35F2A7DB6A13}"/>
                    </a:ext>
                  </a:extLst>
                </p:cNvPr>
                <p:cNvSpPr/>
                <p:nvPr/>
              </p:nvSpPr>
              <p:spPr>
                <a:xfrm>
                  <a:off x="7204902" y="0"/>
                  <a:ext cx="884931" cy="445211"/>
                </a:xfrm>
                <a:prstGeom prst="roundRect">
                  <a:avLst>
                    <a:gd name="adj" fmla="val 45325"/>
                  </a:avLst>
                </a:prstGeom>
                <a:solidFill>
                  <a:srgbClr val="FFFF00"/>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63" name="Freeform 62">
                  <a:extLst>
                    <a:ext uri="{FF2B5EF4-FFF2-40B4-BE49-F238E27FC236}">
                      <a16:creationId xmlns:a16="http://schemas.microsoft.com/office/drawing/2014/main" id="{6F084CFA-4580-A836-127E-203D81A7BBA7}"/>
                    </a:ext>
                  </a:extLst>
                </p:cNvPr>
                <p:cNvSpPr/>
                <p:nvPr/>
              </p:nvSpPr>
              <p:spPr>
                <a:xfrm>
                  <a:off x="7212608" y="6350"/>
                  <a:ext cx="877225" cy="232183"/>
                </a:xfrm>
                <a:custGeom>
                  <a:avLst/>
                  <a:gdLst>
                    <a:gd name="connsiteX0" fmla="*/ 201792 w 884931"/>
                    <a:gd name="connsiteY0" fmla="*/ 0 h 232183"/>
                    <a:gd name="connsiteX1" fmla="*/ 683139 w 884931"/>
                    <a:gd name="connsiteY1" fmla="*/ 0 h 232183"/>
                    <a:gd name="connsiteX2" fmla="*/ 884931 w 884931"/>
                    <a:gd name="connsiteY2" fmla="*/ 201792 h 232183"/>
                    <a:gd name="connsiteX3" fmla="*/ 884931 w 884931"/>
                    <a:gd name="connsiteY3" fmla="*/ 232183 h 232183"/>
                    <a:gd name="connsiteX4" fmla="*/ 0 w 884931"/>
                    <a:gd name="connsiteY4" fmla="*/ 232183 h 232183"/>
                    <a:gd name="connsiteX5" fmla="*/ 0 w 884931"/>
                    <a:gd name="connsiteY5" fmla="*/ 201792 h 232183"/>
                    <a:gd name="connsiteX6" fmla="*/ 201792 w 884931"/>
                    <a:gd name="connsiteY6" fmla="*/ 0 h 2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931" h="232183">
                      <a:moveTo>
                        <a:pt x="201792" y="0"/>
                      </a:moveTo>
                      <a:lnTo>
                        <a:pt x="683139" y="0"/>
                      </a:lnTo>
                      <a:cubicBezTo>
                        <a:pt x="794586" y="0"/>
                        <a:pt x="884931" y="90345"/>
                        <a:pt x="884931" y="201792"/>
                      </a:cubicBezTo>
                      <a:lnTo>
                        <a:pt x="884931" y="232183"/>
                      </a:lnTo>
                      <a:lnTo>
                        <a:pt x="0" y="232183"/>
                      </a:lnTo>
                      <a:lnTo>
                        <a:pt x="0" y="201792"/>
                      </a:lnTo>
                      <a:cubicBezTo>
                        <a:pt x="0" y="90345"/>
                        <a:pt x="90345" y="0"/>
                        <a:pt x="20179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GB"/>
                </a:p>
              </p:txBody>
            </p:sp>
          </p:grpSp>
          <p:cxnSp>
            <p:nvCxnSpPr>
              <p:cNvPr id="52" name="Straight Connector 51">
                <a:extLst>
                  <a:ext uri="{FF2B5EF4-FFF2-40B4-BE49-F238E27FC236}">
                    <a16:creationId xmlns:a16="http://schemas.microsoft.com/office/drawing/2014/main" id="{E57B8E9E-2809-EB9A-B931-9D7243486DB2}"/>
                  </a:ext>
                </a:extLst>
              </p:cNvPr>
              <p:cNvCxnSpPr>
                <a:cxnSpLocks/>
              </p:cNvCxnSpPr>
              <p:nvPr/>
            </p:nvCxnSpPr>
            <p:spPr>
              <a:xfrm flipH="1">
                <a:off x="7612557" y="707799"/>
                <a:ext cx="2172" cy="2059682"/>
              </a:xfrm>
              <a:prstGeom prst="line">
                <a:avLst/>
              </a:prstGeom>
              <a:ln w="9525">
                <a:prstDash val="dash"/>
              </a:ln>
            </p:spPr>
            <p:style>
              <a:lnRef idx="2">
                <a:schemeClr val="accent1"/>
              </a:lnRef>
              <a:fillRef idx="0">
                <a:schemeClr val="accent1"/>
              </a:fillRef>
              <a:effectRef idx="1">
                <a:schemeClr val="accent1"/>
              </a:effectRef>
              <a:fontRef idx="minor">
                <a:schemeClr val="tx1"/>
              </a:fontRef>
            </p:style>
          </p:cxnSp>
          <p:sp>
            <p:nvSpPr>
              <p:cNvPr id="58" name="TextBox 198">
                <a:extLst>
                  <a:ext uri="{FF2B5EF4-FFF2-40B4-BE49-F238E27FC236}">
                    <a16:creationId xmlns:a16="http://schemas.microsoft.com/office/drawing/2014/main" id="{75D188C6-8B32-F1C5-EBA3-1A2E48BA8A5E}"/>
                  </a:ext>
                </a:extLst>
              </p:cNvPr>
              <p:cNvSpPr txBox="1"/>
              <p:nvPr/>
            </p:nvSpPr>
            <p:spPr>
              <a:xfrm>
                <a:off x="7648673" y="787977"/>
                <a:ext cx="1079104" cy="205043"/>
              </a:xfrm>
              <a:prstGeom prst="rect">
                <a:avLst/>
              </a:prstGeom>
              <a:noFill/>
            </p:spPr>
            <p:txBody>
              <a:bodyPr wrap="square" rtlCol="0">
                <a:noAutofit/>
              </a:bodyPr>
              <a:lstStyle/>
              <a:p>
                <a:pP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Steering committee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60" name="TextBox 200">
                <a:extLst>
                  <a:ext uri="{FF2B5EF4-FFF2-40B4-BE49-F238E27FC236}">
                    <a16:creationId xmlns:a16="http://schemas.microsoft.com/office/drawing/2014/main" id="{4A762E06-1F39-CFB6-C46F-D1FB1566CF0A}"/>
                  </a:ext>
                </a:extLst>
              </p:cNvPr>
              <p:cNvSpPr txBox="1"/>
              <p:nvPr/>
            </p:nvSpPr>
            <p:spPr>
              <a:xfrm>
                <a:off x="7296279" y="776078"/>
                <a:ext cx="224406" cy="249599"/>
              </a:xfrm>
              <a:prstGeom prst="rect">
                <a:avLst/>
              </a:prstGeom>
              <a:noFill/>
            </p:spPr>
            <p:txBody>
              <a:bodyPr wrap="square" rtlCol="0">
                <a:noAutofit/>
              </a:bodyPr>
              <a:lstStyle/>
              <a:p>
                <a:pPr algn="ctr">
                  <a:buNone/>
                </a:pPr>
                <a:r>
                  <a:rPr lang="en-US" sz="1100" b="1"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6</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grpSp>
      </p:grpSp>
      <p:grpSp>
        <p:nvGrpSpPr>
          <p:cNvPr id="105" name="Group 104">
            <a:extLst>
              <a:ext uri="{FF2B5EF4-FFF2-40B4-BE49-F238E27FC236}">
                <a16:creationId xmlns:a16="http://schemas.microsoft.com/office/drawing/2014/main" id="{7EE16AE9-C9A4-FF4A-B55A-027DB17DDDBF}"/>
              </a:ext>
            </a:extLst>
          </p:cNvPr>
          <p:cNvGrpSpPr/>
          <p:nvPr/>
        </p:nvGrpSpPr>
        <p:grpSpPr>
          <a:xfrm>
            <a:off x="556468" y="4328578"/>
            <a:ext cx="3701334" cy="1869124"/>
            <a:chOff x="556468" y="4328578"/>
            <a:chExt cx="3701334" cy="1869124"/>
          </a:xfrm>
        </p:grpSpPr>
        <p:cxnSp>
          <p:nvCxnSpPr>
            <p:cNvPr id="40" name="Elbow Connector 39">
              <a:extLst>
                <a:ext uri="{FF2B5EF4-FFF2-40B4-BE49-F238E27FC236}">
                  <a16:creationId xmlns:a16="http://schemas.microsoft.com/office/drawing/2014/main" id="{09B69B2C-B430-703B-B62E-3FAEF21DB097}"/>
                </a:ext>
              </a:extLst>
            </p:cNvPr>
            <p:cNvCxnSpPr>
              <a:cxnSpLocks/>
            </p:cNvCxnSpPr>
            <p:nvPr/>
          </p:nvCxnSpPr>
          <p:spPr>
            <a:xfrm rot="5400000" flipH="1" flipV="1">
              <a:off x="2403381" y="4342619"/>
              <a:ext cx="7510" cy="2848551"/>
            </a:xfrm>
            <a:prstGeom prst="bentConnector3">
              <a:avLst>
                <a:gd name="adj1" fmla="val 2996971"/>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grpSp>
          <p:nvGrpSpPr>
            <p:cNvPr id="96" name="Group 95">
              <a:extLst>
                <a:ext uri="{FF2B5EF4-FFF2-40B4-BE49-F238E27FC236}">
                  <a16:creationId xmlns:a16="http://schemas.microsoft.com/office/drawing/2014/main" id="{E1D94DCE-E324-D481-F058-BCCED5FDF50C}"/>
                </a:ext>
              </a:extLst>
            </p:cNvPr>
            <p:cNvGrpSpPr/>
            <p:nvPr/>
          </p:nvGrpSpPr>
          <p:grpSpPr>
            <a:xfrm>
              <a:off x="556468" y="4328578"/>
              <a:ext cx="3701334" cy="1869124"/>
              <a:chOff x="556468" y="4328578"/>
              <a:chExt cx="3701334" cy="1869124"/>
            </a:xfrm>
          </p:grpSpPr>
          <p:sp>
            <p:nvSpPr>
              <p:cNvPr id="25" name="Rectangle 24">
                <a:extLst>
                  <a:ext uri="{FF2B5EF4-FFF2-40B4-BE49-F238E27FC236}">
                    <a16:creationId xmlns:a16="http://schemas.microsoft.com/office/drawing/2014/main" id="{4BB1C811-7811-6793-26E3-6931AAAE57A8}"/>
                  </a:ext>
                </a:extLst>
              </p:cNvPr>
              <p:cNvSpPr/>
              <p:nvPr/>
            </p:nvSpPr>
            <p:spPr>
              <a:xfrm>
                <a:off x="1518225" y="4328578"/>
                <a:ext cx="852783" cy="427052"/>
              </a:xfrm>
              <a:prstGeom prst="rect">
                <a:avLst/>
              </a:prstGeom>
              <a:solidFill>
                <a:schemeClr val="accent6">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32" name="Rectangle 31">
                <a:extLst>
                  <a:ext uri="{FF2B5EF4-FFF2-40B4-BE49-F238E27FC236}">
                    <a16:creationId xmlns:a16="http://schemas.microsoft.com/office/drawing/2014/main" id="{789B1FB8-E9D1-315F-8EB4-86BA3B2A84DF}"/>
                  </a:ext>
                </a:extLst>
              </p:cNvPr>
              <p:cNvSpPr/>
              <p:nvPr/>
            </p:nvSpPr>
            <p:spPr>
              <a:xfrm>
                <a:off x="1664171" y="4473620"/>
                <a:ext cx="852783" cy="427052"/>
              </a:xfrm>
              <a:prstGeom prst="rect">
                <a:avLst/>
              </a:prstGeom>
              <a:solidFill>
                <a:schemeClr val="accent6">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33" name="Rectangle 32">
                <a:extLst>
                  <a:ext uri="{FF2B5EF4-FFF2-40B4-BE49-F238E27FC236}">
                    <a16:creationId xmlns:a16="http://schemas.microsoft.com/office/drawing/2014/main" id="{18EC0120-066B-F512-5E8F-EA80521404BA}"/>
                  </a:ext>
                </a:extLst>
              </p:cNvPr>
              <p:cNvSpPr/>
              <p:nvPr/>
            </p:nvSpPr>
            <p:spPr>
              <a:xfrm>
                <a:off x="1810118" y="4618662"/>
                <a:ext cx="852783" cy="427052"/>
              </a:xfrm>
              <a:prstGeom prst="rect">
                <a:avLst/>
              </a:prstGeom>
              <a:solidFill>
                <a:schemeClr val="accent6">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34" name="Rectangle 33">
                <a:extLst>
                  <a:ext uri="{FF2B5EF4-FFF2-40B4-BE49-F238E27FC236}">
                    <a16:creationId xmlns:a16="http://schemas.microsoft.com/office/drawing/2014/main" id="{A561649D-2D2B-A73E-2486-E08F5762BC40}"/>
                  </a:ext>
                </a:extLst>
              </p:cNvPr>
              <p:cNvSpPr/>
              <p:nvPr/>
            </p:nvSpPr>
            <p:spPr>
              <a:xfrm>
                <a:off x="1956064" y="4763705"/>
                <a:ext cx="852783" cy="427052"/>
              </a:xfrm>
              <a:prstGeom prst="rect">
                <a:avLst/>
              </a:prstGeom>
              <a:solidFill>
                <a:schemeClr val="accent6">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a:p>
            </p:txBody>
          </p:sp>
          <p:sp>
            <p:nvSpPr>
              <p:cNvPr id="35" name="Rectangle 34">
                <a:extLst>
                  <a:ext uri="{FF2B5EF4-FFF2-40B4-BE49-F238E27FC236}">
                    <a16:creationId xmlns:a16="http://schemas.microsoft.com/office/drawing/2014/main" id="{3645F8A2-18A3-FA87-7D34-E65B49345C95}"/>
                  </a:ext>
                </a:extLst>
              </p:cNvPr>
              <p:cNvSpPr/>
              <p:nvPr/>
            </p:nvSpPr>
            <p:spPr>
              <a:xfrm>
                <a:off x="2102010" y="4908747"/>
                <a:ext cx="852783" cy="427052"/>
              </a:xfrm>
              <a:prstGeom prst="rect">
                <a:avLst/>
              </a:prstGeom>
              <a:solidFill>
                <a:schemeClr val="accent6">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Regional Centre</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6" name="Rectangle 35">
                <a:extLst>
                  <a:ext uri="{FF2B5EF4-FFF2-40B4-BE49-F238E27FC236}">
                    <a16:creationId xmlns:a16="http://schemas.microsoft.com/office/drawing/2014/main" id="{B25563E7-404F-076E-9015-17AB7CFC8925}"/>
                  </a:ext>
                </a:extLst>
              </p:cNvPr>
              <p:cNvSpPr/>
              <p:nvPr/>
            </p:nvSpPr>
            <p:spPr>
              <a:xfrm>
                <a:off x="556468" y="5770650"/>
                <a:ext cx="852783" cy="427052"/>
              </a:xfrm>
              <a:prstGeom prst="rect">
                <a:avLst/>
              </a:prstGeom>
              <a:solidFill>
                <a:schemeClr val="accent4">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Provincial planning unit</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7" name="Rectangle 36">
                <a:extLst>
                  <a:ext uri="{FF2B5EF4-FFF2-40B4-BE49-F238E27FC236}">
                    <a16:creationId xmlns:a16="http://schemas.microsoft.com/office/drawing/2014/main" id="{706102C6-9341-F05B-F043-29017A0C27EF}"/>
                  </a:ext>
                </a:extLst>
              </p:cNvPr>
              <p:cNvSpPr/>
              <p:nvPr/>
            </p:nvSpPr>
            <p:spPr>
              <a:xfrm>
                <a:off x="1502689" y="5763139"/>
                <a:ext cx="852783" cy="427052"/>
              </a:xfrm>
              <a:prstGeom prst="rect">
                <a:avLst/>
              </a:prstGeom>
              <a:solidFill>
                <a:schemeClr val="accent4">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Provincial planning unit</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03C7E55F-2A3A-BFCA-9AAB-3EA488D089B2}"/>
                  </a:ext>
                </a:extLst>
              </p:cNvPr>
              <p:cNvSpPr/>
              <p:nvPr/>
            </p:nvSpPr>
            <p:spPr>
              <a:xfrm>
                <a:off x="2453854" y="5763139"/>
                <a:ext cx="852783" cy="427052"/>
              </a:xfrm>
              <a:prstGeom prst="rect">
                <a:avLst/>
              </a:prstGeom>
              <a:solidFill>
                <a:schemeClr val="accent4">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Provincial planning unit</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sp>
            <p:nvSpPr>
              <p:cNvPr id="39" name="Rectangle 38">
                <a:extLst>
                  <a:ext uri="{FF2B5EF4-FFF2-40B4-BE49-F238E27FC236}">
                    <a16:creationId xmlns:a16="http://schemas.microsoft.com/office/drawing/2014/main" id="{ACBBF0BF-7B70-1BB9-1775-55A7C16E77C8}"/>
                  </a:ext>
                </a:extLst>
              </p:cNvPr>
              <p:cNvSpPr/>
              <p:nvPr/>
            </p:nvSpPr>
            <p:spPr>
              <a:xfrm>
                <a:off x="3405019" y="5763139"/>
                <a:ext cx="852783" cy="427052"/>
              </a:xfrm>
              <a:prstGeom prst="rect">
                <a:avLst/>
              </a:prstGeom>
              <a:solidFill>
                <a:schemeClr val="accent4">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8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Provincial planning unit</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cxnSp>
            <p:nvCxnSpPr>
              <p:cNvPr id="41" name="Elbow Connector 40">
                <a:extLst>
                  <a:ext uri="{FF2B5EF4-FFF2-40B4-BE49-F238E27FC236}">
                    <a16:creationId xmlns:a16="http://schemas.microsoft.com/office/drawing/2014/main" id="{3FD79536-3904-A0D1-AE63-6793352ACD22}"/>
                  </a:ext>
                </a:extLst>
              </p:cNvPr>
              <p:cNvCxnSpPr>
                <a:cxnSpLocks/>
              </p:cNvCxnSpPr>
              <p:nvPr/>
            </p:nvCxnSpPr>
            <p:spPr>
              <a:xfrm rot="16200000" flipH="1" flipV="1">
                <a:off x="2391932" y="5277843"/>
                <a:ext cx="3018" cy="973609"/>
              </a:xfrm>
              <a:prstGeom prst="bentConnector4">
                <a:avLst>
                  <a:gd name="adj1" fmla="val -7209082"/>
                  <a:gd name="adj2" fmla="val 97467"/>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3473CD04-F28E-B40B-34D5-183343241E7C}"/>
                  </a:ext>
                </a:extLst>
              </p:cNvPr>
              <p:cNvCxnSpPr>
                <a:cxnSpLocks/>
                <a:stCxn id="38" idx="0"/>
              </p:cNvCxnSpPr>
              <p:nvPr/>
            </p:nvCxnSpPr>
            <p:spPr>
              <a:xfrm rot="16200000" flipV="1">
                <a:off x="2490656" y="5373548"/>
                <a:ext cx="427338" cy="351843"/>
              </a:xfrm>
              <a:prstGeom prst="bentConnector3">
                <a:avLst>
                  <a:gd name="adj1" fmla="val 50000"/>
                </a:avLst>
              </a:prstGeom>
              <a:ln>
                <a:solidFill>
                  <a:srgbClr val="00B0F0"/>
                </a:solidFill>
                <a:prstDash val="dash"/>
              </a:ln>
            </p:spPr>
            <p:style>
              <a:lnRef idx="2">
                <a:schemeClr val="accent1"/>
              </a:lnRef>
              <a:fillRef idx="0">
                <a:schemeClr val="accent1"/>
              </a:fillRef>
              <a:effectRef idx="1">
                <a:schemeClr val="accent1"/>
              </a:effectRef>
              <a:fontRef idx="minor">
                <a:schemeClr val="tx1"/>
              </a:fontRef>
            </p:style>
          </p:cxnSp>
          <p:sp>
            <p:nvSpPr>
              <p:cNvPr id="61" name="TextBox 201">
                <a:extLst>
                  <a:ext uri="{FF2B5EF4-FFF2-40B4-BE49-F238E27FC236}">
                    <a16:creationId xmlns:a16="http://schemas.microsoft.com/office/drawing/2014/main" id="{409F5666-631D-535D-4A52-82E1C2F285F5}"/>
                  </a:ext>
                </a:extLst>
              </p:cNvPr>
              <p:cNvSpPr txBox="1"/>
              <p:nvPr/>
            </p:nvSpPr>
            <p:spPr>
              <a:xfrm>
                <a:off x="2987680" y="4999881"/>
                <a:ext cx="224406" cy="249599"/>
              </a:xfrm>
              <a:prstGeom prst="rect">
                <a:avLst/>
              </a:prstGeom>
              <a:noFill/>
            </p:spPr>
            <p:txBody>
              <a:bodyPr wrap="square" rtlCol="0">
                <a:noAutofit/>
              </a:bodyPr>
              <a:lstStyle/>
              <a:p>
                <a:pPr algn="ctr">
                  <a:buNone/>
                </a:pPr>
                <a:r>
                  <a:rPr lang="en-US" sz="1100" b="1" kern="120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7</a:t>
                </a:r>
                <a:endParaRPr lang="en-GB" sz="1100">
                  <a:effectLst/>
                  <a:latin typeface="Helvetica Neue" panose="02000503000000020004" pitchFamily="2" charset="0"/>
                  <a:ea typeface="Calibri" panose="020F0502020204030204" pitchFamily="34" charset="0"/>
                  <a:cs typeface="Times New Roman" panose="02020603050405020304" pitchFamily="18" charset="0"/>
                </a:endParaRPr>
              </a:p>
            </p:txBody>
          </p:sp>
        </p:grpSp>
      </p:grpSp>
      <p:grpSp>
        <p:nvGrpSpPr>
          <p:cNvPr id="103" name="Group 102">
            <a:extLst>
              <a:ext uri="{FF2B5EF4-FFF2-40B4-BE49-F238E27FC236}">
                <a16:creationId xmlns:a16="http://schemas.microsoft.com/office/drawing/2014/main" id="{05CD0EDD-C83A-6DA1-1721-2D5343A53BE0}"/>
              </a:ext>
            </a:extLst>
          </p:cNvPr>
          <p:cNvGrpSpPr/>
          <p:nvPr/>
        </p:nvGrpSpPr>
        <p:grpSpPr>
          <a:xfrm>
            <a:off x="2888014" y="3806106"/>
            <a:ext cx="927576" cy="359640"/>
            <a:chOff x="2888014" y="3806106"/>
            <a:chExt cx="927576" cy="359640"/>
          </a:xfrm>
        </p:grpSpPr>
        <p:cxnSp>
          <p:nvCxnSpPr>
            <p:cNvPr id="55" name="Elbow Connector 54">
              <a:extLst>
                <a:ext uri="{FF2B5EF4-FFF2-40B4-BE49-F238E27FC236}">
                  <a16:creationId xmlns:a16="http://schemas.microsoft.com/office/drawing/2014/main" id="{A321AF6C-2065-C4B7-EF31-0679CB7B421D}"/>
                </a:ext>
              </a:extLst>
            </p:cNvPr>
            <p:cNvCxnSpPr>
              <a:cxnSpLocks/>
              <a:stCxn id="54" idx="2"/>
              <a:endCxn id="27" idx="2"/>
            </p:cNvCxnSpPr>
            <p:nvPr/>
          </p:nvCxnSpPr>
          <p:spPr>
            <a:xfrm rot="5400000" flipH="1">
              <a:off x="3307988" y="3386132"/>
              <a:ext cx="87628" cy="927576"/>
            </a:xfrm>
            <a:prstGeom prst="bentConnector3">
              <a:avLst>
                <a:gd name="adj1" fmla="val -260876"/>
              </a:avLst>
            </a:prstGeom>
            <a:ln w="9525">
              <a:prstDash val="solid"/>
            </a:ln>
          </p:spPr>
          <p:style>
            <a:lnRef idx="2">
              <a:schemeClr val="accent1"/>
            </a:lnRef>
            <a:fillRef idx="0">
              <a:schemeClr val="accent1"/>
            </a:fillRef>
            <a:effectRef idx="1">
              <a:schemeClr val="accent1"/>
            </a:effectRef>
            <a:fontRef idx="minor">
              <a:schemeClr val="tx1"/>
            </a:fontRef>
          </p:style>
        </p:cxnSp>
        <p:sp>
          <p:nvSpPr>
            <p:cNvPr id="6" name="TextBox 199">
              <a:extLst>
                <a:ext uri="{FF2B5EF4-FFF2-40B4-BE49-F238E27FC236}">
                  <a16:creationId xmlns:a16="http://schemas.microsoft.com/office/drawing/2014/main" id="{50792767-B4C1-44F5-F94E-BAF91859317A}"/>
                </a:ext>
              </a:extLst>
            </p:cNvPr>
            <p:cNvSpPr txBox="1"/>
            <p:nvPr/>
          </p:nvSpPr>
          <p:spPr>
            <a:xfrm>
              <a:off x="3259639" y="3904136"/>
              <a:ext cx="224406" cy="261610"/>
            </a:xfrm>
            <a:prstGeom prst="rect">
              <a:avLst/>
            </a:prstGeom>
            <a:noFill/>
          </p:spPr>
          <p:txBody>
            <a:bodyPr wrap="square" rtlCol="0">
              <a:spAutoFit/>
            </a:bodyPr>
            <a:lstStyle/>
            <a:p>
              <a:pPr algn="ctr">
                <a:buNone/>
              </a:pPr>
              <a:r>
                <a:rPr lang="en-US" sz="1100" b="1"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4</a:t>
              </a:r>
              <a:endParaRPr lang="en-GB" sz="1100" dirty="0">
                <a:effectLst/>
                <a:latin typeface="Helvetica Neue" panose="02000503000000020004" pitchFamily="2" charset="0"/>
                <a:ea typeface="Calibri" panose="020F0502020204030204" pitchFamily="34" charset="0"/>
                <a:cs typeface="Times New Roman" panose="02020603050405020304" pitchFamily="18" charset="0"/>
              </a:endParaRPr>
            </a:p>
          </p:txBody>
        </p:sp>
      </p:grpSp>
      <p:sp>
        <p:nvSpPr>
          <p:cNvPr id="95" name="TextBox 94">
            <a:extLst>
              <a:ext uri="{FF2B5EF4-FFF2-40B4-BE49-F238E27FC236}">
                <a16:creationId xmlns:a16="http://schemas.microsoft.com/office/drawing/2014/main" id="{6C9492BF-CB62-1B9B-745B-4D60BB53DC89}"/>
              </a:ext>
            </a:extLst>
          </p:cNvPr>
          <p:cNvSpPr txBox="1"/>
          <p:nvPr/>
        </p:nvSpPr>
        <p:spPr>
          <a:xfrm>
            <a:off x="403393" y="242429"/>
            <a:ext cx="4276652" cy="369332"/>
          </a:xfrm>
          <a:prstGeom prst="rect">
            <a:avLst/>
          </a:prstGeom>
          <a:noFill/>
        </p:spPr>
        <p:txBody>
          <a:bodyPr wrap="square" rtlCol="0">
            <a:spAutoFit/>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Typical coordination body structure</a:t>
            </a:r>
          </a:p>
        </p:txBody>
      </p:sp>
    </p:spTree>
    <p:extLst>
      <p:ext uri="{BB962C8B-B14F-4D97-AF65-F5344CB8AC3E}">
        <p14:creationId xmlns:p14="http://schemas.microsoft.com/office/powerpoint/2010/main" val="369405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dissolve">
                                      <p:cBhvr>
                                        <p:cTn id="7" dur="500"/>
                                        <p:tgtEl>
                                          <p:spTgt spid="8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dissolve">
                                      <p:cBhvr>
                                        <p:cTn id="16" dur="500"/>
                                        <p:tgtEl>
                                          <p:spTgt spid="46"/>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dissolve">
                                      <p:cBhvr>
                                        <p:cTn id="24" dur="500"/>
                                        <p:tgtEl>
                                          <p:spTgt spid="12"/>
                                        </p:tgtEl>
                                      </p:cBhvr>
                                    </p:animEffect>
                                  </p:childTnLst>
                                </p:cTn>
                              </p:par>
                            </p:childTnLst>
                          </p:cTn>
                        </p:par>
                        <p:par>
                          <p:cTn id="25" fill="hold">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par>
                          <p:cTn id="29" fill="hold">
                            <p:stCondLst>
                              <p:cond delay="2000"/>
                            </p:stCondLst>
                            <p:childTnLst>
                              <p:par>
                                <p:cTn id="30" presetID="9"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par>
                          <p:cTn id="33" fill="hold">
                            <p:stCondLst>
                              <p:cond delay="2500"/>
                            </p:stCondLst>
                            <p:childTnLst>
                              <p:par>
                                <p:cTn id="34" presetID="9" presetClass="entr" presetSubtype="0"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ssolve">
                                      <p:cBhvr>
                                        <p:cTn id="36" dur="500"/>
                                        <p:tgtEl>
                                          <p:spTgt spid="9"/>
                                        </p:tgtEl>
                                      </p:cBhvr>
                                    </p:animEffect>
                                  </p:childTnLst>
                                </p:cTn>
                              </p:par>
                            </p:childTnLst>
                          </p:cTn>
                        </p:par>
                        <p:par>
                          <p:cTn id="37" fill="hold">
                            <p:stCondLst>
                              <p:cond delay="3000"/>
                            </p:stCondLst>
                            <p:childTnLst>
                              <p:par>
                                <p:cTn id="38" presetID="9"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dissolve">
                                      <p:cBhvr>
                                        <p:cTn id="40" dur="500"/>
                                        <p:tgtEl>
                                          <p:spTgt spid="8"/>
                                        </p:tgtEl>
                                      </p:cBhvr>
                                    </p:animEffect>
                                  </p:childTnLst>
                                </p:cTn>
                              </p:par>
                            </p:childTnLst>
                          </p:cTn>
                        </p:par>
                        <p:par>
                          <p:cTn id="41" fill="hold">
                            <p:stCondLst>
                              <p:cond delay="3500"/>
                            </p:stCondLst>
                            <p:childTnLst>
                              <p:par>
                                <p:cTn id="42" presetID="9"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dissolve">
                                      <p:cBhvr>
                                        <p:cTn id="44" dur="500"/>
                                        <p:tgtEl>
                                          <p:spTgt spid="15"/>
                                        </p:tgtEl>
                                      </p:cBhvr>
                                    </p:animEffect>
                                  </p:childTnLst>
                                </p:cTn>
                              </p:par>
                            </p:childTnLst>
                          </p:cTn>
                        </p:par>
                        <p:par>
                          <p:cTn id="45" fill="hold">
                            <p:stCondLst>
                              <p:cond delay="4000"/>
                            </p:stCondLst>
                            <p:childTnLst>
                              <p:par>
                                <p:cTn id="46" presetID="9" presetClass="entr" presetSubtype="0"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dissolve">
                                      <p:cBhvr>
                                        <p:cTn id="48" dur="500"/>
                                        <p:tgtEl>
                                          <p:spTgt spid="14"/>
                                        </p:tgtEl>
                                      </p:cBhvr>
                                    </p:animEffect>
                                  </p:childTnLst>
                                </p:cTn>
                              </p:par>
                            </p:childTnLst>
                          </p:cTn>
                        </p:par>
                        <p:par>
                          <p:cTn id="49" fill="hold">
                            <p:stCondLst>
                              <p:cond delay="4500"/>
                            </p:stCondLst>
                            <p:childTnLst>
                              <p:par>
                                <p:cTn id="50" presetID="9" presetClass="entr" presetSubtype="0"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dissolv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dissolve">
                                      <p:cBhvr>
                                        <p:cTn id="57" dur="500"/>
                                        <p:tgtEl>
                                          <p:spTgt spid="47"/>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dissolve">
                                      <p:cBhvr>
                                        <p:cTn id="61" dur="500"/>
                                        <p:tgtEl>
                                          <p:spTgt spid="26"/>
                                        </p:tgtEl>
                                      </p:cBhvr>
                                    </p:animEffect>
                                  </p:childTnLst>
                                </p:cTn>
                              </p:par>
                            </p:childTnLst>
                          </p:cTn>
                        </p:par>
                        <p:par>
                          <p:cTn id="62" fill="hold">
                            <p:stCondLst>
                              <p:cond delay="1000"/>
                            </p:stCondLst>
                            <p:childTnLst>
                              <p:par>
                                <p:cTn id="63" presetID="9" presetClass="entr" presetSubtype="0" fill="hold" grpId="0" nodeType="afterEffect">
                                  <p:stCondLst>
                                    <p:cond delay="0"/>
                                  </p:stCondLst>
                                  <p:childTnLst>
                                    <p:set>
                                      <p:cBhvr>
                                        <p:cTn id="64" dur="1" fill="hold">
                                          <p:stCondLst>
                                            <p:cond delay="0"/>
                                          </p:stCondLst>
                                        </p:cTn>
                                        <p:tgtEl>
                                          <p:spTgt spid="44"/>
                                        </p:tgtEl>
                                        <p:attrNameLst>
                                          <p:attrName>style.visibility</p:attrName>
                                        </p:attrNameLst>
                                      </p:cBhvr>
                                      <p:to>
                                        <p:strVal val="visible"/>
                                      </p:to>
                                    </p:set>
                                    <p:animEffect transition="in" filter="dissolve">
                                      <p:cBhvr>
                                        <p:cTn id="65" dur="500"/>
                                        <p:tgtEl>
                                          <p:spTgt spid="44"/>
                                        </p:tgtEl>
                                      </p:cBhvr>
                                    </p:animEffect>
                                  </p:childTnLst>
                                </p:cTn>
                              </p:par>
                            </p:childTnLst>
                          </p:cTn>
                        </p:par>
                        <p:par>
                          <p:cTn id="66" fill="hold">
                            <p:stCondLst>
                              <p:cond delay="1500"/>
                            </p:stCondLst>
                            <p:childTnLst>
                              <p:par>
                                <p:cTn id="67" presetID="9" presetClass="entr" presetSubtype="0" fill="hold" grpId="0" nodeType="after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dissolve">
                                      <p:cBhvr>
                                        <p:cTn id="69" dur="500"/>
                                        <p:tgtEl>
                                          <p:spTgt spid="27"/>
                                        </p:tgtEl>
                                      </p:cBhvr>
                                    </p:animEffect>
                                  </p:childTnLst>
                                </p:cTn>
                              </p:par>
                            </p:childTnLst>
                          </p:cTn>
                        </p:par>
                        <p:par>
                          <p:cTn id="70" fill="hold">
                            <p:stCondLst>
                              <p:cond delay="2000"/>
                            </p:stCondLst>
                            <p:childTnLst>
                              <p:par>
                                <p:cTn id="71" presetID="9" presetClass="entr" presetSubtype="0" fill="hold" grpId="0" nodeType="after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dissolve">
                                      <p:cBhvr>
                                        <p:cTn id="73" dur="500"/>
                                        <p:tgtEl>
                                          <p:spTgt spid="54"/>
                                        </p:tgtEl>
                                      </p:cBhvr>
                                    </p:animEffect>
                                  </p:childTnLst>
                                </p:cTn>
                              </p:par>
                            </p:childTnLst>
                          </p:cTn>
                        </p:par>
                        <p:par>
                          <p:cTn id="74" fill="hold">
                            <p:stCondLst>
                              <p:cond delay="2500"/>
                            </p:stCondLst>
                            <p:childTnLst>
                              <p:par>
                                <p:cTn id="75" presetID="9" presetClass="entr" presetSubtype="0" fill="hold" grpId="0" nodeType="after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dissolve">
                                      <p:cBhvr>
                                        <p:cTn id="77" dur="500"/>
                                        <p:tgtEl>
                                          <p:spTgt spid="28"/>
                                        </p:tgtEl>
                                      </p:cBhvr>
                                    </p:animEffect>
                                  </p:childTnLst>
                                </p:cTn>
                              </p:par>
                            </p:childTnLst>
                          </p:cTn>
                        </p:par>
                        <p:par>
                          <p:cTn id="78" fill="hold">
                            <p:stCondLst>
                              <p:cond delay="3000"/>
                            </p:stCondLst>
                            <p:childTnLst>
                              <p:par>
                                <p:cTn id="79" presetID="9" presetClass="entr" presetSubtype="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dissolve">
                                      <p:cBhvr>
                                        <p:cTn id="81" dur="500"/>
                                        <p:tgtEl>
                                          <p:spTgt spid="29"/>
                                        </p:tgtEl>
                                      </p:cBhvr>
                                    </p:animEffect>
                                  </p:childTnLst>
                                </p:cTn>
                              </p:par>
                            </p:childTnLst>
                          </p:cTn>
                        </p:par>
                        <p:par>
                          <p:cTn id="82" fill="hold">
                            <p:stCondLst>
                              <p:cond delay="3500"/>
                            </p:stCondLst>
                            <p:childTnLst>
                              <p:par>
                                <p:cTn id="83" presetID="9" presetClass="entr" presetSubtype="0" fill="hold" grpId="0"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dissolve">
                                      <p:cBhvr>
                                        <p:cTn id="85" dur="500"/>
                                        <p:tgtEl>
                                          <p:spTgt spid="30"/>
                                        </p:tgtEl>
                                      </p:cBhvr>
                                    </p:animEffect>
                                  </p:childTnLst>
                                </p:cTn>
                              </p:par>
                            </p:childTnLst>
                          </p:cTn>
                        </p:par>
                        <p:par>
                          <p:cTn id="86" fill="hold">
                            <p:stCondLst>
                              <p:cond delay="4000"/>
                            </p:stCondLst>
                            <p:childTnLst>
                              <p:par>
                                <p:cTn id="87" presetID="9" presetClass="entr" presetSubtype="0" fill="hold" grpId="0" nodeType="afterEffect">
                                  <p:stCondLst>
                                    <p:cond delay="0"/>
                                  </p:stCondLst>
                                  <p:childTnLst>
                                    <p:set>
                                      <p:cBhvr>
                                        <p:cTn id="88" dur="1" fill="hold">
                                          <p:stCondLst>
                                            <p:cond delay="0"/>
                                          </p:stCondLst>
                                        </p:cTn>
                                        <p:tgtEl>
                                          <p:spTgt spid="56"/>
                                        </p:tgtEl>
                                        <p:attrNameLst>
                                          <p:attrName>style.visibility</p:attrName>
                                        </p:attrNameLst>
                                      </p:cBhvr>
                                      <p:to>
                                        <p:strVal val="visible"/>
                                      </p:to>
                                    </p:set>
                                    <p:animEffect transition="in" filter="dissolve">
                                      <p:cBhvr>
                                        <p:cTn id="89" dur="500"/>
                                        <p:tgtEl>
                                          <p:spTgt spid="56"/>
                                        </p:tgtEl>
                                      </p:cBhvr>
                                    </p:animEffect>
                                  </p:childTnLst>
                                </p:cTn>
                              </p:par>
                            </p:childTnLst>
                          </p:cTn>
                        </p:par>
                        <p:par>
                          <p:cTn id="90" fill="hold">
                            <p:stCondLst>
                              <p:cond delay="4500"/>
                            </p:stCondLst>
                            <p:childTnLst>
                              <p:par>
                                <p:cTn id="91" presetID="9" presetClass="entr" presetSubtype="0" fill="hold" grpId="0" nodeType="after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dissolve">
                                      <p:cBhvr>
                                        <p:cTn id="93" dur="500"/>
                                        <p:tgtEl>
                                          <p:spTgt spid="31"/>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103"/>
                                        </p:tgtEl>
                                        <p:attrNameLst>
                                          <p:attrName>style.visibility</p:attrName>
                                        </p:attrNameLst>
                                      </p:cBhvr>
                                      <p:to>
                                        <p:strVal val="visible"/>
                                      </p:to>
                                    </p:set>
                                    <p:animEffect transition="in" filter="dissolve">
                                      <p:cBhvr>
                                        <p:cTn id="98" dur="500"/>
                                        <p:tgtEl>
                                          <p:spTgt spid="103"/>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93"/>
                                        </p:tgtEl>
                                        <p:attrNameLst>
                                          <p:attrName>style.visibility</p:attrName>
                                        </p:attrNameLst>
                                      </p:cBhvr>
                                      <p:to>
                                        <p:strVal val="visible"/>
                                      </p:to>
                                    </p:set>
                                    <p:animEffect transition="in" filter="dissolve">
                                      <p:cBhvr>
                                        <p:cTn id="103" dur="500"/>
                                        <p:tgtEl>
                                          <p:spTgt spid="93"/>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nodeType="clickEffect">
                                  <p:stCondLst>
                                    <p:cond delay="0"/>
                                  </p:stCondLst>
                                  <p:childTnLst>
                                    <p:set>
                                      <p:cBhvr>
                                        <p:cTn id="107" dur="1" fill="hold">
                                          <p:stCondLst>
                                            <p:cond delay="0"/>
                                          </p:stCondLst>
                                        </p:cTn>
                                        <p:tgtEl>
                                          <p:spTgt spid="104"/>
                                        </p:tgtEl>
                                        <p:attrNameLst>
                                          <p:attrName>style.visibility</p:attrName>
                                        </p:attrNameLst>
                                      </p:cBhvr>
                                      <p:to>
                                        <p:strVal val="visible"/>
                                      </p:to>
                                    </p:set>
                                    <p:animEffect transition="in" filter="dissolve">
                                      <p:cBhvr>
                                        <p:cTn id="108" dur="500"/>
                                        <p:tgtEl>
                                          <p:spTgt spid="104"/>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nodeType="click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dissolve">
                                      <p:cBhvr>
                                        <p:cTn id="113" dur="500"/>
                                        <p:tgtEl>
                                          <p:spTgt spid="18"/>
                                        </p:tgtEl>
                                      </p:cBhvr>
                                    </p:animEffect>
                                  </p:childTnLst>
                                </p:cTn>
                              </p:par>
                              <p:par>
                                <p:cTn id="114" presetID="9" presetClass="entr" presetSubtype="0" fill="hold" nodeType="with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dissolve">
                                      <p:cBhvr>
                                        <p:cTn id="116" dur="500"/>
                                        <p:tgtEl>
                                          <p:spTgt spid="43"/>
                                        </p:tgtEl>
                                      </p:cBhvr>
                                    </p:animEffec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nodeType="clickEffect">
                                  <p:stCondLst>
                                    <p:cond delay="0"/>
                                  </p:stCondLst>
                                  <p:childTnLst>
                                    <p:set>
                                      <p:cBhvr>
                                        <p:cTn id="120" dur="1" fill="hold">
                                          <p:stCondLst>
                                            <p:cond delay="0"/>
                                          </p:stCondLst>
                                        </p:cTn>
                                        <p:tgtEl>
                                          <p:spTgt spid="101"/>
                                        </p:tgtEl>
                                        <p:attrNameLst>
                                          <p:attrName>style.visibility</p:attrName>
                                        </p:attrNameLst>
                                      </p:cBhvr>
                                      <p:to>
                                        <p:strVal val="visible"/>
                                      </p:to>
                                    </p:set>
                                    <p:animEffect transition="in" filter="dissolve">
                                      <p:cBhvr>
                                        <p:cTn id="121" dur="500"/>
                                        <p:tgtEl>
                                          <p:spTgt spid="101"/>
                                        </p:tgtEl>
                                      </p:cBhvr>
                                    </p:animEffect>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nodeType="clickEffect">
                                  <p:stCondLst>
                                    <p:cond delay="0"/>
                                  </p:stCondLst>
                                  <p:childTnLst>
                                    <p:set>
                                      <p:cBhvr>
                                        <p:cTn id="125" dur="1" fill="hold">
                                          <p:stCondLst>
                                            <p:cond delay="0"/>
                                          </p:stCondLst>
                                        </p:cTn>
                                        <p:tgtEl>
                                          <p:spTgt spid="105"/>
                                        </p:tgtEl>
                                        <p:attrNameLst>
                                          <p:attrName>style.visibility</p:attrName>
                                        </p:attrNameLst>
                                      </p:cBhvr>
                                      <p:to>
                                        <p:strVal val="visible"/>
                                      </p:to>
                                    </p:set>
                                    <p:animEffect transition="in" filter="dissolve">
                                      <p:cBhvr>
                                        <p:cTn id="126"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22" grpId="0" animBg="1"/>
      <p:bldP spid="26" grpId="0" animBg="1"/>
      <p:bldP spid="27" grpId="0" animBg="1"/>
      <p:bldP spid="28" grpId="0" animBg="1"/>
      <p:bldP spid="29" grpId="0" animBg="1"/>
      <p:bldP spid="30" grpId="0" animBg="1"/>
      <p:bldP spid="31" grpId="0" animBg="1"/>
      <p:bldP spid="44" grpId="0" animBg="1"/>
      <p:bldP spid="46" grpId="0"/>
      <p:bldP spid="47" grpId="0"/>
      <p:bldP spid="54" grpId="0" animBg="1"/>
      <p:bldP spid="5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3C088C-B9FB-CF4A-822B-DECCC37A7E63}"/>
              </a:ext>
            </a:extLst>
          </p:cNvPr>
          <p:cNvGraphicFramePr>
            <a:graphicFrameLocks noGrp="1"/>
          </p:cNvGraphicFramePr>
          <p:nvPr>
            <p:extLst>
              <p:ext uri="{D42A27DB-BD31-4B8C-83A1-F6EECF244321}">
                <p14:modId xmlns:p14="http://schemas.microsoft.com/office/powerpoint/2010/main" val="2845792868"/>
              </p:ext>
            </p:extLst>
          </p:nvPr>
        </p:nvGraphicFramePr>
        <p:xfrm>
          <a:off x="0" y="0"/>
          <a:ext cx="9143999" cy="6635001"/>
        </p:xfrm>
        <a:graphic>
          <a:graphicData uri="http://schemas.openxmlformats.org/drawingml/2006/table">
            <a:tbl>
              <a:tblPr firstRow="1" firstCol="1" bandRow="1">
                <a:tableStyleId>{16D9F66E-5EB9-4882-86FB-DCBF35E3C3E4}</a:tableStyleId>
              </a:tblPr>
              <a:tblGrid>
                <a:gridCol w="502920">
                  <a:extLst>
                    <a:ext uri="{9D8B030D-6E8A-4147-A177-3AD203B41FA5}">
                      <a16:colId xmlns:a16="http://schemas.microsoft.com/office/drawing/2014/main" val="2925907200"/>
                    </a:ext>
                  </a:extLst>
                </a:gridCol>
                <a:gridCol w="1348740">
                  <a:extLst>
                    <a:ext uri="{9D8B030D-6E8A-4147-A177-3AD203B41FA5}">
                      <a16:colId xmlns:a16="http://schemas.microsoft.com/office/drawing/2014/main" val="786874639"/>
                    </a:ext>
                  </a:extLst>
                </a:gridCol>
                <a:gridCol w="2583180">
                  <a:extLst>
                    <a:ext uri="{9D8B030D-6E8A-4147-A177-3AD203B41FA5}">
                      <a16:colId xmlns:a16="http://schemas.microsoft.com/office/drawing/2014/main" val="2333581574"/>
                    </a:ext>
                  </a:extLst>
                </a:gridCol>
                <a:gridCol w="2674620">
                  <a:extLst>
                    <a:ext uri="{9D8B030D-6E8A-4147-A177-3AD203B41FA5}">
                      <a16:colId xmlns:a16="http://schemas.microsoft.com/office/drawing/2014/main" val="3850472151"/>
                    </a:ext>
                  </a:extLst>
                </a:gridCol>
                <a:gridCol w="2034539">
                  <a:extLst>
                    <a:ext uri="{9D8B030D-6E8A-4147-A177-3AD203B41FA5}">
                      <a16:colId xmlns:a16="http://schemas.microsoft.com/office/drawing/2014/main" val="2854663678"/>
                    </a:ext>
                  </a:extLst>
                </a:gridCol>
              </a:tblGrid>
              <a:tr h="234201">
                <a:tc gridSpan="5">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Roles for departments</a:t>
                      </a:r>
                      <a:endParaRPr lang="en-GB" sz="1400" b="1"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hMerge="1">
                  <a:txBody>
                    <a:bodyPr/>
                    <a:lstStyle/>
                    <a:p>
                      <a:endParaRPr lang="en-US"/>
                    </a:p>
                  </a:txBody>
                  <a:tcPr/>
                </a:tc>
                <a:tc hMerge="1">
                  <a:txBody>
                    <a:bodyPr/>
                    <a:lstStyle/>
                    <a:p>
                      <a:endParaRPr lang="en-GB"/>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38294097"/>
                  </a:ext>
                </a:extLst>
              </a:tr>
              <a:tr h="210780">
                <a:tc>
                  <a:txBody>
                    <a:bodyPr/>
                    <a:lstStyle/>
                    <a:p>
                      <a:pPr algn="ct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Ser</a:t>
                      </a:r>
                    </a:p>
                  </a:txBody>
                  <a:tcPr marL="68580" marR="68580" marT="0" marB="0"/>
                </a:tc>
                <a:tc>
                  <a:txBody>
                    <a:bodyPr/>
                    <a:lstStyle/>
                    <a:p>
                      <a:pPr algn="ctr">
                        <a:spcAft>
                          <a:spcPts val="0"/>
                        </a:spcAft>
                      </a:pPr>
                      <a:r>
                        <a:rPr lang="en-GB" sz="1400" b="1" dirty="0">
                          <a:effectLst/>
                          <a:latin typeface="Helvetica Neue" panose="02000503000000020004" pitchFamily="2" charset="0"/>
                          <a:ea typeface="Helvetica Neue" panose="02000503000000020004" pitchFamily="2" charset="0"/>
                          <a:cs typeface="Helvetica Neue" panose="02000503000000020004" pitchFamily="2" charset="0"/>
                        </a:rPr>
                        <a:t>Department</a:t>
                      </a:r>
                    </a:p>
                  </a:txBody>
                  <a:tcPr marL="68580" marR="68580" marT="0" marB="0"/>
                </a:tc>
                <a:tc gridSpan="2">
                  <a:txBody>
                    <a:bodyPr/>
                    <a:lstStyle/>
                    <a:p>
                      <a:pPr algn="ctr">
                        <a:spcAft>
                          <a:spcPts val="0"/>
                        </a:spcAft>
                      </a:pPr>
                      <a:r>
                        <a:rPr lang="en-GB" sz="1400" b="1" dirty="0">
                          <a:effectLst/>
                          <a:latin typeface="Helvetica Neue" panose="02000503000000020004" pitchFamily="2" charset="0"/>
                          <a:ea typeface="Helvetica Neue" panose="02000503000000020004" pitchFamily="2" charset="0"/>
                          <a:cs typeface="Helvetica Neue" panose="02000503000000020004" pitchFamily="2" charset="0"/>
                        </a:rPr>
                        <a:t>Possible role</a:t>
                      </a:r>
                    </a:p>
                  </a:txBody>
                  <a:tcPr marL="68580" marR="68580" marT="0" marB="0"/>
                </a:tc>
                <a:tc hMerge="1">
                  <a:txBody>
                    <a:bodyPr/>
                    <a:lstStyle/>
                    <a:p>
                      <a:pPr algn="ctr">
                        <a:spcAft>
                          <a:spcPts val="0"/>
                        </a:spcAft>
                      </a:pPr>
                      <a:endParaRPr lang="en-GB" sz="1200" b="1"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lgn="ctr">
                        <a:spcAft>
                          <a:spcPts val="0"/>
                        </a:spcAft>
                      </a:pPr>
                      <a:r>
                        <a:rPr lang="en-GB" sz="1400" b="1" dirty="0">
                          <a:effectLst/>
                          <a:latin typeface="Helvetica Neue" panose="02000503000000020004" pitchFamily="2" charset="0"/>
                          <a:ea typeface="Helvetica Neue" panose="02000503000000020004" pitchFamily="2" charset="0"/>
                          <a:cs typeface="Helvetica Neue" panose="02000503000000020004" pitchFamily="2" charset="0"/>
                        </a:rPr>
                        <a:t>Remarks</a:t>
                      </a:r>
                    </a:p>
                  </a:txBody>
                  <a:tcPr marL="68580" marR="68580" marT="0" marB="0"/>
                </a:tc>
                <a:extLst>
                  <a:ext uri="{0D108BD9-81ED-4DB2-BD59-A6C34878D82A}">
                    <a16:rowId xmlns:a16="http://schemas.microsoft.com/office/drawing/2014/main" val="1267432991"/>
                  </a:ext>
                </a:extLst>
              </a:tr>
              <a:tr h="533977">
                <a:tc>
                  <a:txBody>
                    <a:bodyPr/>
                    <a:lstStyle/>
                    <a:p>
                      <a:pPr algn="ctr">
                        <a:spcAft>
                          <a:spcPts val="0"/>
                        </a:spcAft>
                      </a:pPr>
                      <a:r>
                        <a:rPr lang="en-GB" sz="1200" dirty="0">
                          <a:effectLst/>
                          <a:latin typeface="Helvetica Neue" panose="02000503000000020004" pitchFamily="2" charset="0"/>
                          <a:ea typeface="Helvetica Neue" panose="02000503000000020004" pitchFamily="2" charset="0"/>
                          <a:cs typeface="Helvetica Neue" panose="02000503000000020004" pitchFamily="2" charset="0"/>
                        </a:rPr>
                        <a:t>1</a:t>
                      </a:r>
                    </a:p>
                  </a:txBody>
                  <a:tcPr marL="68580" marR="68580" marT="0" marB="0"/>
                </a:tc>
                <a:tc>
                  <a:txBody>
                    <a:bodyPr/>
                    <a:lstStyle/>
                    <a:p>
                      <a:pPr marL="0" indent="0">
                        <a:buFont typeface="Arial" panose="020B0604020202020204" pitchFamily="34" charset="0"/>
                        <a:buNone/>
                      </a:pPr>
                      <a:r>
                        <a:rPr lang="en-GB" sz="1400" dirty="0">
                          <a:effectLst/>
                          <a:latin typeface="Helvetica Neue" panose="02000503000000020004" pitchFamily="2" charset="0"/>
                          <a:ea typeface="Calibri" panose="020F0502020204030204" pitchFamily="34" charset="0"/>
                          <a:cs typeface="Times New Roman" panose="02020603050405020304" pitchFamily="18" charset="0"/>
                        </a:rPr>
                        <a:t>Plans</a:t>
                      </a:r>
                    </a:p>
                  </a:txBody>
                  <a:tcPr marL="68580" marR="68580" marT="0" marB="0"/>
                </a:tc>
                <a:tc>
                  <a:txBody>
                    <a:bodyPr/>
                    <a:lstStyle/>
                    <a:p>
                      <a:pPr marL="171450" indent="-171450">
                        <a:buFont typeface="Arial" panose="020B0604020202020204" pitchFamily="34" charset="0"/>
                        <a:buChar char="•"/>
                      </a:pPr>
                      <a:r>
                        <a:rPr lang="en-US" sz="1400" kern="1200" dirty="0" err="1">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Prioritisation</a:t>
                      </a:r>
                      <a:endPar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Planning</a:t>
                      </a:r>
                    </a:p>
                  </a:txBody>
                  <a:tcPr marL="68580" marR="68580" marT="0" marB="0"/>
                </a:tc>
                <a:tc>
                  <a:txBody>
                    <a:bodyPr/>
                    <a:lstStyle/>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data analysis</a:t>
                      </a: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resource allocation</a:t>
                      </a:r>
                      <a:endParaRPr lang="en-GB" sz="1400" dirty="0">
                        <a:effectLst/>
                        <a:latin typeface="Helvetica Neue" panose="02000503000000020004" pitchFamily="2"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endParaRPr lang="en-GB" sz="1400" dirty="0">
                        <a:effectLst/>
                        <a:latin typeface="Helvetica Neue" panose="02000503000000020004" pitchFamily="2"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GB" sz="4000" dirty="0">
                          <a:effectLst/>
                          <a:latin typeface="Helvetica Neue" panose="02000503000000020004" pitchFamily="2" charset="0"/>
                          <a:ea typeface="Helvetica Neue" panose="02000503000000020004" pitchFamily="2" charset="0"/>
                          <a:cs typeface="Helvetica Neue" panose="02000503000000020004" pitchFamily="2" charset="0"/>
                        </a:rPr>
                        <a:t> </a:t>
                      </a:r>
                    </a:p>
                  </a:txBody>
                  <a:tcPr marL="68580" marR="68580" marT="0" marB="0"/>
                </a:tc>
                <a:extLst>
                  <a:ext uri="{0D108BD9-81ED-4DB2-BD59-A6C34878D82A}">
                    <a16:rowId xmlns:a16="http://schemas.microsoft.com/office/drawing/2014/main" val="2768975489"/>
                  </a:ext>
                </a:extLst>
              </a:tr>
              <a:tr h="355985">
                <a:tc>
                  <a:txBody>
                    <a:bodyPr/>
                    <a:lstStyle/>
                    <a:p>
                      <a:pPr algn="ctr">
                        <a:spcAft>
                          <a:spcPts val="0"/>
                        </a:spcAft>
                      </a:pPr>
                      <a:r>
                        <a:rPr lang="en-GB" sz="1200" dirty="0">
                          <a:effectLst/>
                          <a:latin typeface="Helvetica Neue" panose="02000503000000020004" pitchFamily="2" charset="0"/>
                          <a:ea typeface="Helvetica Neue" panose="02000503000000020004" pitchFamily="2" charset="0"/>
                          <a:cs typeface="Helvetica Neue" panose="02000503000000020004" pitchFamily="2" charset="0"/>
                        </a:rPr>
                        <a:t>2</a:t>
                      </a:r>
                    </a:p>
                  </a:txBody>
                  <a:tcPr marL="68580" marR="68580" marT="0" marB="0"/>
                </a:tc>
                <a:tc>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Operations</a:t>
                      </a:r>
                    </a:p>
                  </a:txBody>
                  <a:tcPr marL="68580" marR="68580" marT="0" marB="0"/>
                </a:tc>
                <a:tc>
                  <a:txBody>
                    <a:bodyPr/>
                    <a:lstStyle/>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Tasking</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Regional participation</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Monitoring</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spcAft>
                          <a:spcPts val="0"/>
                        </a:spcAft>
                      </a:pPr>
                      <a:r>
                        <a:rPr lang="en-GB" sz="1400">
                          <a:effectLst/>
                          <a:latin typeface="Helvetica Neue" panose="02000503000000020004" pitchFamily="2" charset="0"/>
                          <a:ea typeface="Helvetica Neue" panose="02000503000000020004" pitchFamily="2" charset="0"/>
                          <a:cs typeface="Helvetica Neue" panose="02000503000000020004" pitchFamily="2" charset="0"/>
                        </a:rPr>
                        <a:t> </a:t>
                      </a:r>
                    </a:p>
                  </a:txBody>
                  <a:tcPr marL="68580" marR="68580" marT="0" marB="0"/>
                </a:tc>
                <a:extLst>
                  <a:ext uri="{0D108BD9-81ED-4DB2-BD59-A6C34878D82A}">
                    <a16:rowId xmlns:a16="http://schemas.microsoft.com/office/drawing/2014/main" val="2318487768"/>
                  </a:ext>
                </a:extLst>
              </a:tr>
              <a:tr h="389358">
                <a:tc>
                  <a:txBody>
                    <a:bodyPr/>
                    <a:lstStyle/>
                    <a:p>
                      <a:pPr algn="ctr">
                        <a:spcAft>
                          <a:spcPts val="0"/>
                        </a:spcAft>
                      </a:pPr>
                      <a:r>
                        <a:rPr lang="en-GB" sz="1200">
                          <a:effectLst/>
                          <a:latin typeface="Helvetica Neue" panose="02000503000000020004" pitchFamily="2" charset="0"/>
                          <a:ea typeface="Helvetica Neue" panose="02000503000000020004" pitchFamily="2" charset="0"/>
                          <a:cs typeface="Helvetica Neue" panose="02000503000000020004" pitchFamily="2" charset="0"/>
                        </a:rPr>
                        <a:t>3</a:t>
                      </a:r>
                    </a:p>
                  </a:txBody>
                  <a:tcPr marL="68580" marR="68580" marT="0" marB="0"/>
                </a:tc>
                <a:tc>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Standards</a:t>
                      </a:r>
                    </a:p>
                  </a:txBody>
                  <a:tcPr marL="68580" marR="68580" marT="0" marB="0"/>
                </a:tc>
                <a:tc>
                  <a:txBody>
                    <a:bodyPr/>
                    <a:lstStyle/>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Mine action standards</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Capacity building</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Personnel training</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Land release standards</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rowSpan="2">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These departments will need to coordinate to avoid silos. It may be possible to merge these two functions depending on workload. </a:t>
                      </a:r>
                    </a:p>
                  </a:txBody>
                  <a:tcPr marL="68580" marR="68580" marT="0" marB="0"/>
                </a:tc>
                <a:extLst>
                  <a:ext uri="{0D108BD9-81ED-4DB2-BD59-A6C34878D82A}">
                    <a16:rowId xmlns:a16="http://schemas.microsoft.com/office/drawing/2014/main" val="3739649851"/>
                  </a:ext>
                </a:extLst>
              </a:tr>
              <a:tr h="533977">
                <a:tc>
                  <a:txBody>
                    <a:bodyPr/>
                    <a:lstStyle/>
                    <a:p>
                      <a:pPr algn="ctr">
                        <a:spcAft>
                          <a:spcPts val="0"/>
                        </a:spcAft>
                      </a:pPr>
                      <a:r>
                        <a:rPr lang="en-GB" sz="1200">
                          <a:effectLst/>
                          <a:latin typeface="Helvetica Neue" panose="02000503000000020004" pitchFamily="2" charset="0"/>
                          <a:ea typeface="Helvetica Neue" panose="02000503000000020004" pitchFamily="2" charset="0"/>
                          <a:cs typeface="Helvetica Neue" panose="02000503000000020004" pitchFamily="2" charset="0"/>
                        </a:rPr>
                        <a:t>4</a:t>
                      </a:r>
                    </a:p>
                  </a:txBody>
                  <a:tcPr marL="68580" marR="68580" marT="0" marB="0"/>
                </a:tc>
                <a:tc>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Quality management</a:t>
                      </a:r>
                    </a:p>
                  </a:txBody>
                  <a:tcPr marL="68580" marR="68580" marT="0" marB="0"/>
                </a:tc>
                <a:tc>
                  <a:txBody>
                    <a:bodyPr/>
                    <a:lstStyle/>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Quality management</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Innovation &amp; technology</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Accident investigation</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Technology certification</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Operator certification</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vMerge="1">
                  <a:txBody>
                    <a:bodyPr/>
                    <a:lstStyle/>
                    <a:p>
                      <a:endParaRPr dirty="0"/>
                    </a:p>
                  </a:txBody>
                  <a:tcPr marL="68580" marR="68580" marT="0" marB="0"/>
                </a:tc>
                <a:extLst>
                  <a:ext uri="{0D108BD9-81ED-4DB2-BD59-A6C34878D82A}">
                    <a16:rowId xmlns:a16="http://schemas.microsoft.com/office/drawing/2014/main" val="451877643"/>
                  </a:ext>
                </a:extLst>
              </a:tr>
              <a:tr h="355985">
                <a:tc>
                  <a:txBody>
                    <a:bodyPr/>
                    <a:lstStyle/>
                    <a:p>
                      <a:pPr algn="ctr">
                        <a:spcAft>
                          <a:spcPts val="0"/>
                        </a:spcAft>
                      </a:pPr>
                      <a:r>
                        <a:rPr lang="en-GB" sz="1200">
                          <a:effectLst/>
                          <a:latin typeface="Helvetica Neue" panose="02000503000000020004" pitchFamily="2" charset="0"/>
                          <a:ea typeface="Helvetica Neue" panose="02000503000000020004" pitchFamily="2" charset="0"/>
                          <a:cs typeface="Helvetica Neue" panose="02000503000000020004" pitchFamily="2" charset="0"/>
                        </a:rPr>
                        <a:t>5</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Information management</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buNone/>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Information management</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buNone/>
                      </a:pP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spcAft>
                          <a:spcPts val="0"/>
                        </a:spcAft>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extLst>
                  <a:ext uri="{0D108BD9-81ED-4DB2-BD59-A6C34878D82A}">
                    <a16:rowId xmlns:a16="http://schemas.microsoft.com/office/drawing/2014/main" val="779842337"/>
                  </a:ext>
                </a:extLst>
              </a:tr>
              <a:tr h="533977">
                <a:tc>
                  <a:txBody>
                    <a:bodyPr/>
                    <a:lstStyle/>
                    <a:p>
                      <a:pPr algn="ctr">
                        <a:spcAft>
                          <a:spcPts val="0"/>
                        </a:spcAft>
                      </a:pPr>
                      <a:r>
                        <a:rPr lang="en-GB" sz="1200" dirty="0">
                          <a:effectLst/>
                          <a:latin typeface="Helvetica Neue" panose="02000503000000020004" pitchFamily="2" charset="0"/>
                          <a:ea typeface="Helvetica Neue" panose="02000503000000020004" pitchFamily="2" charset="0"/>
                          <a:cs typeface="Helvetica Neue" panose="02000503000000020004" pitchFamily="2" charset="0"/>
                        </a:rPr>
                        <a:t>6</a:t>
                      </a:r>
                    </a:p>
                  </a:txBody>
                  <a:tcPr marL="68580" marR="68580" marT="0" marB="0"/>
                </a:tc>
                <a:tc>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EORE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Standards for community engagement: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EORE</a:t>
                      </a:r>
                    </a:p>
                  </a:txBody>
                  <a:tcPr marL="68580" marR="68580" marT="0" marB="0"/>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KAP</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spcAft>
                          <a:spcPts val="0"/>
                        </a:spcAft>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extLst>
                  <a:ext uri="{0D108BD9-81ED-4DB2-BD59-A6C34878D82A}">
                    <a16:rowId xmlns:a16="http://schemas.microsoft.com/office/drawing/2014/main" val="1508400307"/>
                  </a:ext>
                </a:extLst>
              </a:tr>
              <a:tr h="545102">
                <a:tc>
                  <a:txBody>
                    <a:bodyPr/>
                    <a:lstStyle/>
                    <a:p>
                      <a:pPr algn="ctr">
                        <a:spcAft>
                          <a:spcPts val="0"/>
                        </a:spcAft>
                      </a:pPr>
                      <a:r>
                        <a:rPr lang="en-GB" sz="1200" dirty="0">
                          <a:effectLst/>
                          <a:latin typeface="Helvetica Neue" panose="02000503000000020004" pitchFamily="2" charset="0"/>
                          <a:ea typeface="Helvetica Neue" panose="02000503000000020004" pitchFamily="2" charset="0"/>
                          <a:cs typeface="Helvetica Neue" panose="02000503000000020004" pitchFamily="2" charset="0"/>
                        </a:rPr>
                        <a:t>7</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Victim assistance</a:t>
                      </a:r>
                      <a:endParaRPr lang="en-GB"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a:spcAft>
                          <a:spcPts val="0"/>
                        </a:spcAft>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indent="-171450">
                        <a:spcAft>
                          <a:spcPts val="0"/>
                        </a:spcAft>
                        <a:buFont typeface="Arial" panose="020B0604020202020204" pitchFamily="34" charset="0"/>
                        <a:buChar char="•"/>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Data gathering</a:t>
                      </a:r>
                    </a:p>
                    <a:p>
                      <a:pPr marL="171450" indent="-171450">
                        <a:spcAft>
                          <a:spcPts val="0"/>
                        </a:spcAft>
                        <a:buFont typeface="Arial" panose="020B0604020202020204" pitchFamily="34" charset="0"/>
                        <a:buChar char="•"/>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Trauma care</a:t>
                      </a:r>
                    </a:p>
                    <a:p>
                      <a:pPr marL="171450" indent="-171450">
                        <a:spcAft>
                          <a:spcPts val="0"/>
                        </a:spcAft>
                        <a:buFont typeface="Arial" panose="020B0604020202020204" pitchFamily="34" charset="0"/>
                        <a:buChar char="•"/>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Economic reintegration</a:t>
                      </a:r>
                    </a:p>
                  </a:txBody>
                  <a:tcPr marL="68580" marR="68580" marT="0" marB="0"/>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Coordination with Ministries of Health and Social Welfare</a:t>
                      </a:r>
                    </a:p>
                    <a:p>
                      <a:pPr marL="171450" indent="-171450">
                        <a:spcAft>
                          <a:spcPts val="0"/>
                        </a:spcAft>
                        <a:buFont typeface="Arial" panose="020B0604020202020204" pitchFamily="34" charset="0"/>
                        <a:buChar char="•"/>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spcAft>
                          <a:spcPts val="0"/>
                        </a:spcAft>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extLst>
                  <a:ext uri="{0D108BD9-81ED-4DB2-BD59-A6C34878D82A}">
                    <a16:rowId xmlns:a16="http://schemas.microsoft.com/office/drawing/2014/main" val="2057022047"/>
                  </a:ext>
                </a:extLst>
              </a:tr>
              <a:tr h="767592">
                <a:tc>
                  <a:txBody>
                    <a:bodyPr/>
                    <a:lstStyle/>
                    <a:p>
                      <a:pPr algn="ctr">
                        <a:spcAft>
                          <a:spcPts val="0"/>
                        </a:spcAft>
                      </a:pPr>
                      <a:r>
                        <a:rPr lang="en-GB" sz="1200" dirty="0">
                          <a:effectLst/>
                          <a:latin typeface="Helvetica Neue" panose="02000503000000020004" pitchFamily="2" charset="0"/>
                          <a:ea typeface="Helvetica Neue" panose="02000503000000020004" pitchFamily="2" charset="0"/>
                          <a:cs typeface="Helvetica Neue" panose="02000503000000020004" pitchFamily="2" charset="0"/>
                        </a:rPr>
                        <a:t>8</a:t>
                      </a:r>
                    </a:p>
                  </a:txBody>
                  <a:tcPr marL="68580" marR="68580" marT="0" marB="0"/>
                </a:tc>
                <a:tc>
                  <a:txBody>
                    <a:bodyPr/>
                    <a:lstStyle/>
                    <a:p>
                      <a:pPr algn="l">
                        <a:buNone/>
                      </a:pPr>
                      <a:r>
                        <a:rPr lang="en-US" sz="1400" kern="12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Secretariat</a:t>
                      </a:r>
                      <a:endParaRPr lang="en-GB" sz="2400" dirty="0">
                        <a:effectLst/>
                        <a:latin typeface="Helvetica Neue" panose="02000503000000020004" pitchFamily="2" charset="0"/>
                        <a:ea typeface="Calibri" panose="020F0502020204030204" pitchFamily="34" charset="0"/>
                        <a:cs typeface="Times New Roman" panose="02020603050405020304" pitchFamily="18" charset="0"/>
                      </a:endParaRPr>
                    </a:p>
                    <a:p>
                      <a:pPr>
                        <a:spcAft>
                          <a:spcPts val="0"/>
                        </a:spcAft>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Partner coordination</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Point of Contact</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Support to Steering Committee</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Attendance at international fora</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Public information</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Legal</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Equipment import</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spcAft>
                          <a:spcPts val="0"/>
                        </a:spcAft>
                      </a:pPr>
                      <a:endParaRPr lang="en-GB" sz="1400"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extLst>
                  <a:ext uri="{0D108BD9-81ED-4DB2-BD59-A6C34878D82A}">
                    <a16:rowId xmlns:a16="http://schemas.microsoft.com/office/drawing/2014/main" val="3024673453"/>
                  </a:ext>
                </a:extLst>
              </a:tr>
              <a:tr h="406516">
                <a:tc>
                  <a:txBody>
                    <a:bodyPr/>
                    <a:lstStyle/>
                    <a:p>
                      <a:pPr algn="ctr">
                        <a:spcAft>
                          <a:spcPts val="0"/>
                        </a:spcAft>
                      </a:pPr>
                      <a:r>
                        <a:rPr lang="en-GB" sz="1200" dirty="0">
                          <a:effectLst/>
                          <a:latin typeface="Helvetica Neue" panose="02000503000000020004" pitchFamily="2" charset="0"/>
                          <a:ea typeface="Helvetica Neue" panose="02000503000000020004" pitchFamily="2" charset="0"/>
                          <a:cs typeface="Helvetica Neue" panose="02000503000000020004" pitchFamily="2" charset="0"/>
                        </a:rPr>
                        <a:t>9</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Administration</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a:spcAft>
                          <a:spcPts val="0"/>
                        </a:spcAft>
                      </a:pP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Administration</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Logistics</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Internal budgeting &amp; finance</a:t>
                      </a:r>
                      <a:endParaRPr lang="en-GB" sz="140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68580" marR="68580" marT="0" marB="0"/>
                </a:tc>
                <a:tc>
                  <a:txBody>
                    <a:bodyPr/>
                    <a:lstStyle/>
                    <a:p>
                      <a:pPr>
                        <a:spcAft>
                          <a:spcPts val="0"/>
                        </a:spcAft>
                      </a:pPr>
                      <a:r>
                        <a:rPr lang="en-GB" sz="1400" dirty="0">
                          <a:effectLst/>
                          <a:latin typeface="Helvetica Neue" panose="02000503000000020004" pitchFamily="2" charset="0"/>
                          <a:ea typeface="Helvetica Neue" panose="02000503000000020004" pitchFamily="2" charset="0"/>
                          <a:cs typeface="Helvetica Neue" panose="02000503000000020004" pitchFamily="2" charset="0"/>
                        </a:rPr>
                        <a:t>All activities needed to run the coordination body</a:t>
                      </a:r>
                    </a:p>
                  </a:txBody>
                  <a:tcPr marL="68580" marR="68580" marT="0" marB="0"/>
                </a:tc>
                <a:extLst>
                  <a:ext uri="{0D108BD9-81ED-4DB2-BD59-A6C34878D82A}">
                    <a16:rowId xmlns:a16="http://schemas.microsoft.com/office/drawing/2014/main" val="129347523"/>
                  </a:ext>
                </a:extLst>
              </a:tr>
            </a:tbl>
          </a:graphicData>
        </a:graphic>
      </p:graphicFrame>
    </p:spTree>
    <p:extLst>
      <p:ext uri="{BB962C8B-B14F-4D97-AF65-F5344CB8AC3E}">
        <p14:creationId xmlns:p14="http://schemas.microsoft.com/office/powerpoint/2010/main" val="4175715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D9E6-B0C1-B2CD-2750-A64C492DFB02}"/>
              </a:ext>
            </a:extLst>
          </p:cNvPr>
          <p:cNvSpPr>
            <a:spLocks noGrp="1"/>
          </p:cNvSpPr>
          <p:nvPr>
            <p:ph type="title"/>
          </p:nvPr>
        </p:nvSpPr>
        <p:spPr/>
        <p:txBody>
          <a:bodyPr>
            <a:normAutofit/>
          </a:bodyPr>
          <a:lstStyle/>
          <a:p>
            <a:r>
              <a:rPr lang="en-US" dirty="0"/>
              <a:t>Mine action pillars</a:t>
            </a:r>
          </a:p>
        </p:txBody>
      </p:sp>
    </p:spTree>
    <p:extLst>
      <p:ext uri="{BB962C8B-B14F-4D97-AF65-F5344CB8AC3E}">
        <p14:creationId xmlns:p14="http://schemas.microsoft.com/office/powerpoint/2010/main" val="2599374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ECE26-2CA0-F223-511B-05E89B54257C}"/>
              </a:ext>
            </a:extLst>
          </p:cNvPr>
          <p:cNvSpPr>
            <a:spLocks noGrp="1"/>
          </p:cNvSpPr>
          <p:nvPr>
            <p:ph type="title"/>
          </p:nvPr>
        </p:nvSpPr>
        <p:spPr/>
        <p:txBody>
          <a:bodyPr/>
          <a:lstStyle/>
          <a:p>
            <a:r>
              <a:rPr lang="en-US" dirty="0"/>
              <a:t>Pillars</a:t>
            </a:r>
          </a:p>
        </p:txBody>
      </p:sp>
      <p:sp>
        <p:nvSpPr>
          <p:cNvPr id="3" name="Content Placeholder 2">
            <a:extLst>
              <a:ext uri="{FF2B5EF4-FFF2-40B4-BE49-F238E27FC236}">
                <a16:creationId xmlns:a16="http://schemas.microsoft.com/office/drawing/2014/main" id="{61C2EED8-092C-408F-DEBD-84E8AC575AED}"/>
              </a:ext>
            </a:extLst>
          </p:cNvPr>
          <p:cNvSpPr>
            <a:spLocks noGrp="1"/>
          </p:cNvSpPr>
          <p:nvPr>
            <p:ph idx="1"/>
          </p:nvPr>
        </p:nvSpPr>
        <p:spPr/>
        <p:txBody>
          <a:bodyPr/>
          <a:lstStyle/>
          <a:p>
            <a:r>
              <a:rPr lang="en-US" dirty="0"/>
              <a:t>Described as having five ‘pillars’</a:t>
            </a:r>
          </a:p>
          <a:p>
            <a:pPr lvl="0"/>
            <a:r>
              <a:rPr lang="en-GB" dirty="0"/>
              <a:t>Clearance</a:t>
            </a:r>
          </a:p>
          <a:p>
            <a:pPr lvl="0"/>
            <a:r>
              <a:rPr lang="en-GB" dirty="0"/>
              <a:t>Explosive Ordnance Risk Education (EORE)</a:t>
            </a:r>
          </a:p>
          <a:p>
            <a:pPr lvl="0"/>
            <a:r>
              <a:rPr lang="en-GB" dirty="0"/>
              <a:t>Victim Assistance (VA)</a:t>
            </a:r>
          </a:p>
          <a:p>
            <a:pPr lvl="0"/>
            <a:r>
              <a:rPr lang="en-GB" dirty="0"/>
              <a:t>Advocacy</a:t>
            </a:r>
          </a:p>
          <a:p>
            <a:pPr lvl="0"/>
            <a:r>
              <a:rPr lang="en-GB" dirty="0"/>
              <a:t>Stockpile destruction</a:t>
            </a:r>
          </a:p>
          <a:p>
            <a:endParaRPr lang="en-US" dirty="0"/>
          </a:p>
        </p:txBody>
      </p:sp>
    </p:spTree>
    <p:extLst>
      <p:ext uri="{BB962C8B-B14F-4D97-AF65-F5344CB8AC3E}">
        <p14:creationId xmlns:p14="http://schemas.microsoft.com/office/powerpoint/2010/main" val="2940620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descr="A picture containing silhouette, black and white, design&#10;&#10;Description automatically generated">
            <a:extLst>
              <a:ext uri="{FF2B5EF4-FFF2-40B4-BE49-F238E27FC236}">
                <a16:creationId xmlns:a16="http://schemas.microsoft.com/office/drawing/2014/main" id="{436C1C4C-D9F8-A915-0D29-476C52DE546F}"/>
              </a:ext>
            </a:extLst>
          </p:cNvPr>
          <p:cNvPicPr>
            <a:picLocks noChangeAspect="1"/>
          </p:cNvPicPr>
          <p:nvPr/>
        </p:nvPicPr>
        <p:blipFill rotWithShape="1">
          <a:blip r:embed="rId3"/>
          <a:srcRect l="40214" t="57166" r="19714"/>
          <a:stretch>
            <a:fillRect/>
          </a:stretch>
        </p:blipFill>
        <p:spPr>
          <a:xfrm>
            <a:off x="3401590" y="3429000"/>
            <a:ext cx="2491740" cy="1439545"/>
          </a:xfrm>
          <a:prstGeom prst="rect">
            <a:avLst/>
          </a:prstGeom>
        </p:spPr>
      </p:pic>
      <p:pic>
        <p:nvPicPr>
          <p:cNvPr id="7" name="Content Placeholder 4" descr="A picture containing silhouette, black and white, design&#10;&#10;Description automatically generated">
            <a:extLst>
              <a:ext uri="{FF2B5EF4-FFF2-40B4-BE49-F238E27FC236}">
                <a16:creationId xmlns:a16="http://schemas.microsoft.com/office/drawing/2014/main" id="{AC01C2BD-80DC-F2D8-3B7F-189F2A96FD30}"/>
              </a:ext>
            </a:extLst>
          </p:cNvPr>
          <p:cNvPicPr>
            <a:picLocks noChangeAspect="1"/>
          </p:cNvPicPr>
          <p:nvPr/>
        </p:nvPicPr>
        <p:blipFill rotWithShape="1">
          <a:blip r:embed="rId3"/>
          <a:srcRect t="57166" r="55837"/>
          <a:stretch>
            <a:fillRect/>
          </a:stretch>
        </p:blipFill>
        <p:spPr>
          <a:xfrm>
            <a:off x="-217170" y="3429000"/>
            <a:ext cx="3552858" cy="1862455"/>
          </a:xfrm>
          <a:prstGeom prst="rect">
            <a:avLst/>
          </a:prstGeom>
        </p:spPr>
      </p:pic>
      <p:pic>
        <p:nvPicPr>
          <p:cNvPr id="14" name="Content Placeholder 4" descr="A picture containing silhouette, black and white, design&#10;&#10;Description automatically generated">
            <a:extLst>
              <a:ext uri="{FF2B5EF4-FFF2-40B4-BE49-F238E27FC236}">
                <a16:creationId xmlns:a16="http://schemas.microsoft.com/office/drawing/2014/main" id="{26A24D4A-BD04-76E8-91A3-ED6B6274AC7D}"/>
              </a:ext>
            </a:extLst>
          </p:cNvPr>
          <p:cNvPicPr>
            <a:picLocks noChangeAspect="1"/>
          </p:cNvPicPr>
          <p:nvPr/>
        </p:nvPicPr>
        <p:blipFill rotWithShape="1">
          <a:blip r:embed="rId3"/>
          <a:srcRect r="72533" b="47376"/>
          <a:stretch/>
        </p:blipFill>
        <p:spPr>
          <a:xfrm>
            <a:off x="887590" y="596690"/>
            <a:ext cx="2132565" cy="2745564"/>
          </a:xfrm>
          <a:prstGeom prst="rect">
            <a:avLst/>
          </a:prstGeom>
        </p:spPr>
      </p:pic>
      <p:pic>
        <p:nvPicPr>
          <p:cNvPr id="15" name="Content Placeholder 4" descr="A picture containing silhouette, black and white, design&#10;&#10;Description automatically generated">
            <a:extLst>
              <a:ext uri="{FF2B5EF4-FFF2-40B4-BE49-F238E27FC236}">
                <a16:creationId xmlns:a16="http://schemas.microsoft.com/office/drawing/2014/main" id="{5DEEC299-2404-2719-63D7-E9913A71E094}"/>
              </a:ext>
            </a:extLst>
          </p:cNvPr>
          <p:cNvPicPr>
            <a:picLocks noChangeAspect="1"/>
          </p:cNvPicPr>
          <p:nvPr/>
        </p:nvPicPr>
        <p:blipFill rotWithShape="1">
          <a:blip r:embed="rId3"/>
          <a:srcRect l="30867" r="35350" b="44093"/>
          <a:stretch/>
        </p:blipFill>
        <p:spPr>
          <a:xfrm>
            <a:off x="3335688" y="512049"/>
            <a:ext cx="2623545" cy="2916951"/>
          </a:xfrm>
          <a:prstGeom prst="rect">
            <a:avLst/>
          </a:prstGeom>
        </p:spPr>
      </p:pic>
      <p:pic>
        <p:nvPicPr>
          <p:cNvPr id="16" name="Content Placeholder 4" descr="A picture containing silhouette, black and white, design&#10;&#10;Description automatically generated">
            <a:extLst>
              <a:ext uri="{FF2B5EF4-FFF2-40B4-BE49-F238E27FC236}">
                <a16:creationId xmlns:a16="http://schemas.microsoft.com/office/drawing/2014/main" id="{2F11FC87-7AF3-3A8D-AD0A-AB275C97AFFF}"/>
              </a:ext>
            </a:extLst>
          </p:cNvPr>
          <p:cNvPicPr>
            <a:picLocks noChangeAspect="1"/>
          </p:cNvPicPr>
          <p:nvPr/>
        </p:nvPicPr>
        <p:blipFill rotWithShape="1">
          <a:blip r:embed="rId3"/>
          <a:srcRect l="69409" b="46291"/>
          <a:stretch/>
        </p:blipFill>
        <p:spPr>
          <a:xfrm>
            <a:off x="6279603" y="512049"/>
            <a:ext cx="2375335" cy="2802130"/>
          </a:xfrm>
          <a:prstGeom prst="rect">
            <a:avLst/>
          </a:prstGeom>
        </p:spPr>
      </p:pic>
    </p:spTree>
    <p:extLst>
      <p:ext uri="{BB962C8B-B14F-4D97-AF65-F5344CB8AC3E}">
        <p14:creationId xmlns:p14="http://schemas.microsoft.com/office/powerpoint/2010/main" val="4681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7685-C3F7-9F81-A69E-E3C1AD803951}"/>
              </a:ext>
            </a:extLst>
          </p:cNvPr>
          <p:cNvSpPr>
            <a:spLocks noGrp="1"/>
          </p:cNvSpPr>
          <p:nvPr>
            <p:ph type="title"/>
          </p:nvPr>
        </p:nvSpPr>
        <p:spPr/>
        <p:txBody>
          <a:bodyPr>
            <a:normAutofit fontScale="90000"/>
          </a:bodyPr>
          <a:lstStyle/>
          <a:p>
            <a:r>
              <a:rPr lang="en-US" dirty="0"/>
              <a:t>MA products and activities</a:t>
            </a:r>
          </a:p>
        </p:txBody>
      </p:sp>
    </p:spTree>
    <p:extLst>
      <p:ext uri="{BB962C8B-B14F-4D97-AF65-F5344CB8AC3E}">
        <p14:creationId xmlns:p14="http://schemas.microsoft.com/office/powerpoint/2010/main" val="1008276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C3D0-AC76-0E70-E298-BE2C7E1ACE18}"/>
              </a:ext>
            </a:extLst>
          </p:cNvPr>
          <p:cNvSpPr>
            <a:spLocks noGrp="1"/>
          </p:cNvSpPr>
          <p:nvPr>
            <p:ph type="title"/>
          </p:nvPr>
        </p:nvSpPr>
        <p:spPr/>
        <p:txBody>
          <a:bodyPr/>
          <a:lstStyle/>
          <a:p>
            <a:r>
              <a:rPr lang="en-US" dirty="0"/>
              <a:t>Products</a:t>
            </a:r>
          </a:p>
        </p:txBody>
      </p:sp>
      <p:sp>
        <p:nvSpPr>
          <p:cNvPr id="3" name="Content Placeholder 2">
            <a:extLst>
              <a:ext uri="{FF2B5EF4-FFF2-40B4-BE49-F238E27FC236}">
                <a16:creationId xmlns:a16="http://schemas.microsoft.com/office/drawing/2014/main" id="{0973211F-382C-89DD-9676-3FBCD8FAA127}"/>
              </a:ext>
            </a:extLst>
          </p:cNvPr>
          <p:cNvSpPr>
            <a:spLocks noGrp="1"/>
          </p:cNvSpPr>
          <p:nvPr>
            <p:ph idx="1"/>
          </p:nvPr>
        </p:nvSpPr>
        <p:spPr/>
        <p:txBody>
          <a:bodyPr/>
          <a:lstStyle/>
          <a:p>
            <a:pPr lvl="0"/>
            <a:r>
              <a:rPr lang="en-GB" dirty="0"/>
              <a:t>Products: the things that can be produced</a:t>
            </a:r>
          </a:p>
          <a:p>
            <a:pPr lvl="0"/>
            <a:r>
              <a:rPr lang="en-GB" dirty="0"/>
              <a:t>Results or ‘impacts’</a:t>
            </a:r>
          </a:p>
          <a:p>
            <a:pPr lvl="1"/>
            <a:r>
              <a:rPr lang="en-GB" dirty="0"/>
              <a:t>A reduction in casualties caused by EO</a:t>
            </a:r>
          </a:p>
          <a:p>
            <a:pPr lvl="1"/>
            <a:r>
              <a:rPr lang="en-GB" dirty="0"/>
              <a:t>An increase in the use of productive land </a:t>
            </a:r>
          </a:p>
          <a:p>
            <a:pPr lvl="1"/>
            <a:r>
              <a:rPr lang="en-GB" dirty="0"/>
              <a:t>Survivors reintegrated into society</a:t>
            </a:r>
            <a:endParaRPr lang="en-US" dirty="0"/>
          </a:p>
        </p:txBody>
      </p:sp>
    </p:spTree>
    <p:extLst>
      <p:ext uri="{BB962C8B-B14F-4D97-AF65-F5344CB8AC3E}">
        <p14:creationId xmlns:p14="http://schemas.microsoft.com/office/powerpoint/2010/main" val="187704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19ECA7B-7E79-E24A-9BC7-0706C944D1DC}"/>
              </a:ext>
            </a:extLst>
          </p:cNvPr>
          <p:cNvGrpSpPr/>
          <p:nvPr/>
        </p:nvGrpSpPr>
        <p:grpSpPr>
          <a:xfrm>
            <a:off x="832208" y="2969232"/>
            <a:ext cx="2887038" cy="3071971"/>
            <a:chOff x="832208" y="2969232"/>
            <a:chExt cx="2887038" cy="3071971"/>
          </a:xfrm>
        </p:grpSpPr>
        <p:sp>
          <p:nvSpPr>
            <p:cNvPr id="2" name="Oval 1">
              <a:extLst>
                <a:ext uri="{FF2B5EF4-FFF2-40B4-BE49-F238E27FC236}">
                  <a16:creationId xmlns:a16="http://schemas.microsoft.com/office/drawing/2014/main" id="{0036161A-80CD-C247-8D25-59738268572D}"/>
                </a:ext>
              </a:extLst>
            </p:cNvPr>
            <p:cNvSpPr/>
            <p:nvPr/>
          </p:nvSpPr>
          <p:spPr>
            <a:xfrm>
              <a:off x="1551397" y="2969232"/>
              <a:ext cx="1448657" cy="1448657"/>
            </a:xfrm>
            <a:prstGeom prst="ellipse">
              <a:avLst/>
            </a:prstGeom>
            <a:solidFill>
              <a:srgbClr val="72B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75D21D8F-8A1A-CC4D-BC41-AB20E06A49DA}"/>
                </a:ext>
              </a:extLst>
            </p:cNvPr>
            <p:cNvSpPr/>
            <p:nvPr/>
          </p:nvSpPr>
          <p:spPr>
            <a:xfrm>
              <a:off x="832208" y="4566862"/>
              <a:ext cx="2887038" cy="1474341"/>
            </a:xfrm>
            <a:custGeom>
              <a:avLst/>
              <a:gdLst>
                <a:gd name="connsiteX0" fmla="*/ 1443519 w 2887038"/>
                <a:gd name="connsiteY0" fmla="*/ 0 h 1474341"/>
                <a:gd name="connsiteX1" fmla="*/ 2464241 w 2887038"/>
                <a:gd name="connsiteY1" fmla="*/ 150461 h 1474341"/>
                <a:gd name="connsiteX2" fmla="*/ 2518833 w 2887038"/>
                <a:gd name="connsiteY2" fmla="*/ 174009 h 1474341"/>
                <a:gd name="connsiteX3" fmla="*/ 2557521 w 2887038"/>
                <a:gd name="connsiteY3" fmla="*/ 177909 h 1474341"/>
                <a:gd name="connsiteX4" fmla="*/ 2816557 w 2887038"/>
                <a:gd name="connsiteY4" fmla="*/ 351475 h 1474341"/>
                <a:gd name="connsiteX5" fmla="*/ 2833116 w 2887038"/>
                <a:gd name="connsiteY5" fmla="*/ 381982 h 1474341"/>
                <a:gd name="connsiteX6" fmla="*/ 2857711 w 2887038"/>
                <a:gd name="connsiteY6" fmla="*/ 410178 h 1474341"/>
                <a:gd name="connsiteX7" fmla="*/ 2887038 w 2887038"/>
                <a:gd name="connsiteY7" fmla="*/ 513708 h 1474341"/>
                <a:gd name="connsiteX8" fmla="*/ 2883001 w 2887038"/>
                <a:gd name="connsiteY8" fmla="*/ 542162 h 1474341"/>
                <a:gd name="connsiteX9" fmla="*/ 2887038 w 2887038"/>
                <a:gd name="connsiteY9" fmla="*/ 582212 h 1474341"/>
                <a:gd name="connsiteX10" fmla="*/ 2887038 w 2887038"/>
                <a:gd name="connsiteY10" fmla="*/ 1061653 h 1474341"/>
                <a:gd name="connsiteX11" fmla="*/ 2474350 w 2887038"/>
                <a:gd name="connsiteY11" fmla="*/ 1474341 h 1474341"/>
                <a:gd name="connsiteX12" fmla="*/ 412688 w 2887038"/>
                <a:gd name="connsiteY12" fmla="*/ 1474341 h 1474341"/>
                <a:gd name="connsiteX13" fmla="*/ 0 w 2887038"/>
                <a:gd name="connsiteY13" fmla="*/ 1061653 h 1474341"/>
                <a:gd name="connsiteX14" fmla="*/ 0 w 2887038"/>
                <a:gd name="connsiteY14" fmla="*/ 582212 h 1474341"/>
                <a:gd name="connsiteX15" fmla="*/ 4038 w 2887038"/>
                <a:gd name="connsiteY15" fmla="*/ 542162 h 1474341"/>
                <a:gd name="connsiteX16" fmla="*/ 0 w 2887038"/>
                <a:gd name="connsiteY16" fmla="*/ 513708 h 1474341"/>
                <a:gd name="connsiteX17" fmla="*/ 29327 w 2887038"/>
                <a:gd name="connsiteY17" fmla="*/ 410178 h 1474341"/>
                <a:gd name="connsiteX18" fmla="*/ 53922 w 2887038"/>
                <a:gd name="connsiteY18" fmla="*/ 381982 h 1474341"/>
                <a:gd name="connsiteX19" fmla="*/ 70481 w 2887038"/>
                <a:gd name="connsiteY19" fmla="*/ 351475 h 1474341"/>
                <a:gd name="connsiteX20" fmla="*/ 329517 w 2887038"/>
                <a:gd name="connsiteY20" fmla="*/ 177909 h 1474341"/>
                <a:gd name="connsiteX21" fmla="*/ 368205 w 2887038"/>
                <a:gd name="connsiteY21" fmla="*/ 174009 h 1474341"/>
                <a:gd name="connsiteX22" fmla="*/ 422797 w 2887038"/>
                <a:gd name="connsiteY22" fmla="*/ 150461 h 1474341"/>
                <a:gd name="connsiteX23" fmla="*/ 1443519 w 2887038"/>
                <a:gd name="connsiteY23" fmla="*/ 0 h 147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87038" h="1474341">
                  <a:moveTo>
                    <a:pt x="1443519" y="0"/>
                  </a:moveTo>
                  <a:cubicBezTo>
                    <a:pt x="1842136" y="0"/>
                    <a:pt x="2203016" y="57499"/>
                    <a:pt x="2464241" y="150461"/>
                  </a:cubicBezTo>
                  <a:lnTo>
                    <a:pt x="2518833" y="174009"/>
                  </a:lnTo>
                  <a:lnTo>
                    <a:pt x="2557521" y="177909"/>
                  </a:lnTo>
                  <a:cubicBezTo>
                    <a:pt x="2664981" y="199898"/>
                    <a:pt x="2757227" y="263654"/>
                    <a:pt x="2816557" y="351475"/>
                  </a:cubicBezTo>
                  <a:lnTo>
                    <a:pt x="2833116" y="381982"/>
                  </a:lnTo>
                  <a:lnTo>
                    <a:pt x="2857711" y="410178"/>
                  </a:lnTo>
                  <a:cubicBezTo>
                    <a:pt x="2876940" y="443619"/>
                    <a:pt x="2887038" y="478244"/>
                    <a:pt x="2887038" y="513708"/>
                  </a:cubicBezTo>
                  <a:lnTo>
                    <a:pt x="2883001" y="542162"/>
                  </a:lnTo>
                  <a:lnTo>
                    <a:pt x="2887038" y="582212"/>
                  </a:lnTo>
                  <a:lnTo>
                    <a:pt x="2887038" y="1061653"/>
                  </a:lnTo>
                  <a:cubicBezTo>
                    <a:pt x="2887038" y="1289574"/>
                    <a:pt x="2702271" y="1474341"/>
                    <a:pt x="2474350" y="1474341"/>
                  </a:cubicBezTo>
                  <a:lnTo>
                    <a:pt x="412688" y="1474341"/>
                  </a:lnTo>
                  <a:cubicBezTo>
                    <a:pt x="184767" y="1474341"/>
                    <a:pt x="0" y="1289574"/>
                    <a:pt x="0" y="1061653"/>
                  </a:cubicBezTo>
                  <a:lnTo>
                    <a:pt x="0" y="582212"/>
                  </a:lnTo>
                  <a:lnTo>
                    <a:pt x="4038" y="542162"/>
                  </a:lnTo>
                  <a:lnTo>
                    <a:pt x="0" y="513708"/>
                  </a:lnTo>
                  <a:cubicBezTo>
                    <a:pt x="0" y="478244"/>
                    <a:pt x="10098" y="443619"/>
                    <a:pt x="29327" y="410178"/>
                  </a:cubicBezTo>
                  <a:lnTo>
                    <a:pt x="53922" y="381982"/>
                  </a:lnTo>
                  <a:lnTo>
                    <a:pt x="70481" y="351475"/>
                  </a:lnTo>
                  <a:cubicBezTo>
                    <a:pt x="129811" y="263654"/>
                    <a:pt x="222057" y="199898"/>
                    <a:pt x="329517" y="177909"/>
                  </a:cubicBezTo>
                  <a:lnTo>
                    <a:pt x="368205" y="174009"/>
                  </a:lnTo>
                  <a:lnTo>
                    <a:pt x="422797" y="150461"/>
                  </a:lnTo>
                  <a:cubicBezTo>
                    <a:pt x="684022" y="57499"/>
                    <a:pt x="1044902" y="0"/>
                    <a:pt x="1443519" y="0"/>
                  </a:cubicBezTo>
                  <a:close/>
                </a:path>
              </a:pathLst>
            </a:custGeom>
            <a:solidFill>
              <a:srgbClr val="72B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5" name="Group 14">
            <a:extLst>
              <a:ext uri="{FF2B5EF4-FFF2-40B4-BE49-F238E27FC236}">
                <a16:creationId xmlns:a16="http://schemas.microsoft.com/office/drawing/2014/main" id="{1517F177-3CF8-7C44-BAE7-98040E9721B6}"/>
              </a:ext>
            </a:extLst>
          </p:cNvPr>
          <p:cNvGrpSpPr/>
          <p:nvPr/>
        </p:nvGrpSpPr>
        <p:grpSpPr>
          <a:xfrm>
            <a:off x="1681204" y="275076"/>
            <a:ext cx="4516202" cy="2825919"/>
            <a:chOff x="1681204" y="275076"/>
            <a:chExt cx="4516202" cy="2825919"/>
          </a:xfrm>
        </p:grpSpPr>
        <p:sp>
          <p:nvSpPr>
            <p:cNvPr id="8" name="TextBox 7">
              <a:extLst>
                <a:ext uri="{FF2B5EF4-FFF2-40B4-BE49-F238E27FC236}">
                  <a16:creationId xmlns:a16="http://schemas.microsoft.com/office/drawing/2014/main" id="{6E072D22-7BAE-E740-8F6F-5E5257DE2E74}"/>
                </a:ext>
              </a:extLst>
            </p:cNvPr>
            <p:cNvSpPr txBox="1"/>
            <p:nvPr/>
          </p:nvSpPr>
          <p:spPr>
            <a:xfrm>
              <a:off x="3256908" y="945223"/>
              <a:ext cx="1017142" cy="1323439"/>
            </a:xfrm>
            <a:prstGeom prst="rect">
              <a:avLst/>
            </a:prstGeom>
            <a:noFill/>
          </p:spPr>
          <p:txBody>
            <a:bodyPr wrap="square" rtlCol="0">
              <a:spAutoFit/>
            </a:bodyPr>
            <a:lstStyle/>
            <a:p>
              <a:r>
                <a:rPr lang="en-US" sz="8000" dirty="0">
                  <a:latin typeface="Webdings" pitchFamily="2" charset="2"/>
                </a:rPr>
                <a:t>❓</a:t>
              </a:r>
              <a:endParaRPr lang="en-US" dirty="0">
                <a:latin typeface="Webdings" pitchFamily="2" charset="2"/>
              </a:endParaRPr>
            </a:p>
          </p:txBody>
        </p:sp>
        <p:grpSp>
          <p:nvGrpSpPr>
            <p:cNvPr id="14" name="Group 13">
              <a:extLst>
                <a:ext uri="{FF2B5EF4-FFF2-40B4-BE49-F238E27FC236}">
                  <a16:creationId xmlns:a16="http://schemas.microsoft.com/office/drawing/2014/main" id="{2B8BCF08-B057-3641-95FB-3F94229CE8FF}"/>
                </a:ext>
              </a:extLst>
            </p:cNvPr>
            <p:cNvGrpSpPr/>
            <p:nvPr/>
          </p:nvGrpSpPr>
          <p:grpSpPr>
            <a:xfrm>
              <a:off x="1681204" y="275076"/>
              <a:ext cx="4516202" cy="2825919"/>
              <a:chOff x="1681204" y="275076"/>
              <a:chExt cx="4516202" cy="2825919"/>
            </a:xfrm>
          </p:grpSpPr>
          <p:grpSp>
            <p:nvGrpSpPr>
              <p:cNvPr id="11" name="Group 10">
                <a:extLst>
                  <a:ext uri="{FF2B5EF4-FFF2-40B4-BE49-F238E27FC236}">
                    <a16:creationId xmlns:a16="http://schemas.microsoft.com/office/drawing/2014/main" id="{1A0435F8-0D9C-2B47-BC4E-2D1D074E9D59}"/>
                  </a:ext>
                </a:extLst>
              </p:cNvPr>
              <p:cNvGrpSpPr/>
              <p:nvPr/>
            </p:nvGrpSpPr>
            <p:grpSpPr>
              <a:xfrm>
                <a:off x="1681204" y="275076"/>
                <a:ext cx="4516202" cy="2825919"/>
                <a:chOff x="1681204" y="275076"/>
                <a:chExt cx="4516202" cy="2825919"/>
              </a:xfrm>
            </p:grpSpPr>
            <p:sp>
              <p:nvSpPr>
                <p:cNvPr id="7" name="Cloud Callout 6">
                  <a:extLst>
                    <a:ext uri="{FF2B5EF4-FFF2-40B4-BE49-F238E27FC236}">
                      <a16:creationId xmlns:a16="http://schemas.microsoft.com/office/drawing/2014/main" id="{0822FFD2-21A2-624F-8FCE-D4B5DE8BFC2D}"/>
                    </a:ext>
                  </a:extLst>
                </p:cNvPr>
                <p:cNvSpPr/>
                <p:nvPr/>
              </p:nvSpPr>
              <p:spPr>
                <a:xfrm>
                  <a:off x="1681204" y="275076"/>
                  <a:ext cx="4516202" cy="2782761"/>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1383173 w 4510355"/>
                    <a:gd name="connsiteY0" fmla="*/ 2739347 h 2434975"/>
                    <a:gd name="connsiteX1" fmla="*/ 1315535 w 4510355"/>
                    <a:gd name="connsiteY1" fmla="*/ 2806985 h 2434975"/>
                    <a:gd name="connsiteX2" fmla="*/ 1247897 w 4510355"/>
                    <a:gd name="connsiteY2" fmla="*/ 2739347 h 2434975"/>
                    <a:gd name="connsiteX3" fmla="*/ 1315535 w 4510355"/>
                    <a:gd name="connsiteY3" fmla="*/ 2671709 h 2434975"/>
                    <a:gd name="connsiteX4" fmla="*/ 1383173 w 4510355"/>
                    <a:gd name="connsiteY4" fmla="*/ 2739347 h 2434975"/>
                    <a:gd name="connsiteX0" fmla="*/ 1502623 w 4510355"/>
                    <a:gd name="connsiteY0" fmla="*/ 2655432 h 2434975"/>
                    <a:gd name="connsiteX1" fmla="*/ 1367347 w 4510355"/>
                    <a:gd name="connsiteY1" fmla="*/ 2790708 h 2434975"/>
                    <a:gd name="connsiteX2" fmla="*/ 1232071 w 4510355"/>
                    <a:gd name="connsiteY2" fmla="*/ 2655432 h 2434975"/>
                    <a:gd name="connsiteX3" fmla="*/ 1367347 w 4510355"/>
                    <a:gd name="connsiteY3" fmla="*/ 2520156 h 2434975"/>
                    <a:gd name="connsiteX4" fmla="*/ 1502623 w 4510355"/>
                    <a:gd name="connsiteY4" fmla="*/ 2655432 h 2434975"/>
                    <a:gd name="connsiteX0" fmla="*/ 1693141 w 4510355"/>
                    <a:gd name="connsiteY0" fmla="*/ 2456414 h 2434975"/>
                    <a:gd name="connsiteX1" fmla="*/ 1490226 w 4510355"/>
                    <a:gd name="connsiteY1" fmla="*/ 2659329 h 2434975"/>
                    <a:gd name="connsiteX2" fmla="*/ 1287311 w 4510355"/>
                    <a:gd name="connsiteY2" fmla="*/ 2456414 h 2434975"/>
                    <a:gd name="connsiteX3" fmla="*/ 1490226 w 4510355"/>
                    <a:gd name="connsiteY3" fmla="*/ 2253499 h 2434975"/>
                    <a:gd name="connsiteX4" fmla="*/ 1693141 w 4510355"/>
                    <a:gd name="connsiteY4" fmla="*/ 2456414 h 2434975"/>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9659"/>
                    <a:gd name="connsiteX1" fmla="*/ 5659 w 43256"/>
                    <a:gd name="connsiteY1" fmla="*/ 6766 h 49659"/>
                    <a:gd name="connsiteX2" fmla="*/ 14041 w 43256"/>
                    <a:gd name="connsiteY2" fmla="*/ 5061 h 49659"/>
                    <a:gd name="connsiteX3" fmla="*/ 22492 w 43256"/>
                    <a:gd name="connsiteY3" fmla="*/ 3291 h 49659"/>
                    <a:gd name="connsiteX4" fmla="*/ 25785 w 43256"/>
                    <a:gd name="connsiteY4" fmla="*/ 59 h 49659"/>
                    <a:gd name="connsiteX5" fmla="*/ 29869 w 43256"/>
                    <a:gd name="connsiteY5" fmla="*/ 2340 h 49659"/>
                    <a:gd name="connsiteX6" fmla="*/ 35499 w 43256"/>
                    <a:gd name="connsiteY6" fmla="*/ 549 h 49659"/>
                    <a:gd name="connsiteX7" fmla="*/ 38354 w 43256"/>
                    <a:gd name="connsiteY7" fmla="*/ 5435 h 49659"/>
                    <a:gd name="connsiteX8" fmla="*/ 42018 w 43256"/>
                    <a:gd name="connsiteY8" fmla="*/ 10177 h 49659"/>
                    <a:gd name="connsiteX9" fmla="*/ 41854 w 43256"/>
                    <a:gd name="connsiteY9" fmla="*/ 15319 h 49659"/>
                    <a:gd name="connsiteX10" fmla="*/ 43052 w 43256"/>
                    <a:gd name="connsiteY10" fmla="*/ 23181 h 49659"/>
                    <a:gd name="connsiteX11" fmla="*/ 37440 w 43256"/>
                    <a:gd name="connsiteY11" fmla="*/ 30063 h 49659"/>
                    <a:gd name="connsiteX12" fmla="*/ 35431 w 43256"/>
                    <a:gd name="connsiteY12" fmla="*/ 35960 h 49659"/>
                    <a:gd name="connsiteX13" fmla="*/ 28591 w 43256"/>
                    <a:gd name="connsiteY13" fmla="*/ 36674 h 49659"/>
                    <a:gd name="connsiteX14" fmla="*/ 23703 w 43256"/>
                    <a:gd name="connsiteY14" fmla="*/ 42965 h 49659"/>
                    <a:gd name="connsiteX15" fmla="*/ 16516 w 43256"/>
                    <a:gd name="connsiteY15" fmla="*/ 39125 h 49659"/>
                    <a:gd name="connsiteX16" fmla="*/ 5840 w 43256"/>
                    <a:gd name="connsiteY16" fmla="*/ 35331 h 49659"/>
                    <a:gd name="connsiteX17" fmla="*/ 1146 w 43256"/>
                    <a:gd name="connsiteY17" fmla="*/ 31109 h 49659"/>
                    <a:gd name="connsiteX18" fmla="*/ 2149 w 43256"/>
                    <a:gd name="connsiteY18" fmla="*/ 25410 h 49659"/>
                    <a:gd name="connsiteX19" fmla="*/ 31 w 43256"/>
                    <a:gd name="connsiteY19" fmla="*/ 19563 h 49659"/>
                    <a:gd name="connsiteX20" fmla="*/ 3899 w 43256"/>
                    <a:gd name="connsiteY20" fmla="*/ 14366 h 49659"/>
                    <a:gd name="connsiteX21" fmla="*/ 3936 w 43256"/>
                    <a:gd name="connsiteY21" fmla="*/ 14229 h 49659"/>
                    <a:gd name="connsiteX0" fmla="*/ 1386932 w 4516202"/>
                    <a:gd name="connsiteY0" fmla="*/ 2731400 h 2799038"/>
                    <a:gd name="connsiteX1" fmla="*/ 1319294 w 4516202"/>
                    <a:gd name="connsiteY1" fmla="*/ 2799038 h 2799038"/>
                    <a:gd name="connsiteX2" fmla="*/ 1251656 w 4516202"/>
                    <a:gd name="connsiteY2" fmla="*/ 2731400 h 2799038"/>
                    <a:gd name="connsiteX3" fmla="*/ 1319294 w 4516202"/>
                    <a:gd name="connsiteY3" fmla="*/ 2663762 h 2799038"/>
                    <a:gd name="connsiteX4" fmla="*/ 1386932 w 4516202"/>
                    <a:gd name="connsiteY4" fmla="*/ 2731400 h 2799038"/>
                    <a:gd name="connsiteX0" fmla="*/ 1506382 w 4516202"/>
                    <a:gd name="connsiteY0" fmla="*/ 2647485 h 2799038"/>
                    <a:gd name="connsiteX1" fmla="*/ 1371106 w 4516202"/>
                    <a:gd name="connsiteY1" fmla="*/ 2782761 h 2799038"/>
                    <a:gd name="connsiteX2" fmla="*/ 1235830 w 4516202"/>
                    <a:gd name="connsiteY2" fmla="*/ 2647485 h 2799038"/>
                    <a:gd name="connsiteX3" fmla="*/ 1371106 w 4516202"/>
                    <a:gd name="connsiteY3" fmla="*/ 2512209 h 2799038"/>
                    <a:gd name="connsiteX4" fmla="*/ 1506382 w 4516202"/>
                    <a:gd name="connsiteY4" fmla="*/ 2647485 h 2799038"/>
                    <a:gd name="connsiteX0" fmla="*/ 1696900 w 4516202"/>
                    <a:gd name="connsiteY0" fmla="*/ 2448467 h 2799038"/>
                    <a:gd name="connsiteX1" fmla="*/ 1493985 w 4516202"/>
                    <a:gd name="connsiteY1" fmla="*/ 2651382 h 2799038"/>
                    <a:gd name="connsiteX2" fmla="*/ 1291070 w 4516202"/>
                    <a:gd name="connsiteY2" fmla="*/ 2448467 h 2799038"/>
                    <a:gd name="connsiteX3" fmla="*/ 1480796 w 4516202"/>
                    <a:gd name="connsiteY3" fmla="*/ 2430190 h 2799038"/>
                    <a:gd name="connsiteX4" fmla="*/ 1696900 w 4516202"/>
                    <a:gd name="connsiteY4" fmla="*/ 2448467 h 2799038"/>
                    <a:gd name="connsiteX0" fmla="*/ 4729 w 43256"/>
                    <a:gd name="connsiteY0" fmla="*/ 26036 h 49659"/>
                    <a:gd name="connsiteX1" fmla="*/ 2196 w 43256"/>
                    <a:gd name="connsiteY1" fmla="*/ 25239 h 49659"/>
                    <a:gd name="connsiteX2" fmla="*/ 6964 w 43256"/>
                    <a:gd name="connsiteY2" fmla="*/ 34758 h 49659"/>
                    <a:gd name="connsiteX3" fmla="*/ 5856 w 43256"/>
                    <a:gd name="connsiteY3" fmla="*/ 35139 h 49659"/>
                    <a:gd name="connsiteX4" fmla="*/ 16514 w 43256"/>
                    <a:gd name="connsiteY4" fmla="*/ 38949 h 49659"/>
                    <a:gd name="connsiteX5" fmla="*/ 15846 w 43256"/>
                    <a:gd name="connsiteY5" fmla="*/ 37209 h 49659"/>
                    <a:gd name="connsiteX6" fmla="*/ 28863 w 43256"/>
                    <a:gd name="connsiteY6" fmla="*/ 34610 h 49659"/>
                    <a:gd name="connsiteX7" fmla="*/ 28596 w 43256"/>
                    <a:gd name="connsiteY7" fmla="*/ 36519 h 49659"/>
                    <a:gd name="connsiteX8" fmla="*/ 34165 w 43256"/>
                    <a:gd name="connsiteY8" fmla="*/ 22813 h 49659"/>
                    <a:gd name="connsiteX9" fmla="*/ 37416 w 43256"/>
                    <a:gd name="connsiteY9" fmla="*/ 29949 h 49659"/>
                    <a:gd name="connsiteX10" fmla="*/ 41834 w 43256"/>
                    <a:gd name="connsiteY10" fmla="*/ 15213 h 49659"/>
                    <a:gd name="connsiteX11" fmla="*/ 40386 w 43256"/>
                    <a:gd name="connsiteY11" fmla="*/ 17889 h 49659"/>
                    <a:gd name="connsiteX12" fmla="*/ 38360 w 43256"/>
                    <a:gd name="connsiteY12" fmla="*/ 5285 h 49659"/>
                    <a:gd name="connsiteX13" fmla="*/ 38436 w 43256"/>
                    <a:gd name="connsiteY13" fmla="*/ 6549 h 49659"/>
                    <a:gd name="connsiteX14" fmla="*/ 29114 w 43256"/>
                    <a:gd name="connsiteY14" fmla="*/ 3811 h 49659"/>
                    <a:gd name="connsiteX15" fmla="*/ 29856 w 43256"/>
                    <a:gd name="connsiteY15" fmla="*/ 2199 h 49659"/>
                    <a:gd name="connsiteX16" fmla="*/ 22177 w 43256"/>
                    <a:gd name="connsiteY16" fmla="*/ 4579 h 49659"/>
                    <a:gd name="connsiteX17" fmla="*/ 22536 w 43256"/>
                    <a:gd name="connsiteY17" fmla="*/ 3189 h 49659"/>
                    <a:gd name="connsiteX18" fmla="*/ 14036 w 43256"/>
                    <a:gd name="connsiteY18" fmla="*/ 5051 h 49659"/>
                    <a:gd name="connsiteX19" fmla="*/ 15336 w 43256"/>
                    <a:gd name="connsiteY19" fmla="*/ 6399 h 49659"/>
                    <a:gd name="connsiteX20" fmla="*/ 4163 w 43256"/>
                    <a:gd name="connsiteY20" fmla="*/ 15648 h 49659"/>
                    <a:gd name="connsiteX21" fmla="*/ 3936 w 43256"/>
                    <a:gd name="connsiteY21" fmla="*/ 14229 h 49659"/>
                    <a:gd name="connsiteX0" fmla="*/ 3936 w 43256"/>
                    <a:gd name="connsiteY0" fmla="*/ 14229 h 49659"/>
                    <a:gd name="connsiteX1" fmla="*/ 5659 w 43256"/>
                    <a:gd name="connsiteY1" fmla="*/ 6766 h 49659"/>
                    <a:gd name="connsiteX2" fmla="*/ 14041 w 43256"/>
                    <a:gd name="connsiteY2" fmla="*/ 5061 h 49659"/>
                    <a:gd name="connsiteX3" fmla="*/ 22492 w 43256"/>
                    <a:gd name="connsiteY3" fmla="*/ 3291 h 49659"/>
                    <a:gd name="connsiteX4" fmla="*/ 25785 w 43256"/>
                    <a:gd name="connsiteY4" fmla="*/ 59 h 49659"/>
                    <a:gd name="connsiteX5" fmla="*/ 29869 w 43256"/>
                    <a:gd name="connsiteY5" fmla="*/ 2340 h 49659"/>
                    <a:gd name="connsiteX6" fmla="*/ 35499 w 43256"/>
                    <a:gd name="connsiteY6" fmla="*/ 549 h 49659"/>
                    <a:gd name="connsiteX7" fmla="*/ 38354 w 43256"/>
                    <a:gd name="connsiteY7" fmla="*/ 5435 h 49659"/>
                    <a:gd name="connsiteX8" fmla="*/ 42018 w 43256"/>
                    <a:gd name="connsiteY8" fmla="*/ 10177 h 49659"/>
                    <a:gd name="connsiteX9" fmla="*/ 41854 w 43256"/>
                    <a:gd name="connsiteY9" fmla="*/ 15319 h 49659"/>
                    <a:gd name="connsiteX10" fmla="*/ 43052 w 43256"/>
                    <a:gd name="connsiteY10" fmla="*/ 23181 h 49659"/>
                    <a:gd name="connsiteX11" fmla="*/ 37440 w 43256"/>
                    <a:gd name="connsiteY11" fmla="*/ 30063 h 49659"/>
                    <a:gd name="connsiteX12" fmla="*/ 35431 w 43256"/>
                    <a:gd name="connsiteY12" fmla="*/ 35960 h 49659"/>
                    <a:gd name="connsiteX13" fmla="*/ 28591 w 43256"/>
                    <a:gd name="connsiteY13" fmla="*/ 36674 h 49659"/>
                    <a:gd name="connsiteX14" fmla="*/ 23703 w 43256"/>
                    <a:gd name="connsiteY14" fmla="*/ 42965 h 49659"/>
                    <a:gd name="connsiteX15" fmla="*/ 16516 w 43256"/>
                    <a:gd name="connsiteY15" fmla="*/ 39125 h 49659"/>
                    <a:gd name="connsiteX16" fmla="*/ 5840 w 43256"/>
                    <a:gd name="connsiteY16" fmla="*/ 35331 h 49659"/>
                    <a:gd name="connsiteX17" fmla="*/ 1146 w 43256"/>
                    <a:gd name="connsiteY17" fmla="*/ 31109 h 49659"/>
                    <a:gd name="connsiteX18" fmla="*/ 2149 w 43256"/>
                    <a:gd name="connsiteY18" fmla="*/ 25410 h 49659"/>
                    <a:gd name="connsiteX19" fmla="*/ 31 w 43256"/>
                    <a:gd name="connsiteY19" fmla="*/ 19563 h 49659"/>
                    <a:gd name="connsiteX20" fmla="*/ 3899 w 43256"/>
                    <a:gd name="connsiteY20" fmla="*/ 14366 h 49659"/>
                    <a:gd name="connsiteX21" fmla="*/ 3936 w 43256"/>
                    <a:gd name="connsiteY21" fmla="*/ 14229 h 49659"/>
                    <a:gd name="connsiteX0" fmla="*/ 1386932 w 4516202"/>
                    <a:gd name="connsiteY0" fmla="*/ 2731400 h 2799038"/>
                    <a:gd name="connsiteX1" fmla="*/ 1319294 w 4516202"/>
                    <a:gd name="connsiteY1" fmla="*/ 2799038 h 2799038"/>
                    <a:gd name="connsiteX2" fmla="*/ 1251656 w 4516202"/>
                    <a:gd name="connsiteY2" fmla="*/ 2731400 h 2799038"/>
                    <a:gd name="connsiteX3" fmla="*/ 1319294 w 4516202"/>
                    <a:gd name="connsiteY3" fmla="*/ 2663762 h 2799038"/>
                    <a:gd name="connsiteX4" fmla="*/ 1386932 w 4516202"/>
                    <a:gd name="connsiteY4" fmla="*/ 2731400 h 2799038"/>
                    <a:gd name="connsiteX0" fmla="*/ 1506382 w 4516202"/>
                    <a:gd name="connsiteY0" fmla="*/ 2647485 h 2799038"/>
                    <a:gd name="connsiteX1" fmla="*/ 1371106 w 4516202"/>
                    <a:gd name="connsiteY1" fmla="*/ 2782761 h 2799038"/>
                    <a:gd name="connsiteX2" fmla="*/ 1235830 w 4516202"/>
                    <a:gd name="connsiteY2" fmla="*/ 2647485 h 2799038"/>
                    <a:gd name="connsiteX3" fmla="*/ 1371106 w 4516202"/>
                    <a:gd name="connsiteY3" fmla="*/ 2512209 h 2799038"/>
                    <a:gd name="connsiteX4" fmla="*/ 1506382 w 4516202"/>
                    <a:gd name="connsiteY4" fmla="*/ 2647485 h 2799038"/>
                    <a:gd name="connsiteX0" fmla="*/ 1480796 w 4516202"/>
                    <a:gd name="connsiteY0" fmla="*/ 2430190 h 2799038"/>
                    <a:gd name="connsiteX1" fmla="*/ 1493985 w 4516202"/>
                    <a:gd name="connsiteY1" fmla="*/ 2651382 h 2799038"/>
                    <a:gd name="connsiteX2" fmla="*/ 1291070 w 4516202"/>
                    <a:gd name="connsiteY2" fmla="*/ 2448467 h 2799038"/>
                    <a:gd name="connsiteX3" fmla="*/ 1480796 w 4516202"/>
                    <a:gd name="connsiteY3" fmla="*/ 2430190 h 2799038"/>
                    <a:gd name="connsiteX0" fmla="*/ 4729 w 43256"/>
                    <a:gd name="connsiteY0" fmla="*/ 26036 h 49659"/>
                    <a:gd name="connsiteX1" fmla="*/ 2196 w 43256"/>
                    <a:gd name="connsiteY1" fmla="*/ 25239 h 49659"/>
                    <a:gd name="connsiteX2" fmla="*/ 6964 w 43256"/>
                    <a:gd name="connsiteY2" fmla="*/ 34758 h 49659"/>
                    <a:gd name="connsiteX3" fmla="*/ 5856 w 43256"/>
                    <a:gd name="connsiteY3" fmla="*/ 35139 h 49659"/>
                    <a:gd name="connsiteX4" fmla="*/ 16514 w 43256"/>
                    <a:gd name="connsiteY4" fmla="*/ 38949 h 49659"/>
                    <a:gd name="connsiteX5" fmla="*/ 15846 w 43256"/>
                    <a:gd name="connsiteY5" fmla="*/ 37209 h 49659"/>
                    <a:gd name="connsiteX6" fmla="*/ 28863 w 43256"/>
                    <a:gd name="connsiteY6" fmla="*/ 34610 h 49659"/>
                    <a:gd name="connsiteX7" fmla="*/ 28596 w 43256"/>
                    <a:gd name="connsiteY7" fmla="*/ 36519 h 49659"/>
                    <a:gd name="connsiteX8" fmla="*/ 34165 w 43256"/>
                    <a:gd name="connsiteY8" fmla="*/ 22813 h 49659"/>
                    <a:gd name="connsiteX9" fmla="*/ 37416 w 43256"/>
                    <a:gd name="connsiteY9" fmla="*/ 29949 h 49659"/>
                    <a:gd name="connsiteX10" fmla="*/ 41834 w 43256"/>
                    <a:gd name="connsiteY10" fmla="*/ 15213 h 49659"/>
                    <a:gd name="connsiteX11" fmla="*/ 40386 w 43256"/>
                    <a:gd name="connsiteY11" fmla="*/ 17889 h 49659"/>
                    <a:gd name="connsiteX12" fmla="*/ 38360 w 43256"/>
                    <a:gd name="connsiteY12" fmla="*/ 5285 h 49659"/>
                    <a:gd name="connsiteX13" fmla="*/ 38436 w 43256"/>
                    <a:gd name="connsiteY13" fmla="*/ 6549 h 49659"/>
                    <a:gd name="connsiteX14" fmla="*/ 29114 w 43256"/>
                    <a:gd name="connsiteY14" fmla="*/ 3811 h 49659"/>
                    <a:gd name="connsiteX15" fmla="*/ 29856 w 43256"/>
                    <a:gd name="connsiteY15" fmla="*/ 2199 h 49659"/>
                    <a:gd name="connsiteX16" fmla="*/ 22177 w 43256"/>
                    <a:gd name="connsiteY16" fmla="*/ 4579 h 49659"/>
                    <a:gd name="connsiteX17" fmla="*/ 22536 w 43256"/>
                    <a:gd name="connsiteY17" fmla="*/ 3189 h 49659"/>
                    <a:gd name="connsiteX18" fmla="*/ 14036 w 43256"/>
                    <a:gd name="connsiteY18" fmla="*/ 5051 h 49659"/>
                    <a:gd name="connsiteX19" fmla="*/ 15336 w 43256"/>
                    <a:gd name="connsiteY19" fmla="*/ 6399 h 49659"/>
                    <a:gd name="connsiteX20" fmla="*/ 4163 w 43256"/>
                    <a:gd name="connsiteY20" fmla="*/ 15648 h 49659"/>
                    <a:gd name="connsiteX21" fmla="*/ 3936 w 43256"/>
                    <a:gd name="connsiteY21" fmla="*/ 14229 h 49659"/>
                    <a:gd name="connsiteX0" fmla="*/ 3936 w 43256"/>
                    <a:gd name="connsiteY0" fmla="*/ 14229 h 49659"/>
                    <a:gd name="connsiteX1" fmla="*/ 5659 w 43256"/>
                    <a:gd name="connsiteY1" fmla="*/ 6766 h 49659"/>
                    <a:gd name="connsiteX2" fmla="*/ 14041 w 43256"/>
                    <a:gd name="connsiteY2" fmla="*/ 5061 h 49659"/>
                    <a:gd name="connsiteX3" fmla="*/ 22492 w 43256"/>
                    <a:gd name="connsiteY3" fmla="*/ 3291 h 49659"/>
                    <a:gd name="connsiteX4" fmla="*/ 25785 w 43256"/>
                    <a:gd name="connsiteY4" fmla="*/ 59 h 49659"/>
                    <a:gd name="connsiteX5" fmla="*/ 29869 w 43256"/>
                    <a:gd name="connsiteY5" fmla="*/ 2340 h 49659"/>
                    <a:gd name="connsiteX6" fmla="*/ 35499 w 43256"/>
                    <a:gd name="connsiteY6" fmla="*/ 549 h 49659"/>
                    <a:gd name="connsiteX7" fmla="*/ 38354 w 43256"/>
                    <a:gd name="connsiteY7" fmla="*/ 5435 h 49659"/>
                    <a:gd name="connsiteX8" fmla="*/ 42018 w 43256"/>
                    <a:gd name="connsiteY8" fmla="*/ 10177 h 49659"/>
                    <a:gd name="connsiteX9" fmla="*/ 41854 w 43256"/>
                    <a:gd name="connsiteY9" fmla="*/ 15319 h 49659"/>
                    <a:gd name="connsiteX10" fmla="*/ 43052 w 43256"/>
                    <a:gd name="connsiteY10" fmla="*/ 23181 h 49659"/>
                    <a:gd name="connsiteX11" fmla="*/ 37440 w 43256"/>
                    <a:gd name="connsiteY11" fmla="*/ 30063 h 49659"/>
                    <a:gd name="connsiteX12" fmla="*/ 35431 w 43256"/>
                    <a:gd name="connsiteY12" fmla="*/ 35960 h 49659"/>
                    <a:gd name="connsiteX13" fmla="*/ 28591 w 43256"/>
                    <a:gd name="connsiteY13" fmla="*/ 36674 h 49659"/>
                    <a:gd name="connsiteX14" fmla="*/ 23703 w 43256"/>
                    <a:gd name="connsiteY14" fmla="*/ 42965 h 49659"/>
                    <a:gd name="connsiteX15" fmla="*/ 16516 w 43256"/>
                    <a:gd name="connsiteY15" fmla="*/ 39125 h 49659"/>
                    <a:gd name="connsiteX16" fmla="*/ 5840 w 43256"/>
                    <a:gd name="connsiteY16" fmla="*/ 35331 h 49659"/>
                    <a:gd name="connsiteX17" fmla="*/ 1146 w 43256"/>
                    <a:gd name="connsiteY17" fmla="*/ 31109 h 49659"/>
                    <a:gd name="connsiteX18" fmla="*/ 2149 w 43256"/>
                    <a:gd name="connsiteY18" fmla="*/ 25410 h 49659"/>
                    <a:gd name="connsiteX19" fmla="*/ 31 w 43256"/>
                    <a:gd name="connsiteY19" fmla="*/ 19563 h 49659"/>
                    <a:gd name="connsiteX20" fmla="*/ 3899 w 43256"/>
                    <a:gd name="connsiteY20" fmla="*/ 14366 h 49659"/>
                    <a:gd name="connsiteX21" fmla="*/ 3936 w 43256"/>
                    <a:gd name="connsiteY21" fmla="*/ 14229 h 49659"/>
                    <a:gd name="connsiteX0" fmla="*/ 1386932 w 4516202"/>
                    <a:gd name="connsiteY0" fmla="*/ 2731400 h 2799038"/>
                    <a:gd name="connsiteX1" fmla="*/ 1319294 w 4516202"/>
                    <a:gd name="connsiteY1" fmla="*/ 2799038 h 2799038"/>
                    <a:gd name="connsiteX2" fmla="*/ 1251656 w 4516202"/>
                    <a:gd name="connsiteY2" fmla="*/ 2731400 h 2799038"/>
                    <a:gd name="connsiteX3" fmla="*/ 1319294 w 4516202"/>
                    <a:gd name="connsiteY3" fmla="*/ 2663762 h 2799038"/>
                    <a:gd name="connsiteX4" fmla="*/ 1386932 w 4516202"/>
                    <a:gd name="connsiteY4" fmla="*/ 2731400 h 2799038"/>
                    <a:gd name="connsiteX0" fmla="*/ 1506382 w 4516202"/>
                    <a:gd name="connsiteY0" fmla="*/ 2647485 h 2799038"/>
                    <a:gd name="connsiteX1" fmla="*/ 1371106 w 4516202"/>
                    <a:gd name="connsiteY1" fmla="*/ 2782761 h 2799038"/>
                    <a:gd name="connsiteX2" fmla="*/ 1235830 w 4516202"/>
                    <a:gd name="connsiteY2" fmla="*/ 2647485 h 2799038"/>
                    <a:gd name="connsiteX3" fmla="*/ 1371106 w 4516202"/>
                    <a:gd name="connsiteY3" fmla="*/ 2512209 h 2799038"/>
                    <a:gd name="connsiteX4" fmla="*/ 1506382 w 4516202"/>
                    <a:gd name="connsiteY4" fmla="*/ 2647485 h 2799038"/>
                    <a:gd name="connsiteX0" fmla="*/ 1480796 w 4516202"/>
                    <a:gd name="connsiteY0" fmla="*/ 2430190 h 2799038"/>
                    <a:gd name="connsiteX1" fmla="*/ 1493985 w 4516202"/>
                    <a:gd name="connsiteY1" fmla="*/ 2651382 h 2799038"/>
                    <a:gd name="connsiteX2" fmla="*/ 1480796 w 4516202"/>
                    <a:gd name="connsiteY2" fmla="*/ 2430190 h 2799038"/>
                    <a:gd name="connsiteX0" fmla="*/ 4729 w 43256"/>
                    <a:gd name="connsiteY0" fmla="*/ 26036 h 49659"/>
                    <a:gd name="connsiteX1" fmla="*/ 2196 w 43256"/>
                    <a:gd name="connsiteY1" fmla="*/ 25239 h 49659"/>
                    <a:gd name="connsiteX2" fmla="*/ 6964 w 43256"/>
                    <a:gd name="connsiteY2" fmla="*/ 34758 h 49659"/>
                    <a:gd name="connsiteX3" fmla="*/ 5856 w 43256"/>
                    <a:gd name="connsiteY3" fmla="*/ 35139 h 49659"/>
                    <a:gd name="connsiteX4" fmla="*/ 16514 w 43256"/>
                    <a:gd name="connsiteY4" fmla="*/ 38949 h 49659"/>
                    <a:gd name="connsiteX5" fmla="*/ 15846 w 43256"/>
                    <a:gd name="connsiteY5" fmla="*/ 37209 h 49659"/>
                    <a:gd name="connsiteX6" fmla="*/ 28863 w 43256"/>
                    <a:gd name="connsiteY6" fmla="*/ 34610 h 49659"/>
                    <a:gd name="connsiteX7" fmla="*/ 28596 w 43256"/>
                    <a:gd name="connsiteY7" fmla="*/ 36519 h 49659"/>
                    <a:gd name="connsiteX8" fmla="*/ 34165 w 43256"/>
                    <a:gd name="connsiteY8" fmla="*/ 22813 h 49659"/>
                    <a:gd name="connsiteX9" fmla="*/ 37416 w 43256"/>
                    <a:gd name="connsiteY9" fmla="*/ 29949 h 49659"/>
                    <a:gd name="connsiteX10" fmla="*/ 41834 w 43256"/>
                    <a:gd name="connsiteY10" fmla="*/ 15213 h 49659"/>
                    <a:gd name="connsiteX11" fmla="*/ 40386 w 43256"/>
                    <a:gd name="connsiteY11" fmla="*/ 17889 h 49659"/>
                    <a:gd name="connsiteX12" fmla="*/ 38360 w 43256"/>
                    <a:gd name="connsiteY12" fmla="*/ 5285 h 49659"/>
                    <a:gd name="connsiteX13" fmla="*/ 38436 w 43256"/>
                    <a:gd name="connsiteY13" fmla="*/ 6549 h 49659"/>
                    <a:gd name="connsiteX14" fmla="*/ 29114 w 43256"/>
                    <a:gd name="connsiteY14" fmla="*/ 3811 h 49659"/>
                    <a:gd name="connsiteX15" fmla="*/ 29856 w 43256"/>
                    <a:gd name="connsiteY15" fmla="*/ 2199 h 49659"/>
                    <a:gd name="connsiteX16" fmla="*/ 22177 w 43256"/>
                    <a:gd name="connsiteY16" fmla="*/ 4579 h 49659"/>
                    <a:gd name="connsiteX17" fmla="*/ 22536 w 43256"/>
                    <a:gd name="connsiteY17" fmla="*/ 3189 h 49659"/>
                    <a:gd name="connsiteX18" fmla="*/ 14036 w 43256"/>
                    <a:gd name="connsiteY18" fmla="*/ 5051 h 49659"/>
                    <a:gd name="connsiteX19" fmla="*/ 15336 w 43256"/>
                    <a:gd name="connsiteY19" fmla="*/ 6399 h 49659"/>
                    <a:gd name="connsiteX20" fmla="*/ 4163 w 43256"/>
                    <a:gd name="connsiteY20" fmla="*/ 15648 h 49659"/>
                    <a:gd name="connsiteX21" fmla="*/ 3936 w 43256"/>
                    <a:gd name="connsiteY21" fmla="*/ 14229 h 49659"/>
                    <a:gd name="connsiteX0" fmla="*/ 3936 w 43256"/>
                    <a:gd name="connsiteY0" fmla="*/ 14229 h 49659"/>
                    <a:gd name="connsiteX1" fmla="*/ 5659 w 43256"/>
                    <a:gd name="connsiteY1" fmla="*/ 6766 h 49659"/>
                    <a:gd name="connsiteX2" fmla="*/ 14041 w 43256"/>
                    <a:gd name="connsiteY2" fmla="*/ 5061 h 49659"/>
                    <a:gd name="connsiteX3" fmla="*/ 22492 w 43256"/>
                    <a:gd name="connsiteY3" fmla="*/ 3291 h 49659"/>
                    <a:gd name="connsiteX4" fmla="*/ 25785 w 43256"/>
                    <a:gd name="connsiteY4" fmla="*/ 59 h 49659"/>
                    <a:gd name="connsiteX5" fmla="*/ 29869 w 43256"/>
                    <a:gd name="connsiteY5" fmla="*/ 2340 h 49659"/>
                    <a:gd name="connsiteX6" fmla="*/ 35499 w 43256"/>
                    <a:gd name="connsiteY6" fmla="*/ 549 h 49659"/>
                    <a:gd name="connsiteX7" fmla="*/ 38354 w 43256"/>
                    <a:gd name="connsiteY7" fmla="*/ 5435 h 49659"/>
                    <a:gd name="connsiteX8" fmla="*/ 42018 w 43256"/>
                    <a:gd name="connsiteY8" fmla="*/ 10177 h 49659"/>
                    <a:gd name="connsiteX9" fmla="*/ 41854 w 43256"/>
                    <a:gd name="connsiteY9" fmla="*/ 15319 h 49659"/>
                    <a:gd name="connsiteX10" fmla="*/ 43052 w 43256"/>
                    <a:gd name="connsiteY10" fmla="*/ 23181 h 49659"/>
                    <a:gd name="connsiteX11" fmla="*/ 37440 w 43256"/>
                    <a:gd name="connsiteY11" fmla="*/ 30063 h 49659"/>
                    <a:gd name="connsiteX12" fmla="*/ 35431 w 43256"/>
                    <a:gd name="connsiteY12" fmla="*/ 35960 h 49659"/>
                    <a:gd name="connsiteX13" fmla="*/ 28591 w 43256"/>
                    <a:gd name="connsiteY13" fmla="*/ 36674 h 49659"/>
                    <a:gd name="connsiteX14" fmla="*/ 23703 w 43256"/>
                    <a:gd name="connsiteY14" fmla="*/ 42965 h 49659"/>
                    <a:gd name="connsiteX15" fmla="*/ 16516 w 43256"/>
                    <a:gd name="connsiteY15" fmla="*/ 39125 h 49659"/>
                    <a:gd name="connsiteX16" fmla="*/ 5840 w 43256"/>
                    <a:gd name="connsiteY16" fmla="*/ 35331 h 49659"/>
                    <a:gd name="connsiteX17" fmla="*/ 1146 w 43256"/>
                    <a:gd name="connsiteY17" fmla="*/ 31109 h 49659"/>
                    <a:gd name="connsiteX18" fmla="*/ 2149 w 43256"/>
                    <a:gd name="connsiteY18" fmla="*/ 25410 h 49659"/>
                    <a:gd name="connsiteX19" fmla="*/ 31 w 43256"/>
                    <a:gd name="connsiteY19" fmla="*/ 19563 h 49659"/>
                    <a:gd name="connsiteX20" fmla="*/ 3899 w 43256"/>
                    <a:gd name="connsiteY20" fmla="*/ 14366 h 49659"/>
                    <a:gd name="connsiteX21" fmla="*/ 3936 w 43256"/>
                    <a:gd name="connsiteY21" fmla="*/ 14229 h 49659"/>
                    <a:gd name="connsiteX0" fmla="*/ 1386932 w 4516202"/>
                    <a:gd name="connsiteY0" fmla="*/ 2731400 h 2799038"/>
                    <a:gd name="connsiteX1" fmla="*/ 1319294 w 4516202"/>
                    <a:gd name="connsiteY1" fmla="*/ 2799038 h 2799038"/>
                    <a:gd name="connsiteX2" fmla="*/ 1251656 w 4516202"/>
                    <a:gd name="connsiteY2" fmla="*/ 2731400 h 2799038"/>
                    <a:gd name="connsiteX3" fmla="*/ 1319294 w 4516202"/>
                    <a:gd name="connsiteY3" fmla="*/ 2663762 h 2799038"/>
                    <a:gd name="connsiteX4" fmla="*/ 1386932 w 4516202"/>
                    <a:gd name="connsiteY4" fmla="*/ 2731400 h 2799038"/>
                    <a:gd name="connsiteX0" fmla="*/ 1506382 w 4516202"/>
                    <a:gd name="connsiteY0" fmla="*/ 2647485 h 2799038"/>
                    <a:gd name="connsiteX1" fmla="*/ 1371106 w 4516202"/>
                    <a:gd name="connsiteY1" fmla="*/ 2782761 h 2799038"/>
                    <a:gd name="connsiteX2" fmla="*/ 1235830 w 4516202"/>
                    <a:gd name="connsiteY2" fmla="*/ 2647485 h 2799038"/>
                    <a:gd name="connsiteX3" fmla="*/ 1506382 w 4516202"/>
                    <a:gd name="connsiteY3" fmla="*/ 2647485 h 2799038"/>
                    <a:gd name="connsiteX0" fmla="*/ 1480796 w 4516202"/>
                    <a:gd name="connsiteY0" fmla="*/ 2430190 h 2799038"/>
                    <a:gd name="connsiteX1" fmla="*/ 1493985 w 4516202"/>
                    <a:gd name="connsiteY1" fmla="*/ 2651382 h 2799038"/>
                    <a:gd name="connsiteX2" fmla="*/ 1480796 w 4516202"/>
                    <a:gd name="connsiteY2" fmla="*/ 2430190 h 2799038"/>
                    <a:gd name="connsiteX0" fmla="*/ 4729 w 43256"/>
                    <a:gd name="connsiteY0" fmla="*/ 26036 h 49659"/>
                    <a:gd name="connsiteX1" fmla="*/ 2196 w 43256"/>
                    <a:gd name="connsiteY1" fmla="*/ 25239 h 49659"/>
                    <a:gd name="connsiteX2" fmla="*/ 6964 w 43256"/>
                    <a:gd name="connsiteY2" fmla="*/ 34758 h 49659"/>
                    <a:gd name="connsiteX3" fmla="*/ 5856 w 43256"/>
                    <a:gd name="connsiteY3" fmla="*/ 35139 h 49659"/>
                    <a:gd name="connsiteX4" fmla="*/ 16514 w 43256"/>
                    <a:gd name="connsiteY4" fmla="*/ 38949 h 49659"/>
                    <a:gd name="connsiteX5" fmla="*/ 15846 w 43256"/>
                    <a:gd name="connsiteY5" fmla="*/ 37209 h 49659"/>
                    <a:gd name="connsiteX6" fmla="*/ 28863 w 43256"/>
                    <a:gd name="connsiteY6" fmla="*/ 34610 h 49659"/>
                    <a:gd name="connsiteX7" fmla="*/ 28596 w 43256"/>
                    <a:gd name="connsiteY7" fmla="*/ 36519 h 49659"/>
                    <a:gd name="connsiteX8" fmla="*/ 34165 w 43256"/>
                    <a:gd name="connsiteY8" fmla="*/ 22813 h 49659"/>
                    <a:gd name="connsiteX9" fmla="*/ 37416 w 43256"/>
                    <a:gd name="connsiteY9" fmla="*/ 29949 h 49659"/>
                    <a:gd name="connsiteX10" fmla="*/ 41834 w 43256"/>
                    <a:gd name="connsiteY10" fmla="*/ 15213 h 49659"/>
                    <a:gd name="connsiteX11" fmla="*/ 40386 w 43256"/>
                    <a:gd name="connsiteY11" fmla="*/ 17889 h 49659"/>
                    <a:gd name="connsiteX12" fmla="*/ 38360 w 43256"/>
                    <a:gd name="connsiteY12" fmla="*/ 5285 h 49659"/>
                    <a:gd name="connsiteX13" fmla="*/ 38436 w 43256"/>
                    <a:gd name="connsiteY13" fmla="*/ 6549 h 49659"/>
                    <a:gd name="connsiteX14" fmla="*/ 29114 w 43256"/>
                    <a:gd name="connsiteY14" fmla="*/ 3811 h 49659"/>
                    <a:gd name="connsiteX15" fmla="*/ 29856 w 43256"/>
                    <a:gd name="connsiteY15" fmla="*/ 2199 h 49659"/>
                    <a:gd name="connsiteX16" fmla="*/ 22177 w 43256"/>
                    <a:gd name="connsiteY16" fmla="*/ 4579 h 49659"/>
                    <a:gd name="connsiteX17" fmla="*/ 22536 w 43256"/>
                    <a:gd name="connsiteY17" fmla="*/ 3189 h 49659"/>
                    <a:gd name="connsiteX18" fmla="*/ 14036 w 43256"/>
                    <a:gd name="connsiteY18" fmla="*/ 5051 h 49659"/>
                    <a:gd name="connsiteX19" fmla="*/ 15336 w 43256"/>
                    <a:gd name="connsiteY19" fmla="*/ 6399 h 49659"/>
                    <a:gd name="connsiteX20" fmla="*/ 4163 w 43256"/>
                    <a:gd name="connsiteY20" fmla="*/ 15648 h 49659"/>
                    <a:gd name="connsiteX21" fmla="*/ 3936 w 43256"/>
                    <a:gd name="connsiteY21" fmla="*/ 14229 h 49659"/>
                    <a:gd name="connsiteX0" fmla="*/ 3936 w 43256"/>
                    <a:gd name="connsiteY0" fmla="*/ 14229 h 49659"/>
                    <a:gd name="connsiteX1" fmla="*/ 5659 w 43256"/>
                    <a:gd name="connsiteY1" fmla="*/ 6766 h 49659"/>
                    <a:gd name="connsiteX2" fmla="*/ 14041 w 43256"/>
                    <a:gd name="connsiteY2" fmla="*/ 5061 h 49659"/>
                    <a:gd name="connsiteX3" fmla="*/ 22492 w 43256"/>
                    <a:gd name="connsiteY3" fmla="*/ 3291 h 49659"/>
                    <a:gd name="connsiteX4" fmla="*/ 25785 w 43256"/>
                    <a:gd name="connsiteY4" fmla="*/ 59 h 49659"/>
                    <a:gd name="connsiteX5" fmla="*/ 29869 w 43256"/>
                    <a:gd name="connsiteY5" fmla="*/ 2340 h 49659"/>
                    <a:gd name="connsiteX6" fmla="*/ 35499 w 43256"/>
                    <a:gd name="connsiteY6" fmla="*/ 549 h 49659"/>
                    <a:gd name="connsiteX7" fmla="*/ 38354 w 43256"/>
                    <a:gd name="connsiteY7" fmla="*/ 5435 h 49659"/>
                    <a:gd name="connsiteX8" fmla="*/ 42018 w 43256"/>
                    <a:gd name="connsiteY8" fmla="*/ 10177 h 49659"/>
                    <a:gd name="connsiteX9" fmla="*/ 41854 w 43256"/>
                    <a:gd name="connsiteY9" fmla="*/ 15319 h 49659"/>
                    <a:gd name="connsiteX10" fmla="*/ 43052 w 43256"/>
                    <a:gd name="connsiteY10" fmla="*/ 23181 h 49659"/>
                    <a:gd name="connsiteX11" fmla="*/ 37440 w 43256"/>
                    <a:gd name="connsiteY11" fmla="*/ 30063 h 49659"/>
                    <a:gd name="connsiteX12" fmla="*/ 35431 w 43256"/>
                    <a:gd name="connsiteY12" fmla="*/ 35960 h 49659"/>
                    <a:gd name="connsiteX13" fmla="*/ 28591 w 43256"/>
                    <a:gd name="connsiteY13" fmla="*/ 36674 h 49659"/>
                    <a:gd name="connsiteX14" fmla="*/ 23703 w 43256"/>
                    <a:gd name="connsiteY14" fmla="*/ 42965 h 49659"/>
                    <a:gd name="connsiteX15" fmla="*/ 16516 w 43256"/>
                    <a:gd name="connsiteY15" fmla="*/ 39125 h 49659"/>
                    <a:gd name="connsiteX16" fmla="*/ 5840 w 43256"/>
                    <a:gd name="connsiteY16" fmla="*/ 35331 h 49659"/>
                    <a:gd name="connsiteX17" fmla="*/ 1146 w 43256"/>
                    <a:gd name="connsiteY17" fmla="*/ 31109 h 49659"/>
                    <a:gd name="connsiteX18" fmla="*/ 2149 w 43256"/>
                    <a:gd name="connsiteY18" fmla="*/ 25410 h 49659"/>
                    <a:gd name="connsiteX19" fmla="*/ 31 w 43256"/>
                    <a:gd name="connsiteY19" fmla="*/ 19563 h 49659"/>
                    <a:gd name="connsiteX20" fmla="*/ 3899 w 43256"/>
                    <a:gd name="connsiteY20" fmla="*/ 14366 h 49659"/>
                    <a:gd name="connsiteX21" fmla="*/ 3936 w 43256"/>
                    <a:gd name="connsiteY21" fmla="*/ 14229 h 49659"/>
                    <a:gd name="connsiteX0" fmla="*/ 1386932 w 4516202"/>
                    <a:gd name="connsiteY0" fmla="*/ 2731400 h 2799038"/>
                    <a:gd name="connsiteX1" fmla="*/ 1319294 w 4516202"/>
                    <a:gd name="connsiteY1" fmla="*/ 2799038 h 2799038"/>
                    <a:gd name="connsiteX2" fmla="*/ 1251656 w 4516202"/>
                    <a:gd name="connsiteY2" fmla="*/ 2731400 h 2799038"/>
                    <a:gd name="connsiteX3" fmla="*/ 1319294 w 4516202"/>
                    <a:gd name="connsiteY3" fmla="*/ 2663762 h 2799038"/>
                    <a:gd name="connsiteX4" fmla="*/ 1386932 w 4516202"/>
                    <a:gd name="connsiteY4" fmla="*/ 2731400 h 2799038"/>
                    <a:gd name="connsiteX0" fmla="*/ 1506382 w 4516202"/>
                    <a:gd name="connsiteY0" fmla="*/ 2647485 h 2799038"/>
                    <a:gd name="connsiteX1" fmla="*/ 1371106 w 4516202"/>
                    <a:gd name="connsiteY1" fmla="*/ 2782761 h 2799038"/>
                    <a:gd name="connsiteX2" fmla="*/ 1506382 w 4516202"/>
                    <a:gd name="connsiteY2" fmla="*/ 2647485 h 2799038"/>
                    <a:gd name="connsiteX0" fmla="*/ 1480796 w 4516202"/>
                    <a:gd name="connsiteY0" fmla="*/ 2430190 h 2799038"/>
                    <a:gd name="connsiteX1" fmla="*/ 1493985 w 4516202"/>
                    <a:gd name="connsiteY1" fmla="*/ 2651382 h 2799038"/>
                    <a:gd name="connsiteX2" fmla="*/ 1480796 w 4516202"/>
                    <a:gd name="connsiteY2" fmla="*/ 2430190 h 2799038"/>
                    <a:gd name="connsiteX0" fmla="*/ 4729 w 43256"/>
                    <a:gd name="connsiteY0" fmla="*/ 26036 h 49659"/>
                    <a:gd name="connsiteX1" fmla="*/ 2196 w 43256"/>
                    <a:gd name="connsiteY1" fmla="*/ 25239 h 49659"/>
                    <a:gd name="connsiteX2" fmla="*/ 6964 w 43256"/>
                    <a:gd name="connsiteY2" fmla="*/ 34758 h 49659"/>
                    <a:gd name="connsiteX3" fmla="*/ 5856 w 43256"/>
                    <a:gd name="connsiteY3" fmla="*/ 35139 h 49659"/>
                    <a:gd name="connsiteX4" fmla="*/ 16514 w 43256"/>
                    <a:gd name="connsiteY4" fmla="*/ 38949 h 49659"/>
                    <a:gd name="connsiteX5" fmla="*/ 15846 w 43256"/>
                    <a:gd name="connsiteY5" fmla="*/ 37209 h 49659"/>
                    <a:gd name="connsiteX6" fmla="*/ 28863 w 43256"/>
                    <a:gd name="connsiteY6" fmla="*/ 34610 h 49659"/>
                    <a:gd name="connsiteX7" fmla="*/ 28596 w 43256"/>
                    <a:gd name="connsiteY7" fmla="*/ 36519 h 49659"/>
                    <a:gd name="connsiteX8" fmla="*/ 34165 w 43256"/>
                    <a:gd name="connsiteY8" fmla="*/ 22813 h 49659"/>
                    <a:gd name="connsiteX9" fmla="*/ 37416 w 43256"/>
                    <a:gd name="connsiteY9" fmla="*/ 29949 h 49659"/>
                    <a:gd name="connsiteX10" fmla="*/ 41834 w 43256"/>
                    <a:gd name="connsiteY10" fmla="*/ 15213 h 49659"/>
                    <a:gd name="connsiteX11" fmla="*/ 40386 w 43256"/>
                    <a:gd name="connsiteY11" fmla="*/ 17889 h 49659"/>
                    <a:gd name="connsiteX12" fmla="*/ 38360 w 43256"/>
                    <a:gd name="connsiteY12" fmla="*/ 5285 h 49659"/>
                    <a:gd name="connsiteX13" fmla="*/ 38436 w 43256"/>
                    <a:gd name="connsiteY13" fmla="*/ 6549 h 49659"/>
                    <a:gd name="connsiteX14" fmla="*/ 29114 w 43256"/>
                    <a:gd name="connsiteY14" fmla="*/ 3811 h 49659"/>
                    <a:gd name="connsiteX15" fmla="*/ 29856 w 43256"/>
                    <a:gd name="connsiteY15" fmla="*/ 2199 h 49659"/>
                    <a:gd name="connsiteX16" fmla="*/ 22177 w 43256"/>
                    <a:gd name="connsiteY16" fmla="*/ 4579 h 49659"/>
                    <a:gd name="connsiteX17" fmla="*/ 22536 w 43256"/>
                    <a:gd name="connsiteY17" fmla="*/ 3189 h 49659"/>
                    <a:gd name="connsiteX18" fmla="*/ 14036 w 43256"/>
                    <a:gd name="connsiteY18" fmla="*/ 5051 h 49659"/>
                    <a:gd name="connsiteX19" fmla="*/ 15336 w 43256"/>
                    <a:gd name="connsiteY19" fmla="*/ 6399 h 49659"/>
                    <a:gd name="connsiteX20" fmla="*/ 4163 w 43256"/>
                    <a:gd name="connsiteY20" fmla="*/ 15648 h 49659"/>
                    <a:gd name="connsiteX21" fmla="*/ 3936 w 43256"/>
                    <a:gd name="connsiteY21" fmla="*/ 14229 h 49659"/>
                    <a:gd name="connsiteX0" fmla="*/ 3936 w 43256"/>
                    <a:gd name="connsiteY0" fmla="*/ 14229 h 49370"/>
                    <a:gd name="connsiteX1" fmla="*/ 5659 w 43256"/>
                    <a:gd name="connsiteY1" fmla="*/ 6766 h 49370"/>
                    <a:gd name="connsiteX2" fmla="*/ 14041 w 43256"/>
                    <a:gd name="connsiteY2" fmla="*/ 5061 h 49370"/>
                    <a:gd name="connsiteX3" fmla="*/ 22492 w 43256"/>
                    <a:gd name="connsiteY3" fmla="*/ 3291 h 49370"/>
                    <a:gd name="connsiteX4" fmla="*/ 25785 w 43256"/>
                    <a:gd name="connsiteY4" fmla="*/ 59 h 49370"/>
                    <a:gd name="connsiteX5" fmla="*/ 29869 w 43256"/>
                    <a:gd name="connsiteY5" fmla="*/ 2340 h 49370"/>
                    <a:gd name="connsiteX6" fmla="*/ 35499 w 43256"/>
                    <a:gd name="connsiteY6" fmla="*/ 549 h 49370"/>
                    <a:gd name="connsiteX7" fmla="*/ 38354 w 43256"/>
                    <a:gd name="connsiteY7" fmla="*/ 5435 h 49370"/>
                    <a:gd name="connsiteX8" fmla="*/ 42018 w 43256"/>
                    <a:gd name="connsiteY8" fmla="*/ 10177 h 49370"/>
                    <a:gd name="connsiteX9" fmla="*/ 41854 w 43256"/>
                    <a:gd name="connsiteY9" fmla="*/ 15319 h 49370"/>
                    <a:gd name="connsiteX10" fmla="*/ 43052 w 43256"/>
                    <a:gd name="connsiteY10" fmla="*/ 23181 h 49370"/>
                    <a:gd name="connsiteX11" fmla="*/ 37440 w 43256"/>
                    <a:gd name="connsiteY11" fmla="*/ 30063 h 49370"/>
                    <a:gd name="connsiteX12" fmla="*/ 35431 w 43256"/>
                    <a:gd name="connsiteY12" fmla="*/ 35960 h 49370"/>
                    <a:gd name="connsiteX13" fmla="*/ 28591 w 43256"/>
                    <a:gd name="connsiteY13" fmla="*/ 36674 h 49370"/>
                    <a:gd name="connsiteX14" fmla="*/ 23703 w 43256"/>
                    <a:gd name="connsiteY14" fmla="*/ 42965 h 49370"/>
                    <a:gd name="connsiteX15" fmla="*/ 16516 w 43256"/>
                    <a:gd name="connsiteY15" fmla="*/ 39125 h 49370"/>
                    <a:gd name="connsiteX16" fmla="*/ 5840 w 43256"/>
                    <a:gd name="connsiteY16" fmla="*/ 35331 h 49370"/>
                    <a:gd name="connsiteX17" fmla="*/ 1146 w 43256"/>
                    <a:gd name="connsiteY17" fmla="*/ 31109 h 49370"/>
                    <a:gd name="connsiteX18" fmla="*/ 2149 w 43256"/>
                    <a:gd name="connsiteY18" fmla="*/ 25410 h 49370"/>
                    <a:gd name="connsiteX19" fmla="*/ 31 w 43256"/>
                    <a:gd name="connsiteY19" fmla="*/ 19563 h 49370"/>
                    <a:gd name="connsiteX20" fmla="*/ 3899 w 43256"/>
                    <a:gd name="connsiteY20" fmla="*/ 14366 h 49370"/>
                    <a:gd name="connsiteX21" fmla="*/ 3936 w 43256"/>
                    <a:gd name="connsiteY21" fmla="*/ 14229 h 49370"/>
                    <a:gd name="connsiteX0" fmla="*/ 1386932 w 4516202"/>
                    <a:gd name="connsiteY0" fmla="*/ 2731400 h 2782761"/>
                    <a:gd name="connsiteX1" fmla="*/ 1251656 w 4516202"/>
                    <a:gd name="connsiteY1" fmla="*/ 2731400 h 2782761"/>
                    <a:gd name="connsiteX2" fmla="*/ 1319294 w 4516202"/>
                    <a:gd name="connsiteY2" fmla="*/ 2663762 h 2782761"/>
                    <a:gd name="connsiteX3" fmla="*/ 1386932 w 4516202"/>
                    <a:gd name="connsiteY3" fmla="*/ 2731400 h 2782761"/>
                    <a:gd name="connsiteX0" fmla="*/ 1506382 w 4516202"/>
                    <a:gd name="connsiteY0" fmla="*/ 2647485 h 2782761"/>
                    <a:gd name="connsiteX1" fmla="*/ 1371106 w 4516202"/>
                    <a:gd name="connsiteY1" fmla="*/ 2782761 h 2782761"/>
                    <a:gd name="connsiteX2" fmla="*/ 1506382 w 4516202"/>
                    <a:gd name="connsiteY2" fmla="*/ 2647485 h 2782761"/>
                    <a:gd name="connsiteX0" fmla="*/ 1480796 w 4516202"/>
                    <a:gd name="connsiteY0" fmla="*/ 2430190 h 2782761"/>
                    <a:gd name="connsiteX1" fmla="*/ 1493985 w 4516202"/>
                    <a:gd name="connsiteY1" fmla="*/ 2651382 h 2782761"/>
                    <a:gd name="connsiteX2" fmla="*/ 1480796 w 4516202"/>
                    <a:gd name="connsiteY2" fmla="*/ 2430190 h 2782761"/>
                    <a:gd name="connsiteX0" fmla="*/ 4729 w 43256"/>
                    <a:gd name="connsiteY0" fmla="*/ 26036 h 49370"/>
                    <a:gd name="connsiteX1" fmla="*/ 2196 w 43256"/>
                    <a:gd name="connsiteY1" fmla="*/ 25239 h 49370"/>
                    <a:gd name="connsiteX2" fmla="*/ 6964 w 43256"/>
                    <a:gd name="connsiteY2" fmla="*/ 34758 h 49370"/>
                    <a:gd name="connsiteX3" fmla="*/ 5856 w 43256"/>
                    <a:gd name="connsiteY3" fmla="*/ 35139 h 49370"/>
                    <a:gd name="connsiteX4" fmla="*/ 16514 w 43256"/>
                    <a:gd name="connsiteY4" fmla="*/ 38949 h 49370"/>
                    <a:gd name="connsiteX5" fmla="*/ 15846 w 43256"/>
                    <a:gd name="connsiteY5" fmla="*/ 37209 h 49370"/>
                    <a:gd name="connsiteX6" fmla="*/ 28863 w 43256"/>
                    <a:gd name="connsiteY6" fmla="*/ 34610 h 49370"/>
                    <a:gd name="connsiteX7" fmla="*/ 28596 w 43256"/>
                    <a:gd name="connsiteY7" fmla="*/ 36519 h 49370"/>
                    <a:gd name="connsiteX8" fmla="*/ 34165 w 43256"/>
                    <a:gd name="connsiteY8" fmla="*/ 22813 h 49370"/>
                    <a:gd name="connsiteX9" fmla="*/ 37416 w 43256"/>
                    <a:gd name="connsiteY9" fmla="*/ 29949 h 49370"/>
                    <a:gd name="connsiteX10" fmla="*/ 41834 w 43256"/>
                    <a:gd name="connsiteY10" fmla="*/ 15213 h 49370"/>
                    <a:gd name="connsiteX11" fmla="*/ 40386 w 43256"/>
                    <a:gd name="connsiteY11" fmla="*/ 17889 h 49370"/>
                    <a:gd name="connsiteX12" fmla="*/ 38360 w 43256"/>
                    <a:gd name="connsiteY12" fmla="*/ 5285 h 49370"/>
                    <a:gd name="connsiteX13" fmla="*/ 38436 w 43256"/>
                    <a:gd name="connsiteY13" fmla="*/ 6549 h 49370"/>
                    <a:gd name="connsiteX14" fmla="*/ 29114 w 43256"/>
                    <a:gd name="connsiteY14" fmla="*/ 3811 h 49370"/>
                    <a:gd name="connsiteX15" fmla="*/ 29856 w 43256"/>
                    <a:gd name="connsiteY15" fmla="*/ 2199 h 49370"/>
                    <a:gd name="connsiteX16" fmla="*/ 22177 w 43256"/>
                    <a:gd name="connsiteY16" fmla="*/ 4579 h 49370"/>
                    <a:gd name="connsiteX17" fmla="*/ 22536 w 43256"/>
                    <a:gd name="connsiteY17" fmla="*/ 3189 h 49370"/>
                    <a:gd name="connsiteX18" fmla="*/ 14036 w 43256"/>
                    <a:gd name="connsiteY18" fmla="*/ 5051 h 49370"/>
                    <a:gd name="connsiteX19" fmla="*/ 15336 w 43256"/>
                    <a:gd name="connsiteY19" fmla="*/ 6399 h 49370"/>
                    <a:gd name="connsiteX20" fmla="*/ 4163 w 43256"/>
                    <a:gd name="connsiteY20" fmla="*/ 15648 h 49370"/>
                    <a:gd name="connsiteX21" fmla="*/ 3936 w 43256"/>
                    <a:gd name="connsiteY21" fmla="*/ 14229 h 49370"/>
                    <a:gd name="connsiteX0" fmla="*/ 3936 w 43256"/>
                    <a:gd name="connsiteY0" fmla="*/ 14229 h 49370"/>
                    <a:gd name="connsiteX1" fmla="*/ 5659 w 43256"/>
                    <a:gd name="connsiteY1" fmla="*/ 6766 h 49370"/>
                    <a:gd name="connsiteX2" fmla="*/ 14041 w 43256"/>
                    <a:gd name="connsiteY2" fmla="*/ 5061 h 49370"/>
                    <a:gd name="connsiteX3" fmla="*/ 22492 w 43256"/>
                    <a:gd name="connsiteY3" fmla="*/ 3291 h 49370"/>
                    <a:gd name="connsiteX4" fmla="*/ 25785 w 43256"/>
                    <a:gd name="connsiteY4" fmla="*/ 59 h 49370"/>
                    <a:gd name="connsiteX5" fmla="*/ 29869 w 43256"/>
                    <a:gd name="connsiteY5" fmla="*/ 2340 h 49370"/>
                    <a:gd name="connsiteX6" fmla="*/ 35499 w 43256"/>
                    <a:gd name="connsiteY6" fmla="*/ 549 h 49370"/>
                    <a:gd name="connsiteX7" fmla="*/ 38354 w 43256"/>
                    <a:gd name="connsiteY7" fmla="*/ 5435 h 49370"/>
                    <a:gd name="connsiteX8" fmla="*/ 42018 w 43256"/>
                    <a:gd name="connsiteY8" fmla="*/ 10177 h 49370"/>
                    <a:gd name="connsiteX9" fmla="*/ 41854 w 43256"/>
                    <a:gd name="connsiteY9" fmla="*/ 15319 h 49370"/>
                    <a:gd name="connsiteX10" fmla="*/ 43052 w 43256"/>
                    <a:gd name="connsiteY10" fmla="*/ 23181 h 49370"/>
                    <a:gd name="connsiteX11" fmla="*/ 37440 w 43256"/>
                    <a:gd name="connsiteY11" fmla="*/ 30063 h 49370"/>
                    <a:gd name="connsiteX12" fmla="*/ 35431 w 43256"/>
                    <a:gd name="connsiteY12" fmla="*/ 35960 h 49370"/>
                    <a:gd name="connsiteX13" fmla="*/ 28591 w 43256"/>
                    <a:gd name="connsiteY13" fmla="*/ 36674 h 49370"/>
                    <a:gd name="connsiteX14" fmla="*/ 23703 w 43256"/>
                    <a:gd name="connsiteY14" fmla="*/ 42965 h 49370"/>
                    <a:gd name="connsiteX15" fmla="*/ 16516 w 43256"/>
                    <a:gd name="connsiteY15" fmla="*/ 39125 h 49370"/>
                    <a:gd name="connsiteX16" fmla="*/ 5840 w 43256"/>
                    <a:gd name="connsiteY16" fmla="*/ 35331 h 49370"/>
                    <a:gd name="connsiteX17" fmla="*/ 1146 w 43256"/>
                    <a:gd name="connsiteY17" fmla="*/ 31109 h 49370"/>
                    <a:gd name="connsiteX18" fmla="*/ 2149 w 43256"/>
                    <a:gd name="connsiteY18" fmla="*/ 25410 h 49370"/>
                    <a:gd name="connsiteX19" fmla="*/ 31 w 43256"/>
                    <a:gd name="connsiteY19" fmla="*/ 19563 h 49370"/>
                    <a:gd name="connsiteX20" fmla="*/ 3899 w 43256"/>
                    <a:gd name="connsiteY20" fmla="*/ 14366 h 49370"/>
                    <a:gd name="connsiteX21" fmla="*/ 3936 w 43256"/>
                    <a:gd name="connsiteY21" fmla="*/ 14229 h 49370"/>
                    <a:gd name="connsiteX0" fmla="*/ 1386932 w 4516202"/>
                    <a:gd name="connsiteY0" fmla="*/ 2731400 h 2782761"/>
                    <a:gd name="connsiteX1" fmla="*/ 1319294 w 4516202"/>
                    <a:gd name="connsiteY1" fmla="*/ 2663762 h 2782761"/>
                    <a:gd name="connsiteX2" fmla="*/ 1386932 w 4516202"/>
                    <a:gd name="connsiteY2" fmla="*/ 2731400 h 2782761"/>
                    <a:gd name="connsiteX0" fmla="*/ 1506382 w 4516202"/>
                    <a:gd name="connsiteY0" fmla="*/ 2647485 h 2782761"/>
                    <a:gd name="connsiteX1" fmla="*/ 1371106 w 4516202"/>
                    <a:gd name="connsiteY1" fmla="*/ 2782761 h 2782761"/>
                    <a:gd name="connsiteX2" fmla="*/ 1506382 w 4516202"/>
                    <a:gd name="connsiteY2" fmla="*/ 2647485 h 2782761"/>
                    <a:gd name="connsiteX0" fmla="*/ 1480796 w 4516202"/>
                    <a:gd name="connsiteY0" fmla="*/ 2430190 h 2782761"/>
                    <a:gd name="connsiteX1" fmla="*/ 1493985 w 4516202"/>
                    <a:gd name="connsiteY1" fmla="*/ 2651382 h 2782761"/>
                    <a:gd name="connsiteX2" fmla="*/ 1480796 w 4516202"/>
                    <a:gd name="connsiteY2" fmla="*/ 2430190 h 2782761"/>
                    <a:gd name="connsiteX0" fmla="*/ 4729 w 43256"/>
                    <a:gd name="connsiteY0" fmla="*/ 26036 h 49370"/>
                    <a:gd name="connsiteX1" fmla="*/ 2196 w 43256"/>
                    <a:gd name="connsiteY1" fmla="*/ 25239 h 49370"/>
                    <a:gd name="connsiteX2" fmla="*/ 6964 w 43256"/>
                    <a:gd name="connsiteY2" fmla="*/ 34758 h 49370"/>
                    <a:gd name="connsiteX3" fmla="*/ 5856 w 43256"/>
                    <a:gd name="connsiteY3" fmla="*/ 35139 h 49370"/>
                    <a:gd name="connsiteX4" fmla="*/ 16514 w 43256"/>
                    <a:gd name="connsiteY4" fmla="*/ 38949 h 49370"/>
                    <a:gd name="connsiteX5" fmla="*/ 15846 w 43256"/>
                    <a:gd name="connsiteY5" fmla="*/ 37209 h 49370"/>
                    <a:gd name="connsiteX6" fmla="*/ 28863 w 43256"/>
                    <a:gd name="connsiteY6" fmla="*/ 34610 h 49370"/>
                    <a:gd name="connsiteX7" fmla="*/ 28596 w 43256"/>
                    <a:gd name="connsiteY7" fmla="*/ 36519 h 49370"/>
                    <a:gd name="connsiteX8" fmla="*/ 34165 w 43256"/>
                    <a:gd name="connsiteY8" fmla="*/ 22813 h 49370"/>
                    <a:gd name="connsiteX9" fmla="*/ 37416 w 43256"/>
                    <a:gd name="connsiteY9" fmla="*/ 29949 h 49370"/>
                    <a:gd name="connsiteX10" fmla="*/ 41834 w 43256"/>
                    <a:gd name="connsiteY10" fmla="*/ 15213 h 49370"/>
                    <a:gd name="connsiteX11" fmla="*/ 40386 w 43256"/>
                    <a:gd name="connsiteY11" fmla="*/ 17889 h 49370"/>
                    <a:gd name="connsiteX12" fmla="*/ 38360 w 43256"/>
                    <a:gd name="connsiteY12" fmla="*/ 5285 h 49370"/>
                    <a:gd name="connsiteX13" fmla="*/ 38436 w 43256"/>
                    <a:gd name="connsiteY13" fmla="*/ 6549 h 49370"/>
                    <a:gd name="connsiteX14" fmla="*/ 29114 w 43256"/>
                    <a:gd name="connsiteY14" fmla="*/ 3811 h 49370"/>
                    <a:gd name="connsiteX15" fmla="*/ 29856 w 43256"/>
                    <a:gd name="connsiteY15" fmla="*/ 2199 h 49370"/>
                    <a:gd name="connsiteX16" fmla="*/ 22177 w 43256"/>
                    <a:gd name="connsiteY16" fmla="*/ 4579 h 49370"/>
                    <a:gd name="connsiteX17" fmla="*/ 22536 w 43256"/>
                    <a:gd name="connsiteY17" fmla="*/ 3189 h 49370"/>
                    <a:gd name="connsiteX18" fmla="*/ 14036 w 43256"/>
                    <a:gd name="connsiteY18" fmla="*/ 5051 h 49370"/>
                    <a:gd name="connsiteX19" fmla="*/ 15336 w 43256"/>
                    <a:gd name="connsiteY19" fmla="*/ 6399 h 49370"/>
                    <a:gd name="connsiteX20" fmla="*/ 4163 w 43256"/>
                    <a:gd name="connsiteY20" fmla="*/ 15648 h 49370"/>
                    <a:gd name="connsiteX21" fmla="*/ 3936 w 43256"/>
                    <a:gd name="connsiteY21" fmla="*/ 14229 h 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256" h="49370">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516202" h="2782761">
                      <a:moveTo>
                        <a:pt x="1386932" y="2731400"/>
                      </a:moveTo>
                      <a:lnTo>
                        <a:pt x="1319294" y="2663762"/>
                      </a:lnTo>
                      <a:cubicBezTo>
                        <a:pt x="1356649" y="2663762"/>
                        <a:pt x="1386932" y="2694045"/>
                        <a:pt x="1386932" y="2731400"/>
                      </a:cubicBezTo>
                      <a:close/>
                    </a:path>
                    <a:path w="4516202" h="2782761">
                      <a:moveTo>
                        <a:pt x="1506382" y="2647485"/>
                      </a:moveTo>
                      <a:cubicBezTo>
                        <a:pt x="1506382" y="2722196"/>
                        <a:pt x="1445817" y="2782761"/>
                        <a:pt x="1371106" y="2782761"/>
                      </a:cubicBezTo>
                      <a:lnTo>
                        <a:pt x="1506382" y="2647485"/>
                      </a:lnTo>
                      <a:close/>
                    </a:path>
                    <a:path w="4516202" h="2782761">
                      <a:moveTo>
                        <a:pt x="1480796" y="2430190"/>
                      </a:moveTo>
                      <a:cubicBezTo>
                        <a:pt x="1514615" y="2464009"/>
                        <a:pt x="1525606" y="2648336"/>
                        <a:pt x="1493985" y="2651382"/>
                      </a:cubicBezTo>
                      <a:lnTo>
                        <a:pt x="1480796" y="2430190"/>
                      </a:lnTo>
                      <a:close/>
                    </a:path>
                    <a:path w="43256" h="49370" fill="none" extrusionOk="0">
                      <a:moveTo>
                        <a:pt x="4729" y="26036"/>
                      </a:moveTo>
                      <a:cubicBezTo>
                        <a:pt x="3845" y="26130"/>
                        <a:pt x="2961" y="25852"/>
                        <a:pt x="2196" y="25239"/>
                      </a:cubicBezTo>
                      <a:moveTo>
                        <a:pt x="6964" y="34758"/>
                      </a:moveTo>
                      <a:cubicBezTo>
                        <a:pt x="6609" y="34951"/>
                        <a:pt x="6236" y="35079"/>
                        <a:pt x="5856" y="35139"/>
                      </a:cubicBezTo>
                      <a:moveTo>
                        <a:pt x="16514" y="38949"/>
                      </a:moveTo>
                      <a:cubicBezTo>
                        <a:pt x="16247" y="38403"/>
                        <a:pt x="16023" y="37820"/>
                        <a:pt x="15846" y="37209"/>
                      </a:cubicBezTo>
                      <a:moveTo>
                        <a:pt x="28863" y="34610"/>
                      </a:moveTo>
                      <a:cubicBezTo>
                        <a:pt x="28824" y="35257"/>
                        <a:pt x="28734" y="35897"/>
                        <a:pt x="28596" y="36519"/>
                      </a:cubicBezTo>
                      <a:moveTo>
                        <a:pt x="34165" y="22813"/>
                      </a:moveTo>
                      <a:cubicBezTo>
                        <a:pt x="36169" y="24141"/>
                        <a:pt x="37434" y="26917"/>
                        <a:pt x="37416" y="29949"/>
                      </a:cubicBezTo>
                      <a:moveTo>
                        <a:pt x="41834" y="15213"/>
                      </a:moveTo>
                      <a:cubicBezTo>
                        <a:pt x="41509" y="16245"/>
                        <a:pt x="41014" y="17161"/>
                        <a:pt x="40386" y="17889"/>
                      </a:cubicBezTo>
                      <a:moveTo>
                        <a:pt x="38360" y="5285"/>
                      </a:moveTo>
                      <a:cubicBezTo>
                        <a:pt x="38415" y="5702"/>
                        <a:pt x="38441" y="6125"/>
                        <a:pt x="38436" y="6549"/>
                      </a:cubicBezTo>
                      <a:moveTo>
                        <a:pt x="29114" y="3811"/>
                      </a:moveTo>
                      <a:cubicBezTo>
                        <a:pt x="29303" y="3228"/>
                        <a:pt x="29552" y="2685"/>
                        <a:pt x="29856" y="2199"/>
                      </a:cubicBezTo>
                      <a:moveTo>
                        <a:pt x="22177" y="4579"/>
                      </a:moveTo>
                      <a:cubicBezTo>
                        <a:pt x="22254" y="4097"/>
                        <a:pt x="22375" y="3630"/>
                        <a:pt x="22536" y="3189"/>
                      </a:cubicBezTo>
                      <a:moveTo>
                        <a:pt x="14036" y="5051"/>
                      </a:moveTo>
                      <a:cubicBezTo>
                        <a:pt x="14508" y="5427"/>
                        <a:pt x="14944" y="5880"/>
                        <a:pt x="15336" y="6399"/>
                      </a:cubicBezTo>
                      <a:moveTo>
                        <a:pt x="4163" y="15648"/>
                      </a:moveTo>
                      <a:cubicBezTo>
                        <a:pt x="4060" y="15184"/>
                        <a:pt x="3984" y="14710"/>
                        <a:pt x="3936" y="142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66BCC54-9BCA-134E-BA47-AB75E92A68A5}"/>
                    </a:ext>
                  </a:extLst>
                </p:cNvPr>
                <p:cNvSpPr/>
                <p:nvPr/>
              </p:nvSpPr>
              <p:spPr>
                <a:xfrm>
                  <a:off x="2941027" y="2642088"/>
                  <a:ext cx="315881" cy="4589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Oval 11">
                <a:extLst>
                  <a:ext uri="{FF2B5EF4-FFF2-40B4-BE49-F238E27FC236}">
                    <a16:creationId xmlns:a16="http://schemas.microsoft.com/office/drawing/2014/main" id="{C0B03D52-9B9C-FD46-A039-82029278B118}"/>
                  </a:ext>
                </a:extLst>
              </p:cNvPr>
              <p:cNvSpPr/>
              <p:nvPr/>
            </p:nvSpPr>
            <p:spPr>
              <a:xfrm>
                <a:off x="2975874" y="2661750"/>
                <a:ext cx="246185" cy="2329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2524F19-9075-1245-8A74-0E3C095DF395}"/>
                  </a:ext>
                </a:extLst>
              </p:cNvPr>
              <p:cNvSpPr/>
              <p:nvPr/>
            </p:nvSpPr>
            <p:spPr>
              <a:xfrm>
                <a:off x="2847242" y="2930275"/>
                <a:ext cx="93785" cy="7791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251820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5BDD99-0738-30EE-A8D3-C8B00DA6FDFC}"/>
              </a:ext>
            </a:extLst>
          </p:cNvPr>
          <p:cNvSpPr txBox="1"/>
          <p:nvPr/>
        </p:nvSpPr>
        <p:spPr>
          <a:xfrm>
            <a:off x="0" y="1401425"/>
            <a:ext cx="4640580" cy="4524315"/>
          </a:xfrm>
          <a:prstGeom prst="rect">
            <a:avLst/>
          </a:prstGeom>
          <a:noFill/>
        </p:spPr>
        <p:txBody>
          <a:bodyPr wrap="square">
            <a:spAutoFit/>
          </a:bodyPr>
          <a:lstStyle/>
          <a:p>
            <a:pPr lvl="1"/>
            <a:r>
              <a:rPr lang="en-GB" sz="2400" dirty="0">
                <a:latin typeface="Helvetica Neue" panose="02000503000000020004" pitchFamily="2" charset="0"/>
                <a:ea typeface="Helvetica Neue" panose="02000503000000020004" pitchFamily="2" charset="0"/>
                <a:cs typeface="Helvetica Neue" panose="02000503000000020004" pitchFamily="2" charset="0"/>
              </a:rPr>
              <a:t>Survivors reintegrated into society</a:t>
            </a: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lvl="1"/>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1"/>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GB" sz="2400" dirty="0">
                <a:latin typeface="Helvetica Neue" panose="02000503000000020004" pitchFamily="2" charset="0"/>
                <a:ea typeface="Helvetica Neue" panose="02000503000000020004" pitchFamily="2" charset="0"/>
                <a:cs typeface="Helvetica Neue" panose="02000503000000020004" pitchFamily="2" charset="0"/>
              </a:rPr>
              <a:t>An increase in the </a:t>
            </a:r>
            <a:r>
              <a:rPr lang="en-GB" sz="2400" b="1" i="1" dirty="0">
                <a:latin typeface="Helvetica Neue" panose="02000503000000020004" pitchFamily="2" charset="0"/>
                <a:ea typeface="Helvetica Neue" panose="02000503000000020004" pitchFamily="2" charset="0"/>
                <a:cs typeface="Helvetica Neue" panose="02000503000000020004" pitchFamily="2" charset="0"/>
              </a:rPr>
              <a:t>use</a:t>
            </a:r>
            <a:r>
              <a:rPr lang="en-GB" sz="2400" dirty="0">
                <a:latin typeface="Helvetica Neue" panose="02000503000000020004" pitchFamily="2" charset="0"/>
                <a:ea typeface="Helvetica Neue" panose="02000503000000020004" pitchFamily="2" charset="0"/>
                <a:cs typeface="Helvetica Neue" panose="02000503000000020004" pitchFamily="2" charset="0"/>
              </a:rPr>
              <a:t> of productive land </a:t>
            </a:r>
          </a:p>
          <a:p>
            <a:pPr lvl="1"/>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1"/>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1"/>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GB" sz="2400" dirty="0">
                <a:latin typeface="Helvetica Neue" panose="02000503000000020004" pitchFamily="2" charset="0"/>
                <a:ea typeface="Helvetica Neue" panose="02000503000000020004" pitchFamily="2" charset="0"/>
                <a:cs typeface="Helvetica Neue" panose="02000503000000020004" pitchFamily="2" charset="0"/>
              </a:rPr>
              <a:t>A reduction in casualties caused by EO</a:t>
            </a:r>
          </a:p>
          <a:p>
            <a:pPr lvl="1"/>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 name="Content Placeholder 4" descr="A picture containing silhouette, black and white, design&#10;&#10;Description automatically generated">
            <a:extLst>
              <a:ext uri="{FF2B5EF4-FFF2-40B4-BE49-F238E27FC236}">
                <a16:creationId xmlns:a16="http://schemas.microsoft.com/office/drawing/2014/main" id="{C9E16F94-4402-8639-8F16-93B43E5B6A9D}"/>
              </a:ext>
            </a:extLst>
          </p:cNvPr>
          <p:cNvPicPr>
            <a:picLocks noChangeAspect="1"/>
          </p:cNvPicPr>
          <p:nvPr/>
        </p:nvPicPr>
        <p:blipFill rotWithShape="1">
          <a:blip r:embed="rId3"/>
          <a:srcRect l="69409" b="46291"/>
          <a:stretch/>
        </p:blipFill>
        <p:spPr>
          <a:xfrm>
            <a:off x="4569752" y="666358"/>
            <a:ext cx="1792481" cy="2114550"/>
          </a:xfrm>
          <a:prstGeom prst="rect">
            <a:avLst/>
          </a:prstGeom>
        </p:spPr>
      </p:pic>
      <p:pic>
        <p:nvPicPr>
          <p:cNvPr id="5" name="Content Placeholder 4" descr="A picture containing silhouette, black and white, design&#10;&#10;Description automatically generated">
            <a:extLst>
              <a:ext uri="{FF2B5EF4-FFF2-40B4-BE49-F238E27FC236}">
                <a16:creationId xmlns:a16="http://schemas.microsoft.com/office/drawing/2014/main" id="{25A84C4E-9D0F-F90F-E7BA-423DDD14E935}"/>
              </a:ext>
            </a:extLst>
          </p:cNvPr>
          <p:cNvPicPr>
            <a:picLocks noChangeAspect="1"/>
          </p:cNvPicPr>
          <p:nvPr/>
        </p:nvPicPr>
        <p:blipFill rotWithShape="1">
          <a:blip r:embed="rId3"/>
          <a:srcRect r="72533" b="47376"/>
          <a:stretch/>
        </p:blipFill>
        <p:spPr>
          <a:xfrm>
            <a:off x="4736553" y="2352233"/>
            <a:ext cx="1672717" cy="2153534"/>
          </a:xfrm>
          <a:prstGeom prst="rect">
            <a:avLst/>
          </a:prstGeom>
        </p:spPr>
      </p:pic>
      <p:pic>
        <p:nvPicPr>
          <p:cNvPr id="6" name="Content Placeholder 4" descr="A picture containing silhouette, black and white, design&#10;&#10;Description automatically generated">
            <a:extLst>
              <a:ext uri="{FF2B5EF4-FFF2-40B4-BE49-F238E27FC236}">
                <a16:creationId xmlns:a16="http://schemas.microsoft.com/office/drawing/2014/main" id="{04721C39-D2AB-53F1-A4DA-60A179C6FC56}"/>
              </a:ext>
            </a:extLst>
          </p:cNvPr>
          <p:cNvPicPr>
            <a:picLocks noChangeAspect="1"/>
          </p:cNvPicPr>
          <p:nvPr/>
        </p:nvPicPr>
        <p:blipFill rotWithShape="1">
          <a:blip r:embed="rId3"/>
          <a:srcRect l="30867" r="35350" b="44093"/>
          <a:stretch/>
        </p:blipFill>
        <p:spPr>
          <a:xfrm>
            <a:off x="4569752" y="4433565"/>
            <a:ext cx="1581238" cy="1758077"/>
          </a:xfrm>
          <a:prstGeom prst="rect">
            <a:avLst/>
          </a:prstGeom>
        </p:spPr>
      </p:pic>
      <p:pic>
        <p:nvPicPr>
          <p:cNvPr id="7" name="Content Placeholder 4" descr="A picture containing silhouette, black and white, design&#10;&#10;Description automatically generated">
            <a:extLst>
              <a:ext uri="{FF2B5EF4-FFF2-40B4-BE49-F238E27FC236}">
                <a16:creationId xmlns:a16="http://schemas.microsoft.com/office/drawing/2014/main" id="{2EF3FE7E-AD3E-211D-FC81-4ED30E428008}"/>
              </a:ext>
            </a:extLst>
          </p:cNvPr>
          <p:cNvPicPr>
            <a:picLocks noChangeAspect="1"/>
          </p:cNvPicPr>
          <p:nvPr/>
        </p:nvPicPr>
        <p:blipFill rotWithShape="1">
          <a:blip r:embed="rId3"/>
          <a:srcRect r="72533" b="47376"/>
          <a:stretch/>
        </p:blipFill>
        <p:spPr>
          <a:xfrm>
            <a:off x="7471283" y="4235836"/>
            <a:ext cx="1672717" cy="2153534"/>
          </a:xfrm>
          <a:prstGeom prst="rect">
            <a:avLst/>
          </a:prstGeom>
        </p:spPr>
      </p:pic>
      <p:grpSp>
        <p:nvGrpSpPr>
          <p:cNvPr id="8" name="Group 7">
            <a:extLst>
              <a:ext uri="{FF2B5EF4-FFF2-40B4-BE49-F238E27FC236}">
                <a16:creationId xmlns:a16="http://schemas.microsoft.com/office/drawing/2014/main" id="{C6668DB6-1797-281E-8665-B58E19F9596B}"/>
              </a:ext>
            </a:extLst>
          </p:cNvPr>
          <p:cNvGrpSpPr/>
          <p:nvPr/>
        </p:nvGrpSpPr>
        <p:grpSpPr>
          <a:xfrm flipH="1">
            <a:off x="6579452" y="4614301"/>
            <a:ext cx="463369" cy="1396603"/>
            <a:chOff x="3807615" y="1114424"/>
            <a:chExt cx="1528764" cy="4607719"/>
          </a:xfrm>
        </p:grpSpPr>
        <p:sp>
          <p:nvSpPr>
            <p:cNvPr id="9" name="Rounded Rectangle 8">
              <a:extLst>
                <a:ext uri="{FF2B5EF4-FFF2-40B4-BE49-F238E27FC236}">
                  <a16:creationId xmlns:a16="http://schemas.microsoft.com/office/drawing/2014/main" id="{F3B1A204-95AC-8D49-776D-BAB38E27617E}"/>
                </a:ext>
              </a:extLst>
            </p:cNvPr>
            <p:cNvSpPr/>
            <p:nvPr/>
          </p:nvSpPr>
          <p:spPr>
            <a:xfrm>
              <a:off x="3807617" y="2464593"/>
              <a:ext cx="1528762" cy="3257550"/>
            </a:xfrm>
            <a:prstGeom prst="roundRect">
              <a:avLst>
                <a:gd name="adj" fmla="val 50000"/>
              </a:avLst>
            </a:prstGeom>
            <a:solidFill>
              <a:schemeClr val="tx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8582779-64AD-2C9E-6027-9266973C1601}"/>
                </a:ext>
              </a:extLst>
            </p:cNvPr>
            <p:cNvSpPr/>
            <p:nvPr/>
          </p:nvSpPr>
          <p:spPr>
            <a:xfrm>
              <a:off x="3807616" y="1114424"/>
              <a:ext cx="764383" cy="1085850"/>
            </a:xfrm>
            <a:prstGeom prst="rect">
              <a:avLst/>
            </a:prstGeom>
            <a:solidFill>
              <a:schemeClr val="tx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C788D6-061F-7F91-5A1E-F27CFE372FD2}"/>
                </a:ext>
              </a:extLst>
            </p:cNvPr>
            <p:cNvSpPr/>
            <p:nvPr/>
          </p:nvSpPr>
          <p:spPr>
            <a:xfrm>
              <a:off x="4571996" y="1114424"/>
              <a:ext cx="764383" cy="1085850"/>
            </a:xfrm>
            <a:prstGeom prst="rect">
              <a:avLst/>
            </a:prstGeom>
            <a:solidFill>
              <a:schemeClr val="tx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apezium 11">
              <a:extLst>
                <a:ext uri="{FF2B5EF4-FFF2-40B4-BE49-F238E27FC236}">
                  <a16:creationId xmlns:a16="http://schemas.microsoft.com/office/drawing/2014/main" id="{6D4B912D-C6E9-BC15-1895-094C191677F9}"/>
                </a:ext>
              </a:extLst>
            </p:cNvPr>
            <p:cNvSpPr/>
            <p:nvPr/>
          </p:nvSpPr>
          <p:spPr>
            <a:xfrm rot="10800000">
              <a:off x="3807615" y="2200273"/>
              <a:ext cx="1528761" cy="392907"/>
            </a:xfrm>
            <a:prstGeom prst="trapezoid">
              <a:avLst>
                <a:gd name="adj" fmla="val 75909"/>
              </a:avLst>
            </a:prstGeom>
            <a:solidFill>
              <a:schemeClr val="tx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CEC349D-2F2E-454B-5EFD-8133DA5EB698}"/>
                </a:ext>
              </a:extLst>
            </p:cNvPr>
            <p:cNvCxnSpPr>
              <a:endCxn id="12" idx="0"/>
            </p:cNvCxnSpPr>
            <p:nvPr/>
          </p:nvCxnSpPr>
          <p:spPr>
            <a:xfrm flipH="1">
              <a:off x="4571995" y="1862667"/>
              <a:ext cx="1" cy="73051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6F09EF2-C090-D23F-CD4E-F6F3AE15C96D}"/>
                </a:ext>
              </a:extLst>
            </p:cNvPr>
            <p:cNvSpPr/>
            <p:nvPr/>
          </p:nvSpPr>
          <p:spPr>
            <a:xfrm>
              <a:off x="3838440" y="4711700"/>
              <a:ext cx="1467110" cy="2362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0357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D9D4-D31B-9040-32FA-0CFCD8D95BD1}"/>
              </a:ext>
            </a:extLst>
          </p:cNvPr>
          <p:cNvSpPr>
            <a:spLocks noGrp="1"/>
          </p:cNvSpPr>
          <p:nvPr>
            <p:ph type="title"/>
          </p:nvPr>
        </p:nvSpPr>
        <p:spPr>
          <a:xfrm>
            <a:off x="5223510" y="365126"/>
            <a:ext cx="3535061" cy="618547"/>
          </a:xfrm>
        </p:spPr>
        <p:txBody>
          <a:bodyPr/>
          <a:lstStyle/>
          <a:p>
            <a:r>
              <a:rPr lang="en-US" dirty="0"/>
              <a:t>Other activities</a:t>
            </a:r>
          </a:p>
        </p:txBody>
      </p:sp>
      <p:sp>
        <p:nvSpPr>
          <p:cNvPr id="3" name="Content Placeholder 2">
            <a:extLst>
              <a:ext uri="{FF2B5EF4-FFF2-40B4-BE49-F238E27FC236}">
                <a16:creationId xmlns:a16="http://schemas.microsoft.com/office/drawing/2014/main" id="{3A7DDD7B-FFB0-B1DB-614D-821E34E9E5E9}"/>
              </a:ext>
            </a:extLst>
          </p:cNvPr>
          <p:cNvSpPr>
            <a:spLocks noGrp="1"/>
          </p:cNvSpPr>
          <p:nvPr>
            <p:ph idx="1"/>
          </p:nvPr>
        </p:nvSpPr>
        <p:spPr/>
        <p:txBody>
          <a:bodyPr/>
          <a:lstStyle/>
          <a:p>
            <a:r>
              <a:rPr lang="en-US" dirty="0"/>
              <a:t>Various kinds of survey</a:t>
            </a:r>
          </a:p>
          <a:p>
            <a:r>
              <a:rPr lang="en-US" dirty="0"/>
              <a:t>Don’t produce an outcome themselves</a:t>
            </a:r>
          </a:p>
          <a:p>
            <a:r>
              <a:rPr lang="en-US" dirty="0"/>
              <a:t>Can’t be considered as products</a:t>
            </a:r>
          </a:p>
          <a:p>
            <a:r>
              <a:rPr lang="en-US" dirty="0"/>
              <a:t>Enabling activities, particularly for clearance</a:t>
            </a:r>
          </a:p>
          <a:p>
            <a:endParaRPr lang="en-US" dirty="0"/>
          </a:p>
        </p:txBody>
      </p:sp>
    </p:spTree>
    <p:extLst>
      <p:ext uri="{BB962C8B-B14F-4D97-AF65-F5344CB8AC3E}">
        <p14:creationId xmlns:p14="http://schemas.microsoft.com/office/powerpoint/2010/main" val="1233229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BC5DA-FD92-624B-88EB-01ADD3553DE6}"/>
              </a:ext>
            </a:extLst>
          </p:cNvPr>
          <p:cNvSpPr>
            <a:spLocks noGrp="1"/>
          </p:cNvSpPr>
          <p:nvPr>
            <p:ph type="title"/>
          </p:nvPr>
        </p:nvSpPr>
        <p:spPr>
          <a:xfrm>
            <a:off x="2218415" y="3034185"/>
            <a:ext cx="6543448" cy="1325563"/>
          </a:xfrm>
        </p:spPr>
        <p:txBody>
          <a:bodyPr>
            <a:normAutofit/>
          </a:bodyPr>
          <a:lstStyle/>
          <a:p>
            <a:pPr algn="r"/>
            <a:r>
              <a:rPr lang="en-GB" dirty="0"/>
              <a:t>Related sectors</a:t>
            </a:r>
          </a:p>
        </p:txBody>
      </p:sp>
    </p:spTree>
    <p:extLst>
      <p:ext uri="{BB962C8B-B14F-4D97-AF65-F5344CB8AC3E}">
        <p14:creationId xmlns:p14="http://schemas.microsoft.com/office/powerpoint/2010/main" val="3614527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1FED2-F593-A3CC-3E02-B350052DF92A}"/>
              </a:ext>
            </a:extLst>
          </p:cNvPr>
          <p:cNvSpPr>
            <a:spLocks noGrp="1"/>
          </p:cNvSpPr>
          <p:nvPr>
            <p:ph type="title"/>
          </p:nvPr>
        </p:nvSpPr>
        <p:spPr>
          <a:xfrm>
            <a:off x="5223510" y="365126"/>
            <a:ext cx="3535061" cy="618547"/>
          </a:xfrm>
        </p:spPr>
        <p:txBody>
          <a:bodyPr/>
          <a:lstStyle/>
          <a:p>
            <a:r>
              <a:rPr lang="en-US" dirty="0"/>
              <a:t>Related sectors</a:t>
            </a:r>
          </a:p>
        </p:txBody>
      </p:sp>
      <p:sp>
        <p:nvSpPr>
          <p:cNvPr id="3" name="Content Placeholder 2">
            <a:extLst>
              <a:ext uri="{FF2B5EF4-FFF2-40B4-BE49-F238E27FC236}">
                <a16:creationId xmlns:a16="http://schemas.microsoft.com/office/drawing/2014/main" id="{7E2B819E-E218-8672-293D-0B854A662B41}"/>
              </a:ext>
            </a:extLst>
          </p:cNvPr>
          <p:cNvSpPr>
            <a:spLocks noGrp="1"/>
          </p:cNvSpPr>
          <p:nvPr>
            <p:ph idx="1"/>
          </p:nvPr>
        </p:nvSpPr>
        <p:spPr>
          <a:xfrm>
            <a:off x="720090" y="2228850"/>
            <a:ext cx="8343900" cy="3956368"/>
          </a:xfrm>
        </p:spPr>
        <p:txBody>
          <a:bodyPr/>
          <a:lstStyle/>
          <a:p>
            <a:r>
              <a:rPr lang="en-GB" dirty="0"/>
              <a:t>Weapons and ammunition management (WAM)</a:t>
            </a:r>
          </a:p>
          <a:p>
            <a:r>
              <a:rPr lang="en-GB" dirty="0"/>
              <a:t>Small arms and light weapons (SALW)</a:t>
            </a:r>
          </a:p>
          <a:p>
            <a:r>
              <a:rPr lang="en-GB" dirty="0"/>
              <a:t>Armed violence reduction (AVR)</a:t>
            </a:r>
          </a:p>
          <a:p>
            <a:r>
              <a:rPr lang="en-GB" dirty="0"/>
              <a:t>Security sector reform</a:t>
            </a:r>
          </a:p>
          <a:p>
            <a:r>
              <a:rPr lang="en-GB" dirty="0"/>
              <a:t>Improvised explosive device (IED) disposal (IEDD)</a:t>
            </a:r>
            <a:endParaRPr lang="en-GB" sz="3600" dirty="0"/>
          </a:p>
          <a:p>
            <a:pPr lvl="1"/>
            <a:r>
              <a:rPr lang="en-GB" dirty="0"/>
              <a:t>More about this later</a:t>
            </a:r>
          </a:p>
          <a:p>
            <a:endParaRPr lang="en-GB" dirty="0"/>
          </a:p>
          <a:p>
            <a:endParaRPr lang="en-GB" sz="3600" dirty="0"/>
          </a:p>
          <a:p>
            <a:endParaRPr lang="en-US" dirty="0"/>
          </a:p>
        </p:txBody>
      </p:sp>
    </p:spTree>
    <p:extLst>
      <p:ext uri="{BB962C8B-B14F-4D97-AF65-F5344CB8AC3E}">
        <p14:creationId xmlns:p14="http://schemas.microsoft.com/office/powerpoint/2010/main" val="2051452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1F2A143B-77D1-56E5-DEC2-5E4A3AF4D397}"/>
              </a:ext>
            </a:extLst>
          </p:cNvPr>
          <p:cNvSpPr/>
          <p:nvPr/>
        </p:nvSpPr>
        <p:spPr>
          <a:xfrm>
            <a:off x="4263200" y="4053840"/>
            <a:ext cx="2514600" cy="25146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SSR</a:t>
            </a:r>
          </a:p>
        </p:txBody>
      </p:sp>
      <p:sp>
        <p:nvSpPr>
          <p:cNvPr id="5" name="Oval 4">
            <a:extLst>
              <a:ext uri="{FF2B5EF4-FFF2-40B4-BE49-F238E27FC236}">
                <a16:creationId xmlns:a16="http://schemas.microsoft.com/office/drawing/2014/main" id="{19DDA4CB-B574-DA41-243C-6BED57DE2D64}"/>
              </a:ext>
            </a:extLst>
          </p:cNvPr>
          <p:cNvSpPr/>
          <p:nvPr/>
        </p:nvSpPr>
        <p:spPr>
          <a:xfrm>
            <a:off x="4919568" y="1910442"/>
            <a:ext cx="2514600" cy="2514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WAM</a:t>
            </a:r>
          </a:p>
        </p:txBody>
      </p:sp>
      <p:sp>
        <p:nvSpPr>
          <p:cNvPr id="6" name="Oval 5">
            <a:extLst>
              <a:ext uri="{FF2B5EF4-FFF2-40B4-BE49-F238E27FC236}">
                <a16:creationId xmlns:a16="http://schemas.microsoft.com/office/drawing/2014/main" id="{C71B6E95-C62B-B0BC-FA0F-D2A1A5E74D27}"/>
              </a:ext>
            </a:extLst>
          </p:cNvPr>
          <p:cNvSpPr/>
          <p:nvPr/>
        </p:nvSpPr>
        <p:spPr>
          <a:xfrm>
            <a:off x="3168635" y="600347"/>
            <a:ext cx="2514600" cy="25146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IEDD</a:t>
            </a:r>
          </a:p>
        </p:txBody>
      </p:sp>
      <p:sp>
        <p:nvSpPr>
          <p:cNvPr id="7" name="Oval 6">
            <a:extLst>
              <a:ext uri="{FF2B5EF4-FFF2-40B4-BE49-F238E27FC236}">
                <a16:creationId xmlns:a16="http://schemas.microsoft.com/office/drawing/2014/main" id="{2B6767CF-0341-9938-75EE-1D4E59763E3F}"/>
              </a:ext>
            </a:extLst>
          </p:cNvPr>
          <p:cNvSpPr/>
          <p:nvPr/>
        </p:nvSpPr>
        <p:spPr>
          <a:xfrm>
            <a:off x="1310403" y="1910442"/>
            <a:ext cx="2514600" cy="25146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SALW</a:t>
            </a:r>
          </a:p>
        </p:txBody>
      </p:sp>
      <p:sp>
        <p:nvSpPr>
          <p:cNvPr id="8" name="Oval 7">
            <a:extLst>
              <a:ext uri="{FF2B5EF4-FFF2-40B4-BE49-F238E27FC236}">
                <a16:creationId xmlns:a16="http://schemas.microsoft.com/office/drawing/2014/main" id="{83D953EC-BC66-0D88-F26A-6F8D6805C723}"/>
              </a:ext>
            </a:extLst>
          </p:cNvPr>
          <p:cNvSpPr/>
          <p:nvPr/>
        </p:nvSpPr>
        <p:spPr>
          <a:xfrm>
            <a:off x="1966771" y="4049486"/>
            <a:ext cx="2514600" cy="2514600"/>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AVR</a:t>
            </a:r>
          </a:p>
        </p:txBody>
      </p:sp>
      <p:sp>
        <p:nvSpPr>
          <p:cNvPr id="2" name="Oval 1">
            <a:extLst>
              <a:ext uri="{FF2B5EF4-FFF2-40B4-BE49-F238E27FC236}">
                <a16:creationId xmlns:a16="http://schemas.microsoft.com/office/drawing/2014/main" id="{ED9A8598-26B0-8904-68BB-6420BC528740}"/>
              </a:ext>
            </a:extLst>
          </p:cNvPr>
          <p:cNvSpPr/>
          <p:nvPr/>
        </p:nvSpPr>
        <p:spPr>
          <a:xfrm>
            <a:off x="3038476" y="2322740"/>
            <a:ext cx="2514600" cy="25146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Mine action</a:t>
            </a:r>
          </a:p>
        </p:txBody>
      </p:sp>
    </p:spTree>
    <p:extLst>
      <p:ext uri="{BB962C8B-B14F-4D97-AF65-F5344CB8AC3E}">
        <p14:creationId xmlns:p14="http://schemas.microsoft.com/office/powerpoint/2010/main" val="73822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par>
                          <p:cTn id="24" fill="hold">
                            <p:stCondLst>
                              <p:cond delay="2500"/>
                            </p:stCondLst>
                            <p:childTnLst>
                              <p:par>
                                <p:cTn id="25" presetID="53" presetClass="entr" presetSubtype="16" fill="hold" grpId="0" nodeType="afterEffect">
                                  <p:stCondLst>
                                    <p:cond delay="100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C7390-9263-6183-9988-0C067A368F2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4E90B4E-DDB2-D529-FF1C-2C1E1F3F55A4}"/>
              </a:ext>
            </a:extLst>
          </p:cNvPr>
          <p:cNvGrpSpPr/>
          <p:nvPr/>
        </p:nvGrpSpPr>
        <p:grpSpPr>
          <a:xfrm>
            <a:off x="1310403" y="600347"/>
            <a:ext cx="6123765" cy="5968093"/>
            <a:chOff x="1310403" y="600347"/>
            <a:chExt cx="6123765" cy="5968093"/>
          </a:xfrm>
        </p:grpSpPr>
        <p:sp>
          <p:nvSpPr>
            <p:cNvPr id="3" name="Oval 2">
              <a:extLst>
                <a:ext uri="{FF2B5EF4-FFF2-40B4-BE49-F238E27FC236}">
                  <a16:creationId xmlns:a16="http://schemas.microsoft.com/office/drawing/2014/main" id="{6750C951-3DD6-AE7C-97C8-288B55A08540}"/>
                </a:ext>
              </a:extLst>
            </p:cNvPr>
            <p:cNvSpPr/>
            <p:nvPr/>
          </p:nvSpPr>
          <p:spPr>
            <a:xfrm>
              <a:off x="4263200" y="4053840"/>
              <a:ext cx="2514600" cy="25146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SSR</a:t>
              </a:r>
            </a:p>
          </p:txBody>
        </p:sp>
        <p:sp>
          <p:nvSpPr>
            <p:cNvPr id="5" name="Oval 4">
              <a:extLst>
                <a:ext uri="{FF2B5EF4-FFF2-40B4-BE49-F238E27FC236}">
                  <a16:creationId xmlns:a16="http://schemas.microsoft.com/office/drawing/2014/main" id="{70D95C5F-DB66-393C-D389-838EB82CE9BA}"/>
                </a:ext>
              </a:extLst>
            </p:cNvPr>
            <p:cNvSpPr/>
            <p:nvPr/>
          </p:nvSpPr>
          <p:spPr>
            <a:xfrm>
              <a:off x="4919568" y="1910442"/>
              <a:ext cx="2514600" cy="2514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WAM</a:t>
              </a:r>
            </a:p>
          </p:txBody>
        </p:sp>
        <p:sp>
          <p:nvSpPr>
            <p:cNvPr id="6" name="Oval 5">
              <a:extLst>
                <a:ext uri="{FF2B5EF4-FFF2-40B4-BE49-F238E27FC236}">
                  <a16:creationId xmlns:a16="http://schemas.microsoft.com/office/drawing/2014/main" id="{51101A74-50E1-D6B1-ADA0-619529AFE401}"/>
                </a:ext>
              </a:extLst>
            </p:cNvPr>
            <p:cNvSpPr/>
            <p:nvPr/>
          </p:nvSpPr>
          <p:spPr>
            <a:xfrm>
              <a:off x="3168635" y="600347"/>
              <a:ext cx="2514600" cy="25146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IEDD</a:t>
              </a:r>
            </a:p>
          </p:txBody>
        </p:sp>
        <p:sp>
          <p:nvSpPr>
            <p:cNvPr id="7" name="Oval 6">
              <a:extLst>
                <a:ext uri="{FF2B5EF4-FFF2-40B4-BE49-F238E27FC236}">
                  <a16:creationId xmlns:a16="http://schemas.microsoft.com/office/drawing/2014/main" id="{22D1D9ED-3286-8E2A-6987-55ECF76E53CB}"/>
                </a:ext>
              </a:extLst>
            </p:cNvPr>
            <p:cNvSpPr/>
            <p:nvPr/>
          </p:nvSpPr>
          <p:spPr>
            <a:xfrm>
              <a:off x="1310403" y="1910442"/>
              <a:ext cx="2514600" cy="25146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SALW</a:t>
              </a:r>
            </a:p>
          </p:txBody>
        </p:sp>
        <p:sp>
          <p:nvSpPr>
            <p:cNvPr id="8" name="Oval 7">
              <a:extLst>
                <a:ext uri="{FF2B5EF4-FFF2-40B4-BE49-F238E27FC236}">
                  <a16:creationId xmlns:a16="http://schemas.microsoft.com/office/drawing/2014/main" id="{178815CC-0914-932C-DCB9-C4ABBACE9981}"/>
                </a:ext>
              </a:extLst>
            </p:cNvPr>
            <p:cNvSpPr/>
            <p:nvPr/>
          </p:nvSpPr>
          <p:spPr>
            <a:xfrm>
              <a:off x="1966771" y="4049486"/>
              <a:ext cx="2514600" cy="2514600"/>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AVR</a:t>
              </a:r>
            </a:p>
          </p:txBody>
        </p:sp>
        <p:sp>
          <p:nvSpPr>
            <p:cNvPr id="2" name="Oval 1">
              <a:extLst>
                <a:ext uri="{FF2B5EF4-FFF2-40B4-BE49-F238E27FC236}">
                  <a16:creationId xmlns:a16="http://schemas.microsoft.com/office/drawing/2014/main" id="{12461730-2357-C793-426F-83C9D7471BD1}"/>
                </a:ext>
              </a:extLst>
            </p:cNvPr>
            <p:cNvSpPr/>
            <p:nvPr/>
          </p:nvSpPr>
          <p:spPr>
            <a:xfrm>
              <a:off x="3038476" y="2322740"/>
              <a:ext cx="2514600" cy="25146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Helvetica Neue" panose="02000503000000020004" pitchFamily="2" charset="0"/>
                  <a:ea typeface="Helvetica Neue" panose="02000503000000020004" pitchFamily="2" charset="0"/>
                  <a:cs typeface="Helvetica Neue" panose="02000503000000020004" pitchFamily="2" charset="0"/>
                </a:rPr>
                <a:t>Mine action</a:t>
              </a:r>
            </a:p>
          </p:txBody>
        </p:sp>
      </p:grpSp>
    </p:spTree>
    <p:extLst>
      <p:ext uri="{BB962C8B-B14F-4D97-AF65-F5344CB8AC3E}">
        <p14:creationId xmlns:p14="http://schemas.microsoft.com/office/powerpoint/2010/main" val="4024501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D9C21D5-21B1-58EB-8A57-9E0018BC8BEC}"/>
              </a:ext>
            </a:extLst>
          </p:cNvPr>
          <p:cNvGrpSpPr/>
          <p:nvPr/>
        </p:nvGrpSpPr>
        <p:grpSpPr>
          <a:xfrm>
            <a:off x="84908" y="127916"/>
            <a:ext cx="1110361" cy="1966566"/>
            <a:chOff x="569106" y="800963"/>
            <a:chExt cx="3125338" cy="5535301"/>
          </a:xfrm>
        </p:grpSpPr>
        <p:sp>
          <p:nvSpPr>
            <p:cNvPr id="3" name="Oval 2">
              <a:extLst>
                <a:ext uri="{FF2B5EF4-FFF2-40B4-BE49-F238E27FC236}">
                  <a16:creationId xmlns:a16="http://schemas.microsoft.com/office/drawing/2014/main" id="{C5DDBEC5-F0C0-B48A-A2AA-169A0CD50C9B}"/>
                </a:ext>
              </a:extLst>
            </p:cNvPr>
            <p:cNvSpPr/>
            <p:nvPr/>
          </p:nvSpPr>
          <p:spPr>
            <a:xfrm>
              <a:off x="569106" y="800963"/>
              <a:ext cx="3125338" cy="5535301"/>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 name="Group 3">
              <a:extLst>
                <a:ext uri="{FF2B5EF4-FFF2-40B4-BE49-F238E27FC236}">
                  <a16:creationId xmlns:a16="http://schemas.microsoft.com/office/drawing/2014/main" id="{2CA07948-ED89-43D8-875E-CD3A74BB6A11}"/>
                </a:ext>
              </a:extLst>
            </p:cNvPr>
            <p:cNvGrpSpPr/>
            <p:nvPr/>
          </p:nvGrpSpPr>
          <p:grpSpPr>
            <a:xfrm>
              <a:off x="1749280" y="1121147"/>
              <a:ext cx="764991" cy="4894932"/>
              <a:chOff x="5729594" y="1058166"/>
              <a:chExt cx="674073" cy="4313177"/>
            </a:xfrm>
            <a:solidFill>
              <a:schemeClr val="bg1"/>
            </a:solidFill>
          </p:grpSpPr>
          <p:sp>
            <p:nvSpPr>
              <p:cNvPr id="5" name="Freeform 4">
                <a:extLst>
                  <a:ext uri="{FF2B5EF4-FFF2-40B4-BE49-F238E27FC236}">
                    <a16:creationId xmlns:a16="http://schemas.microsoft.com/office/drawing/2014/main" id="{13DCA79D-F5DB-45CF-CD47-9F63739B27D2}"/>
                  </a:ext>
                </a:extLst>
              </p:cNvPr>
              <p:cNvSpPr/>
              <p:nvPr/>
            </p:nvSpPr>
            <p:spPr>
              <a:xfrm>
                <a:off x="5764003" y="2261042"/>
                <a:ext cx="605254" cy="2989538"/>
              </a:xfrm>
              <a:custGeom>
                <a:avLst/>
                <a:gdLst>
                  <a:gd name="connsiteX0" fmla="*/ 54754 w 605254"/>
                  <a:gd name="connsiteY0" fmla="*/ 0 h 2989538"/>
                  <a:gd name="connsiteX1" fmla="*/ 550499 w 605254"/>
                  <a:gd name="connsiteY1" fmla="*/ 0 h 2989538"/>
                  <a:gd name="connsiteX2" fmla="*/ 605253 w 605254"/>
                  <a:gd name="connsiteY2" fmla="*/ 604287 h 2989538"/>
                  <a:gd name="connsiteX3" fmla="*/ 605253 w 605254"/>
                  <a:gd name="connsiteY3" fmla="*/ 1559443 h 2989538"/>
                  <a:gd name="connsiteX4" fmla="*/ 601135 w 605254"/>
                  <a:gd name="connsiteY4" fmla="*/ 1559443 h 2989538"/>
                  <a:gd name="connsiteX5" fmla="*/ 605254 w 605254"/>
                  <a:gd name="connsiteY5" fmla="*/ 1729580 h 2989538"/>
                  <a:gd name="connsiteX6" fmla="*/ 471829 w 605254"/>
                  <a:gd name="connsiteY6" fmla="*/ 2774357 h 2989538"/>
                  <a:gd name="connsiteX7" fmla="*/ 458858 w 605254"/>
                  <a:gd name="connsiteY7" fmla="*/ 2803669 h 2989538"/>
                  <a:gd name="connsiteX8" fmla="*/ 409535 w 605254"/>
                  <a:gd name="connsiteY8" fmla="*/ 2989533 h 2989538"/>
                  <a:gd name="connsiteX9" fmla="*/ 302639 w 605254"/>
                  <a:gd name="connsiteY9" fmla="*/ 2989533 h 2989538"/>
                  <a:gd name="connsiteX10" fmla="*/ 302627 w 605254"/>
                  <a:gd name="connsiteY10" fmla="*/ 2989538 h 2989538"/>
                  <a:gd name="connsiteX11" fmla="*/ 302615 w 605254"/>
                  <a:gd name="connsiteY11" fmla="*/ 2989533 h 2989538"/>
                  <a:gd name="connsiteX12" fmla="*/ 190882 w 605254"/>
                  <a:gd name="connsiteY12" fmla="*/ 2989533 h 2989538"/>
                  <a:gd name="connsiteX13" fmla="*/ 134314 w 605254"/>
                  <a:gd name="connsiteY13" fmla="*/ 2776364 h 2989538"/>
                  <a:gd name="connsiteX14" fmla="*/ 133426 w 605254"/>
                  <a:gd name="connsiteY14" fmla="*/ 2774357 h 2989538"/>
                  <a:gd name="connsiteX15" fmla="*/ 0 w 605254"/>
                  <a:gd name="connsiteY15" fmla="*/ 1729580 h 2989538"/>
                  <a:gd name="connsiteX16" fmla="*/ 4120 w 605254"/>
                  <a:gd name="connsiteY16" fmla="*/ 1559443 h 2989538"/>
                  <a:gd name="connsiteX17" fmla="*/ 0 w 605254"/>
                  <a:gd name="connsiteY17" fmla="*/ 1559443 h 2989538"/>
                  <a:gd name="connsiteX18" fmla="*/ 0 w 605254"/>
                  <a:gd name="connsiteY18" fmla="*/ 604287 h 29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5254" h="2989538">
                    <a:moveTo>
                      <a:pt x="54754" y="0"/>
                    </a:moveTo>
                    <a:lnTo>
                      <a:pt x="550499" y="0"/>
                    </a:lnTo>
                    <a:lnTo>
                      <a:pt x="605253" y="604287"/>
                    </a:lnTo>
                    <a:lnTo>
                      <a:pt x="605253" y="1559443"/>
                    </a:lnTo>
                    <a:lnTo>
                      <a:pt x="601135" y="1559443"/>
                    </a:lnTo>
                    <a:lnTo>
                      <a:pt x="605254" y="1729580"/>
                    </a:lnTo>
                    <a:cubicBezTo>
                      <a:pt x="605254" y="2164490"/>
                      <a:pt x="552328" y="2547934"/>
                      <a:pt x="471829" y="2774357"/>
                    </a:cubicBezTo>
                    <a:lnTo>
                      <a:pt x="458858" y="2803669"/>
                    </a:lnTo>
                    <a:lnTo>
                      <a:pt x="409535" y="2989533"/>
                    </a:lnTo>
                    <a:lnTo>
                      <a:pt x="302639" y="2989533"/>
                    </a:lnTo>
                    <a:lnTo>
                      <a:pt x="302627" y="2989538"/>
                    </a:lnTo>
                    <a:lnTo>
                      <a:pt x="302615" y="2989533"/>
                    </a:lnTo>
                    <a:lnTo>
                      <a:pt x="190882" y="2989533"/>
                    </a:lnTo>
                    <a:lnTo>
                      <a:pt x="134314" y="2776364"/>
                    </a:lnTo>
                    <a:lnTo>
                      <a:pt x="133426" y="2774357"/>
                    </a:lnTo>
                    <a:cubicBezTo>
                      <a:pt x="52926" y="2547934"/>
                      <a:pt x="0" y="2164490"/>
                      <a:pt x="0" y="1729580"/>
                    </a:cubicBezTo>
                    <a:lnTo>
                      <a:pt x="4120" y="1559443"/>
                    </a:lnTo>
                    <a:lnTo>
                      <a:pt x="0" y="1559443"/>
                    </a:lnTo>
                    <a:lnTo>
                      <a:pt x="0" y="604287"/>
                    </a:lnTo>
                    <a:close/>
                  </a:path>
                </a:pathLst>
              </a:cu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FF3A6F9F-3117-0EF0-FB2A-F76F80089247}"/>
                  </a:ext>
                </a:extLst>
              </p:cNvPr>
              <p:cNvGrpSpPr/>
              <p:nvPr/>
            </p:nvGrpSpPr>
            <p:grpSpPr>
              <a:xfrm>
                <a:off x="5729594" y="1093052"/>
                <a:ext cx="674073" cy="553984"/>
                <a:chOff x="3474768" y="1287975"/>
                <a:chExt cx="674073" cy="553984"/>
              </a:xfrm>
              <a:grpFill/>
            </p:grpSpPr>
            <p:sp>
              <p:nvSpPr>
                <p:cNvPr id="16" name="Freeform 15">
                  <a:extLst>
                    <a:ext uri="{FF2B5EF4-FFF2-40B4-BE49-F238E27FC236}">
                      <a16:creationId xmlns:a16="http://schemas.microsoft.com/office/drawing/2014/main" id="{2B546904-BBA9-0FF1-DAA9-79F5DB98D9BD}"/>
                    </a:ext>
                  </a:extLst>
                </p:cNvPr>
                <p:cNvSpPr/>
                <p:nvPr/>
              </p:nvSpPr>
              <p:spPr>
                <a:xfrm flipH="1">
                  <a:off x="3889894"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16">
                  <a:extLst>
                    <a:ext uri="{FF2B5EF4-FFF2-40B4-BE49-F238E27FC236}">
                      <a16:creationId xmlns:a16="http://schemas.microsoft.com/office/drawing/2014/main" id="{0EF4E111-4D1D-8B56-4A3F-0DCF2B2270FA}"/>
                    </a:ext>
                  </a:extLst>
                </p:cNvPr>
                <p:cNvSpPr/>
                <p:nvPr/>
              </p:nvSpPr>
              <p:spPr>
                <a:xfrm>
                  <a:off x="3474768" y="1287975"/>
                  <a:ext cx="258947" cy="553984"/>
                </a:xfrm>
                <a:custGeom>
                  <a:avLst/>
                  <a:gdLst>
                    <a:gd name="connsiteX0" fmla="*/ 213575 w 258947"/>
                    <a:gd name="connsiteY0" fmla="*/ 0 h 553984"/>
                    <a:gd name="connsiteX1" fmla="*/ 0 w 258947"/>
                    <a:gd name="connsiteY1" fmla="*/ 0 h 553984"/>
                    <a:gd name="connsiteX2" fmla="*/ 0 w 258947"/>
                    <a:gd name="connsiteY2" fmla="*/ 302781 h 553984"/>
                    <a:gd name="connsiteX3" fmla="*/ 2658 w 258947"/>
                    <a:gd name="connsiteY3" fmla="*/ 302781 h 553984"/>
                    <a:gd name="connsiteX4" fmla="*/ 258947 w 258947"/>
                    <a:gd name="connsiteY4" fmla="*/ 553984 h 553984"/>
                    <a:gd name="connsiteX5" fmla="*/ 258947 w 258947"/>
                    <a:gd name="connsiteY5" fmla="*/ 302779 h 553984"/>
                    <a:gd name="connsiteX6" fmla="*/ 256291 w 258947"/>
                    <a:gd name="connsiteY6" fmla="*/ 302779 h 553984"/>
                    <a:gd name="connsiteX7" fmla="*/ 256291 w 258947"/>
                    <a:gd name="connsiteY7" fmla="*/ 42716 h 55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47" h="553984">
                      <a:moveTo>
                        <a:pt x="213575" y="0"/>
                      </a:moveTo>
                      <a:lnTo>
                        <a:pt x="0" y="0"/>
                      </a:lnTo>
                      <a:lnTo>
                        <a:pt x="0" y="302781"/>
                      </a:lnTo>
                      <a:lnTo>
                        <a:pt x="2658" y="302781"/>
                      </a:lnTo>
                      <a:lnTo>
                        <a:pt x="258947" y="553984"/>
                      </a:lnTo>
                      <a:lnTo>
                        <a:pt x="258947" y="302779"/>
                      </a:lnTo>
                      <a:lnTo>
                        <a:pt x="256291" y="302779"/>
                      </a:lnTo>
                      <a:lnTo>
                        <a:pt x="256291" y="42716"/>
                      </a:lnTo>
                      <a:close/>
                    </a:path>
                  </a:pathLst>
                </a:cu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rapezoid 8">
                <a:extLst>
                  <a:ext uri="{FF2B5EF4-FFF2-40B4-BE49-F238E27FC236}">
                    <a16:creationId xmlns:a16="http://schemas.microsoft.com/office/drawing/2014/main" id="{D640C5EC-CA6E-2B09-3D58-A6EB7615A741}"/>
                  </a:ext>
                </a:extLst>
              </p:cNvPr>
              <p:cNvSpPr/>
              <p:nvPr/>
            </p:nvSpPr>
            <p:spPr>
              <a:xfrm>
                <a:off x="5816969" y="1058166"/>
                <a:ext cx="499323" cy="1202877"/>
              </a:xfrm>
              <a:prstGeom prst="trapezoid">
                <a:avLst>
                  <a:gd name="adj" fmla="val 33421"/>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rapezoid 9">
                <a:extLst>
                  <a:ext uri="{FF2B5EF4-FFF2-40B4-BE49-F238E27FC236}">
                    <a16:creationId xmlns:a16="http://schemas.microsoft.com/office/drawing/2014/main" id="{FB8374ED-F37E-FCBA-B8D8-E3FD1D677E82}"/>
                  </a:ext>
                </a:extLst>
              </p:cNvPr>
              <p:cNvSpPr/>
              <p:nvPr/>
            </p:nvSpPr>
            <p:spPr>
              <a:xfrm rot="10800000">
                <a:off x="5857875" y="4937759"/>
                <a:ext cx="412750" cy="112220"/>
              </a:xfrm>
              <a:prstGeom prst="trapezoid">
                <a:avLst>
                  <a:gd name="adj" fmla="val 32196"/>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rapezoid 10">
                <a:extLst>
                  <a:ext uri="{FF2B5EF4-FFF2-40B4-BE49-F238E27FC236}">
                    <a16:creationId xmlns:a16="http://schemas.microsoft.com/office/drawing/2014/main" id="{27B84B3B-A1D9-669C-4F9C-22166B047DBC}"/>
                  </a:ext>
                </a:extLst>
              </p:cNvPr>
              <p:cNvSpPr/>
              <p:nvPr/>
            </p:nvSpPr>
            <p:spPr>
              <a:xfrm>
                <a:off x="5934940" y="1979651"/>
                <a:ext cx="258618" cy="221672"/>
              </a:xfrm>
              <a:prstGeom prst="trapezoid">
                <a:avLst>
                  <a:gd name="adj" fmla="val 13750"/>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CF6AC425-9D03-DBA5-C84E-2B828A09602F}"/>
                  </a:ext>
                </a:extLst>
              </p:cNvPr>
              <p:cNvSpPr/>
              <p:nvPr/>
            </p:nvSpPr>
            <p:spPr>
              <a:xfrm>
                <a:off x="5988541" y="5250580"/>
                <a:ext cx="141585" cy="120763"/>
              </a:xfrm>
              <a:prstGeom prst="rect">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Connector 10">
                <a:extLst>
                  <a:ext uri="{FF2B5EF4-FFF2-40B4-BE49-F238E27FC236}">
                    <a16:creationId xmlns:a16="http://schemas.microsoft.com/office/drawing/2014/main" id="{CF232E65-B46B-7A1C-1F22-AACCBB962D61}"/>
                  </a:ext>
                </a:extLst>
              </p:cNvPr>
              <p:cNvCxnSpPr>
                <a:cxnSpLocks/>
              </p:cNvCxnSpPr>
              <p:nvPr/>
            </p:nvCxnSpPr>
            <p:spPr>
              <a:xfrm flipH="1">
                <a:off x="6064249" y="1098075"/>
                <a:ext cx="2" cy="506796"/>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D034562C-8AFA-858A-E6CD-87D4040D08B0}"/>
                  </a:ext>
                </a:extLst>
              </p:cNvPr>
              <p:cNvGrpSpPr/>
              <p:nvPr/>
            </p:nvGrpSpPr>
            <p:grpSpPr>
              <a:xfrm>
                <a:off x="6016492" y="3134342"/>
                <a:ext cx="100910" cy="777944"/>
                <a:chOff x="8889341" y="3141327"/>
                <a:chExt cx="100910" cy="777944"/>
              </a:xfrm>
              <a:grpFill/>
            </p:grpSpPr>
            <p:sp>
              <p:nvSpPr>
                <p:cNvPr id="13" name="Oval 12">
                  <a:extLst>
                    <a:ext uri="{FF2B5EF4-FFF2-40B4-BE49-F238E27FC236}">
                      <a16:creationId xmlns:a16="http://schemas.microsoft.com/office/drawing/2014/main" id="{C33C4F50-5E71-5212-C1D5-147CB3B97EDD}"/>
                    </a:ext>
                  </a:extLst>
                </p:cNvPr>
                <p:cNvSpPr/>
                <p:nvPr/>
              </p:nvSpPr>
              <p:spPr>
                <a:xfrm>
                  <a:off x="8889341" y="3818361"/>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C7602AD7-728A-07D2-0A56-034302424702}"/>
                    </a:ext>
                  </a:extLst>
                </p:cNvPr>
                <p:cNvSpPr/>
                <p:nvPr/>
              </p:nvSpPr>
              <p:spPr>
                <a:xfrm>
                  <a:off x="8889341" y="3141327"/>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A1CE4A18-C5A6-D735-8665-73026C7FBFFD}"/>
                    </a:ext>
                  </a:extLst>
                </p:cNvPr>
                <p:cNvSpPr/>
                <p:nvPr/>
              </p:nvSpPr>
              <p:spPr>
                <a:xfrm>
                  <a:off x="8889341" y="3654110"/>
                  <a:ext cx="100910" cy="100910"/>
                </a:xfrm>
                <a:prstGeom prst="ellipse">
                  <a:avLst/>
                </a:prstGeom>
                <a:grp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20" name="Rectangle 19">
            <a:extLst>
              <a:ext uri="{FF2B5EF4-FFF2-40B4-BE49-F238E27FC236}">
                <a16:creationId xmlns:a16="http://schemas.microsoft.com/office/drawing/2014/main" id="{BA815F48-BC84-45C4-4D19-83CD617FC99F}"/>
              </a:ext>
            </a:extLst>
          </p:cNvPr>
          <p:cNvSpPr/>
          <p:nvPr/>
        </p:nvSpPr>
        <p:spPr>
          <a:xfrm>
            <a:off x="261257" y="4522963"/>
            <a:ext cx="3461657" cy="19665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Contents:</a:t>
            </a:r>
          </a:p>
          <a:p>
            <a:pPr marL="285750" lvl="0" indent="-285750">
              <a:buFont typeface="Arial" panose="020B0604020202020204" pitchFamily="34" charset="0"/>
              <a:buChar char="•"/>
            </a:pPr>
            <a:r>
              <a:rPr lang="en-GB"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Who conducts Mine Action?</a:t>
            </a:r>
          </a:p>
          <a:p>
            <a:pPr marL="285750" lvl="0" indent="-285750">
              <a:buFont typeface="Arial" panose="020B0604020202020204" pitchFamily="34" charset="0"/>
              <a:buChar char="•"/>
            </a:pPr>
            <a:r>
              <a:rPr lang="en-GB"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Institutional framework</a:t>
            </a:r>
          </a:p>
          <a:p>
            <a:pPr marL="285750" lvl="0" indent="-285750">
              <a:buFont typeface="Arial" panose="020B0604020202020204" pitchFamily="34" charset="0"/>
              <a:buChar char="•"/>
            </a:pPr>
            <a:r>
              <a:rPr lang="en-GB"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The Mine Action pillars</a:t>
            </a:r>
          </a:p>
          <a:p>
            <a:pPr marL="285750" indent="-285750">
              <a:buFont typeface="Arial" panose="020B0604020202020204" pitchFamily="34" charset="0"/>
              <a:buChar char="•"/>
            </a:pPr>
            <a:r>
              <a:rPr lang="en-GB"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MA products &amp; activities</a:t>
            </a:r>
          </a:p>
          <a:p>
            <a:pPr marL="285750" indent="-285750">
              <a:buFont typeface="Arial" panose="020B0604020202020204" pitchFamily="34" charset="0"/>
              <a:buChar char="•"/>
            </a:pPr>
            <a:r>
              <a:rPr lang="en-GB"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Related sectors</a:t>
            </a:r>
          </a:p>
        </p:txBody>
      </p:sp>
      <p:sp>
        <p:nvSpPr>
          <p:cNvPr id="21" name="Rectangle 20">
            <a:extLst>
              <a:ext uri="{FF2B5EF4-FFF2-40B4-BE49-F238E27FC236}">
                <a16:creationId xmlns:a16="http://schemas.microsoft.com/office/drawing/2014/main" id="{26A9AF4F-7A21-DEC1-549D-85FE9009683B}"/>
              </a:ext>
            </a:extLst>
          </p:cNvPr>
          <p:cNvSpPr/>
          <p:nvPr/>
        </p:nvSpPr>
        <p:spPr>
          <a:xfrm>
            <a:off x="3866606" y="4522963"/>
            <a:ext cx="5094513" cy="19665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Key takeaways:</a:t>
            </a:r>
          </a:p>
          <a:p>
            <a:pPr marL="285750" indent="-285750">
              <a:buFont typeface="Arial" panose="020B0604020202020204" pitchFamily="34" charset="0"/>
              <a:buChar char="•"/>
            </a:pP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Private companies can do humanitarian work</a:t>
            </a:r>
          </a:p>
          <a:p>
            <a:pPr marL="285750" indent="-285750">
              <a:buFont typeface="Arial" panose="020B0604020202020204" pitchFamily="34" charset="0"/>
              <a:buChar char="•"/>
            </a:pP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Pillars and products are different</a:t>
            </a:r>
          </a:p>
          <a:p>
            <a:pPr marL="285750" indent="-285750">
              <a:buFont typeface="Arial" panose="020B0604020202020204" pitchFamily="34" charset="0"/>
              <a:buChar char="•"/>
            </a:pP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Area clearance, EOD and EORE</a:t>
            </a:r>
          </a:p>
          <a:p>
            <a:pPr marL="285750" indent="-285750">
              <a:buFont typeface="Arial" panose="020B0604020202020204" pitchFamily="34" charset="0"/>
              <a:buChar char="•"/>
            </a:pP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Surveys are enabling activities</a:t>
            </a:r>
          </a:p>
          <a:p>
            <a:pPr marL="285750" indent="-285750">
              <a:buFont typeface="Arial" panose="020B0604020202020204" pitchFamily="34" charset="0"/>
              <a:buChar char="•"/>
            </a:pP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Victim assistance and alternative livelihoods</a:t>
            </a:r>
          </a:p>
        </p:txBody>
      </p:sp>
      <p:grpSp>
        <p:nvGrpSpPr>
          <p:cNvPr id="26" name="Group 25">
            <a:extLst>
              <a:ext uri="{FF2B5EF4-FFF2-40B4-BE49-F238E27FC236}">
                <a16:creationId xmlns:a16="http://schemas.microsoft.com/office/drawing/2014/main" id="{C0F6129B-FA3C-DD1C-F9AD-B22B0AB933EE}"/>
              </a:ext>
            </a:extLst>
          </p:cNvPr>
          <p:cNvGrpSpPr/>
          <p:nvPr/>
        </p:nvGrpSpPr>
        <p:grpSpPr>
          <a:xfrm>
            <a:off x="261256" y="2405458"/>
            <a:ext cx="8699863" cy="1966566"/>
            <a:chOff x="261256" y="2405458"/>
            <a:chExt cx="8699863" cy="1966566"/>
          </a:xfrm>
        </p:grpSpPr>
        <p:sp>
          <p:nvSpPr>
            <p:cNvPr id="19" name="Rectangle 18">
              <a:extLst>
                <a:ext uri="{FF2B5EF4-FFF2-40B4-BE49-F238E27FC236}">
                  <a16:creationId xmlns:a16="http://schemas.microsoft.com/office/drawing/2014/main" id="{E6CF963E-9616-8224-E24E-AC6B8A0F7C33}"/>
                </a:ext>
              </a:extLst>
            </p:cNvPr>
            <p:cNvSpPr/>
            <p:nvPr/>
          </p:nvSpPr>
          <p:spPr>
            <a:xfrm>
              <a:off x="261256" y="2405458"/>
              <a:ext cx="8699863" cy="19665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Key metrics:</a:t>
              </a:r>
            </a:p>
          </p:txBody>
        </p:sp>
        <p:sp>
          <p:nvSpPr>
            <p:cNvPr id="22" name="Oval 21">
              <a:extLst>
                <a:ext uri="{FF2B5EF4-FFF2-40B4-BE49-F238E27FC236}">
                  <a16:creationId xmlns:a16="http://schemas.microsoft.com/office/drawing/2014/main" id="{189B2563-B756-25CC-0C67-F7C98C6E8444}"/>
                </a:ext>
              </a:extLst>
            </p:cNvPr>
            <p:cNvSpPr/>
            <p:nvPr/>
          </p:nvSpPr>
          <p:spPr>
            <a:xfrm>
              <a:off x="1854926" y="2599509"/>
              <a:ext cx="1567543" cy="15675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Reduce risk</a:t>
              </a:r>
            </a:p>
          </p:txBody>
        </p:sp>
        <p:sp>
          <p:nvSpPr>
            <p:cNvPr id="23" name="Oval 22">
              <a:extLst>
                <a:ext uri="{FF2B5EF4-FFF2-40B4-BE49-F238E27FC236}">
                  <a16:creationId xmlns:a16="http://schemas.microsoft.com/office/drawing/2014/main" id="{AE76C389-E8FD-61E3-044E-87BA939CFB63}"/>
                </a:ext>
              </a:extLst>
            </p:cNvPr>
            <p:cNvSpPr/>
            <p:nvPr/>
          </p:nvSpPr>
          <p:spPr>
            <a:xfrm>
              <a:off x="3585754" y="2599508"/>
              <a:ext cx="1567543" cy="156754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Allow develop-</a:t>
              </a:r>
              <a:r>
                <a:rPr lang="en-US" dirty="0" err="1">
                  <a:solidFill>
                    <a:schemeClr val="tx1"/>
                  </a:solidFill>
                  <a:latin typeface="Helvetica Neue" panose="02000503000000020004" pitchFamily="2" charset="0"/>
                  <a:ea typeface="Helvetica Neue" panose="02000503000000020004" pitchFamily="2" charset="0"/>
                  <a:cs typeface="Helvetica Neue" panose="02000503000000020004" pitchFamily="2" charset="0"/>
                </a:rPr>
                <a:t>ment</a:t>
              </a:r>
              <a:endPar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4" name="Oval 23">
              <a:extLst>
                <a:ext uri="{FF2B5EF4-FFF2-40B4-BE49-F238E27FC236}">
                  <a16:creationId xmlns:a16="http://schemas.microsoft.com/office/drawing/2014/main" id="{DCED05B7-9636-489D-7F25-5B081152F3E4}"/>
                </a:ext>
              </a:extLst>
            </p:cNvPr>
            <p:cNvSpPr/>
            <p:nvPr/>
          </p:nvSpPr>
          <p:spPr>
            <a:xfrm>
              <a:off x="5316582" y="2599508"/>
              <a:ext cx="1567543" cy="1567543"/>
            </a:xfrm>
            <a:prstGeom prst="ellipse">
              <a:avLst/>
            </a:prstGeom>
            <a:solidFill>
              <a:srgbClr val="6BAB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Neue" panose="02000503000000020004" pitchFamily="2" charset="0"/>
                  <a:ea typeface="Helvetica Neue" panose="02000503000000020004" pitchFamily="2" charset="0"/>
                  <a:cs typeface="Helvetica Neue" panose="02000503000000020004" pitchFamily="2" charset="0"/>
                </a:rPr>
                <a:t>Address victim’s needs</a:t>
              </a:r>
            </a:p>
          </p:txBody>
        </p:sp>
        <p:sp>
          <p:nvSpPr>
            <p:cNvPr id="25" name="Oval 24">
              <a:extLst>
                <a:ext uri="{FF2B5EF4-FFF2-40B4-BE49-F238E27FC236}">
                  <a16:creationId xmlns:a16="http://schemas.microsoft.com/office/drawing/2014/main" id="{5A5600F4-DF9E-F37F-03C2-8CD3E0ACFC5F}"/>
                </a:ext>
              </a:extLst>
            </p:cNvPr>
            <p:cNvSpPr/>
            <p:nvPr/>
          </p:nvSpPr>
          <p:spPr>
            <a:xfrm>
              <a:off x="7047410" y="2599508"/>
              <a:ext cx="1567543" cy="15675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Obligations</a:t>
              </a:r>
            </a:p>
          </p:txBody>
        </p:sp>
      </p:grpSp>
      <p:grpSp>
        <p:nvGrpSpPr>
          <p:cNvPr id="28" name="Group 27">
            <a:extLst>
              <a:ext uri="{FF2B5EF4-FFF2-40B4-BE49-F238E27FC236}">
                <a16:creationId xmlns:a16="http://schemas.microsoft.com/office/drawing/2014/main" id="{306675BE-A67E-11C3-851C-ABF2D5AF7FAD}"/>
              </a:ext>
            </a:extLst>
          </p:cNvPr>
          <p:cNvGrpSpPr/>
          <p:nvPr/>
        </p:nvGrpSpPr>
        <p:grpSpPr>
          <a:xfrm>
            <a:off x="1345474" y="127916"/>
            <a:ext cx="7615646" cy="1966566"/>
            <a:chOff x="1345474" y="127916"/>
            <a:chExt cx="7615646" cy="1966566"/>
          </a:xfrm>
        </p:grpSpPr>
        <p:sp>
          <p:nvSpPr>
            <p:cNvPr id="18" name="Rectangle 17">
              <a:extLst>
                <a:ext uri="{FF2B5EF4-FFF2-40B4-BE49-F238E27FC236}">
                  <a16:creationId xmlns:a16="http://schemas.microsoft.com/office/drawing/2014/main" id="{A8FAAEFB-3198-BFF1-6EDD-1B11FC24C73D}"/>
                </a:ext>
              </a:extLst>
            </p:cNvPr>
            <p:cNvSpPr/>
            <p:nvPr/>
          </p:nvSpPr>
          <p:spPr>
            <a:xfrm>
              <a:off x="1345474" y="127916"/>
              <a:ext cx="7615646" cy="1966566"/>
            </a:xfrm>
            <a:prstGeom prst="rect">
              <a:avLst/>
            </a:prstGeom>
            <a:solidFill>
              <a:srgbClr val="6BAB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Activities which aim to reduce the social, economic and environmental impact of explosive ordnance”.</a:t>
              </a:r>
            </a:p>
            <a:p>
              <a:pPr marL="285750" indent="-285750">
                <a:buFont typeface="Arial" panose="020B0604020202020204" pitchFamily="34" charset="0"/>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“Mine action is not just about demining; it is also about people and societies”</a:t>
              </a:r>
            </a:p>
          </p:txBody>
        </p:sp>
        <p:sp>
          <p:nvSpPr>
            <p:cNvPr id="27" name="TextBox 26">
              <a:extLst>
                <a:ext uri="{FF2B5EF4-FFF2-40B4-BE49-F238E27FC236}">
                  <a16:creationId xmlns:a16="http://schemas.microsoft.com/office/drawing/2014/main" id="{7B271AB6-4945-4E71-A71C-EB2B4DC78C46}"/>
                </a:ext>
              </a:extLst>
            </p:cNvPr>
            <p:cNvSpPr txBox="1"/>
            <p:nvPr/>
          </p:nvSpPr>
          <p:spPr>
            <a:xfrm>
              <a:off x="7480570" y="175264"/>
              <a:ext cx="1134383" cy="369332"/>
            </a:xfrm>
            <a:prstGeom prst="rect">
              <a:avLst/>
            </a:prstGeom>
            <a:noFill/>
            <a:ln>
              <a:solidFill>
                <a:schemeClr val="bg1"/>
              </a:solidFill>
            </a:ln>
          </p:spPr>
          <p:txBody>
            <a:bodyPr wrap="square" rtlCol="0">
              <a:spAutoFit/>
            </a:bodyPr>
            <a:lstStyle/>
            <a:p>
              <a:r>
                <a:rPr lang="en-US"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Headline</a:t>
              </a:r>
            </a:p>
          </p:txBody>
        </p:sp>
      </p:grpSp>
    </p:spTree>
    <p:extLst>
      <p:ext uri="{BB962C8B-B14F-4D97-AF65-F5344CB8AC3E}">
        <p14:creationId xmlns:p14="http://schemas.microsoft.com/office/powerpoint/2010/main" val="223396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03AEA7-6875-804F-A76C-7ED8549E7117}"/>
              </a:ext>
            </a:extLst>
          </p:cNvPr>
          <p:cNvSpPr>
            <a:spLocks noGrp="1"/>
          </p:cNvSpPr>
          <p:nvPr>
            <p:ph type="subTitle" idx="1"/>
          </p:nvPr>
        </p:nvSpPr>
        <p:spPr/>
        <p:txBody>
          <a:bodyPr/>
          <a:lstStyle/>
          <a:p>
            <a:r>
              <a:rPr lang="en-GB" dirty="0" err="1"/>
              <a:t>www.rk-consulting.net</a:t>
            </a:r>
            <a:endParaRPr lang="en-GB" dirty="0"/>
          </a:p>
        </p:txBody>
      </p:sp>
      <p:sp>
        <p:nvSpPr>
          <p:cNvPr id="4" name="Title 1">
            <a:extLst>
              <a:ext uri="{FF2B5EF4-FFF2-40B4-BE49-F238E27FC236}">
                <a16:creationId xmlns:a16="http://schemas.microsoft.com/office/drawing/2014/main" id="{A81FC81E-F450-880C-1F39-89EBDD0478EC}"/>
              </a:ext>
            </a:extLst>
          </p:cNvPr>
          <p:cNvSpPr txBox="1">
            <a:spLocks/>
          </p:cNvSpPr>
          <p:nvPr/>
        </p:nvSpPr>
        <p:spPr>
          <a:xfrm>
            <a:off x="685800" y="1649950"/>
            <a:ext cx="7772400" cy="1952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dirty="0"/>
              <a:t>Any questions?</a:t>
            </a:r>
          </a:p>
        </p:txBody>
      </p:sp>
    </p:spTree>
    <p:extLst>
      <p:ext uri="{BB962C8B-B14F-4D97-AF65-F5344CB8AC3E}">
        <p14:creationId xmlns:p14="http://schemas.microsoft.com/office/powerpoint/2010/main" val="1163666004"/>
      </p:ext>
    </p:extLst>
  </p:cSld>
  <p:clrMapOvr>
    <a:masterClrMapping/>
  </p:clrMapOvr>
</p:sld>
</file>

<file path=ppt/theme/theme1.xml><?xml version="1.0" encoding="utf-8"?>
<a:theme xmlns:a="http://schemas.openxmlformats.org/drawingml/2006/main" name="DDG powerpoint">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E3BE584A-4041-B94F-839D-170101F2E68B}" vid="{EC6B56B7-0D11-BF45-9B86-C073C66D8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DDG powerpoint</Template>
  <TotalTime>4570</TotalTime>
  <Words>3692</Words>
  <Application>Microsoft Office PowerPoint</Application>
  <PresentationFormat>On-screen Show (4:3)</PresentationFormat>
  <Paragraphs>479</Paragraphs>
  <Slides>34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Blender Pro Medium</vt:lpstr>
      <vt:lpstr>Calibri</vt:lpstr>
      <vt:lpstr>Helvetica Neue</vt:lpstr>
      <vt:lpstr>Symbol</vt:lpstr>
      <vt:lpstr>Webdings</vt:lpstr>
      <vt:lpstr>DDG powerpoint</vt:lpstr>
      <vt:lpstr>Introduction to Mine Action</vt:lpstr>
      <vt:lpstr>PowerPoint Presentation</vt:lpstr>
      <vt:lpstr>Introduction</vt:lpstr>
      <vt:lpstr>Overview</vt:lpstr>
      <vt:lpstr>Objectives of MA</vt:lpstr>
      <vt:lpstr>Aim</vt:lpstr>
      <vt:lpstr>Terminology</vt:lpstr>
      <vt:lpstr>Who conducts mine action?</vt:lpstr>
      <vt:lpstr>Humanitarian or commercial?</vt:lpstr>
      <vt:lpstr>Commercial work</vt:lpstr>
      <vt:lpstr>Humanitarian work</vt:lpstr>
      <vt:lpstr>Institutional framework</vt:lpstr>
      <vt:lpstr>Institutional franework</vt:lpstr>
      <vt:lpstr>PowerPoint Presentation</vt:lpstr>
      <vt:lpstr>Steering committee</vt:lpstr>
      <vt:lpstr>Steering committee (2)</vt:lpstr>
      <vt:lpstr>Coordination body</vt:lpstr>
      <vt:lpstr>Coordination body (2)</vt:lpstr>
      <vt:lpstr>PowerPoint Presentation</vt:lpstr>
      <vt:lpstr>PowerPoint Presentation</vt:lpstr>
      <vt:lpstr>Mine action pillars</vt:lpstr>
      <vt:lpstr>Pillars</vt:lpstr>
      <vt:lpstr>PowerPoint Presentation</vt:lpstr>
      <vt:lpstr>MA products and activities</vt:lpstr>
      <vt:lpstr>Products</vt:lpstr>
      <vt:lpstr>PowerPoint Presentation</vt:lpstr>
      <vt:lpstr>PowerPoint Presentation</vt:lpstr>
      <vt:lpstr>Other activities</vt:lpstr>
      <vt:lpstr>Related sectors</vt:lpstr>
      <vt:lpstr>Related sectors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Keeley</dc:creator>
  <cp:lastModifiedBy>Usuario</cp:lastModifiedBy>
  <cp:revision>5</cp:revision>
  <dcterms:created xsi:type="dcterms:W3CDTF">2026-03-24T10:32:12Z</dcterms:created>
  <dcterms:modified xsi:type="dcterms:W3CDTF">2026-06-24T08:09:46Z</dcterms:modified>
</cp:coreProperties>
</file>